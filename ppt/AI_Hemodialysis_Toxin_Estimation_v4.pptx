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7"/>
    <p:restoredTop sz="87600"/>
  </p:normalViewPr>
  <p:slideViewPr>
    <p:cSldViewPr snapToGrid="0" snapToObjects="1">
      <p:cViewPr varScale="1">
        <p:scale>
          <a:sx n="114" d="100"/>
          <a:sy n="114" d="100"/>
        </p:scale>
        <p:origin x="496"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4956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本投影片介紹的是以AI代理人輔助完成的血液透析毒素濃度預測研究。</a:t>
            </a:r>
          </a:p>
          <a:p>
            <a:r>
              <a:t>研究從重現前人文獻的方法論出發，逐步識別並修正評估流程中的缺陷。</a:t>
            </a:r>
          </a:p>
          <a:p>
            <a:r>
              <a:t>核心貢獻在於：導入嚴格的分組交叉驗證（GroupKFold），確保每個未見過的透析session都能被公正評估。</a:t>
            </a:r>
          </a:p>
          <a:p>
            <a:r>
              <a:t>本報告完整呈現從資料驗證、模型訓練、錯誤修正到最終評估的全流程。</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血液透析患者在治療過程中需要持續監測尿毒素的清除情況，但傳統的血液抽樣速度太慢。</a:t>
            </a:r>
          </a:p>
          <a:p>
            <a:r>
              <a:t>本研究利用UV光電感測器對透析廢液進行即時光學量測，作為毒素濃度的間接指標。</a:t>
            </a:r>
          </a:p>
          <a:p>
            <a:r>
              <a:t>機器學習模型可將光學信號與臨床特徵映射到毒素濃度，無需額外抽血。</a:t>
            </a:r>
          </a:p>
          <a:p>
            <a:r>
              <a:t>資料集包含9名終末期腎病患者、30次透析session、約510個數據點，涵蓋6種目標毒素。</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本研究的任務是針對6種尿毒素進行多變量回歸預測。</a:t>
            </a:r>
          </a:p>
          <a:p>
            <a:r>
              <a:t>輸入特徵包括5個UV波長的吸光值、透析機器參數以及患者個人資料。</a:t>
            </a:r>
          </a:p>
          <a:p>
            <a:r>
              <a:t>關鍵設計決策是使用session層級的GroupKFold分割，確保同一session的數據不會同時出現在訓練集和測試集中，從根本上消除資料洩漏問題。</a:t>
            </a:r>
          </a:p>
          <a:p>
            <a:r>
              <a:t>評估指標採用MAE、RMSE和R²，在每個fold的未見session上計算。</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本研究有三個核心目標：建立可重現的Python管線、實現嚴謹的方法論，以及與前人研究進行明確比較。</a:t>
            </a:r>
          </a:p>
          <a:p>
            <a:r>
              <a:t>在作業需求對齊方面，本專案完整涵蓋問題描述、解決方案、AI代理人工作流程與最終評估結果四個層面。</a:t>
            </a:r>
          </a:p>
          <a:p>
            <a:r>
              <a:t>最重要的改進是採用GroupKFold，讓所有30個session都能作為測試集被評估，而非只使用少數固定的測試session。</a:t>
            </a:r>
          </a:p>
          <a:p>
            <a:r>
              <a:t>這種評估方式更能反映模型在真實臨床場景中面對完全未見患者時的泛化能力。</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前人研究（OptoEML）奠定了本研究的基礎：使用UV光電感測器搭配SVR模型預測血液毒素。</a:t>
            </a:r>
          </a:p>
          <a:p>
            <a:r>
              <a:t>其方法使用3個波長（255、275、310 nm），採用5折交叉驗證，但未進行session層級的分組。</a:t>
            </a:r>
          </a:p>
          <a:p>
            <a:r>
              <a:t>報告的R²數值（0.822至0.959）包含第二階段的線性轉換，可能誇大了模型的實際預測能力。</a:t>
            </a:r>
          </a:p>
          <a:p>
            <a:r>
              <a:t>本投影片的目的是建立比較基準，以便後續說明我們如何在方法論上進一步改進。</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這張投影片指出了前人研究的六個主要方法論缺陷。</a:t>
            </a:r>
          </a:p>
          <a:p>
            <a:r>
              <a:t>最嚴重的問題是：行層級交叉驗證（row-level CV）對同一session內高度相關的測量值進行分割，導致資料洩漏、性能數值膨脹。</a:t>
            </a:r>
          </a:p>
          <a:p>
            <a:r>
              <a:t>其次是模型選擇偏差：使用與最終報告相同的CV結果進行模型選擇，會高估實際泛化能力。</a:t>
            </a:r>
          </a:p>
          <a:p>
            <a:r>
              <a:t>散點圖R²與CV R²是不同的統計量，容易混淆；此外，三個波長的限制也遺漏了預測力最強的285 nm波長。</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本研究在前人方法的基礎上進行了四項重要擴展。</a:t>
            </a:r>
          </a:p>
          <a:p>
            <a:r>
              <a:t>首先，將UV波長從3個擴展到5個（新增285 nm和295 nm），結果證實285 nm是最重要的預測特徵。</a:t>
            </a:r>
          </a:p>
          <a:p>
            <a:r>
              <a:t>其次，設計了三種遞進式特徵集（僅吸光值/吸光值+機器參數/完整特徵），系統評估各類特徵的貢獻。</a:t>
            </a:r>
          </a:p>
          <a:p>
            <a:r>
              <a:t>第三，引入多模型比較（SVR、RF、KNN、線性回歸），通過GroupKFold選出每種毒素的最佳模型。</a:t>
            </a:r>
          </a:p>
          <a:p>
            <a:r>
              <a:t>第四，全程採用session層級的GroupKFold分割，從根本上消除資料洩漏問題。</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AI代理人在本專案中扮演了超越程式碼生成的角色，積極參與了方法論的識別與修正。</a:t>
            </a:r>
          </a:p>
          <a:p>
            <a:r>
              <a:t>九個工作階段中，第八階段「方法論修正」最為關鍵：代理人主動發現了session層級資料洩漏問題，並提出了修正方案。</a:t>
            </a:r>
          </a:p>
          <a:p>
            <a:r>
              <a:t>所有修正均有版本化的審計報告記錄，確保研究過程的完整可追溯性。</a:t>
            </a:r>
          </a:p>
          <a:p>
            <a:r>
              <a:t>這種人機協作模式加速了從初步結果到可信證據的整個修正與學習週期。</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六個實驗步驟構成了本研究的完整執行流程。</a:t>
            </a:r>
          </a:p>
          <a:p>
            <a:r>
              <a:t>資料載入階段驗證了510行×29列的數據結構，確認了30個session的6種目標毒素映射。</a:t>
            </a:r>
          </a:p>
          <a:p>
            <a:r>
              <a:t>特徵工程建立了三個特徵集，並創建session_id作為GroupKFold的分組變數。</a:t>
            </a:r>
          </a:p>
          <a:p>
            <a:r>
              <a:t>最重要的修正發生在第六步：檢測到行層級資料洩漏後，全程改用以session_id為分組依據的GroupKFold，重新執行所有評估。</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資料集包含510個數據點，來自9名患者的30次透析session。</a:t>
            </a:r>
          </a:p>
          <a:p>
            <a:r>
              <a:t>每次session平均17個時間點（0至240分鐘），涵蓋19個特徵和6個預測目標。</a:t>
            </a:r>
          </a:p>
          <a:p>
            <a:r>
              <a:t>特徵相關性熱圖顯示，多個吸光值波長與毒素濃度之間存在顯著相關性，特別是285 nm波長。</a:t>
            </a:r>
          </a:p>
          <a:p>
            <a:r>
              <a:t>注意到部分特徵之間存在高度多重共線性，這是後續進行特徵選擇的重要依據。</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初始行層級CV的結果看似令人滿意（R²達0.685至0.938），但這些數值是不可信的。</a:t>
            </a:r>
          </a:p>
          <a:p>
            <a:r>
              <a:t>根本問題在於：行層級CV將同一session內高度相關的測量值分散在不同fold中，造成資料洩漏。</a:t>
            </a:r>
          </a:p>
          <a:p>
            <a:r>
              <a:t>這些結果僅作為探索性基準保留，清楚標注為「不可信」，不能作為最終性能依據。</a:t>
            </a:r>
          </a:p>
          <a:p>
            <a:r>
              <a:t>真正可信的評估必須使用session層級的GroupKFold，確保每個fold的測試集都是完全未見過的session。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這張投影片用左右對比的方式清楚說明了資料洩漏的根本問題。</a:t>
            </a:r>
          </a:p>
          <a:p>
            <a:r>
              <a:t>行層級分割（左側，錯誤做法）：同一session的相鄰測量值同時出現在訓練集和測試集，由於強烈的同內session相關性，模型實際上在「測試」它已經間接見過的數據。</a:t>
            </a:r>
          </a:p>
          <a:p>
            <a:r>
              <a:t>session層級分割（右側，正確做法）：整個session的所有行保持在同一fold，訓練session和測試session之間沒有任何數據重疊。</a:t>
            </a:r>
          </a:p>
          <a:p>
            <a:r>
              <a:t>這是本研究最核心的方法論貢獻之一。</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這張投影片說明了修正後的評估協議：5折GroupKFold交叉驗證。</a:t>
            </a:r>
          </a:p>
          <a:p>
            <a:r>
              <a:t>第一步：將30個session按session_id分組，確保同一session的所有測量值在同一fold中。</a:t>
            </a:r>
          </a:p>
          <a:p>
            <a:r>
              <a:t>第二步：5折GroupKFold中，每折約24個session用於訓練，約6個session作為測試，每個session在整個過程中恰好被測試一次。</a:t>
            </a:r>
          </a:p>
          <a:p>
            <a:r>
              <a:t>第三步：一致性最優模型選擇——根據5個fold的平均R²選出每種毒素的最佳模型，同一模型用於所有fold的預測，不允許逐fold挑選。</a:t>
            </a:r>
          </a:p>
          <a:p>
            <a:r>
              <a:t>這種設計確保每個session都能被一個從未見過它的模型公正評估。</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這張表格展示了GroupKFold交叉驗證中每種毒素的最佳模型選擇結果。</a:t>
            </a:r>
          </a:p>
          <a:p>
            <a:r>
              <a:t>SVR (rbf核函數) 在Urea（R²=0.745）和Creatinine（R²=0.757）上表現最佳，使用完整特徵集（吸光值+機器+個人）。</a:t>
            </a:r>
          </a:p>
          <a:p>
            <a:r>
              <a:t>線性回歸在Uric Acid（R²=0.773）上取得最高R²，僅使用吸光值特徵，顯示該毒素與UV吸光值之間存在較強的線性關係。</a:t>
            </a:r>
          </a:p>
          <a:p>
            <a:r>
              <a:t>Random Forest在Phosphorus（R²=0.697）、Potassium（R²=0.295）和B2M（R²=0.769）上表現最佳。</a:t>
            </a:r>
          </a:p>
          <a:p>
            <a:r>
              <a:t>Potassium的R²僅0.295，在所有毒素中最難預測，與前人研究結論一致。</a:t>
            </a:r>
          </a:p>
          <a:p>
            <a:r>
              <a:t>所有R²值均為5個GroupKFold fold的平均值，反映模型對未見session的真實泛化能力。</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這張表格展示了GroupKFold交叉驗證的完整結果，包含各毒素的最佳模型、特徵集、R²和RMSE。</a:t>
            </a:r>
          </a:p>
          <a:p>
            <a:r>
              <a:t>正確數值：Uric Acid R²=0.773（最佳），B2M=0.769，Creatinine=0.757，Urea=0.745，Phosphorus=0.697，Potassium=0.295。</a:t>
            </a:r>
          </a:p>
          <a:p>
            <a:r>
              <a:t>這些數值均低於早期行層級CV的結果，這是預期中的正確現象——反映了消除session洩漏後更誠實的性能估計。</a:t>
            </a:r>
          </a:p>
          <a:p>
            <a:r>
              <a:t>B2M的RMSE為205.56，單位為ng/mL，數值較大但在臨床意義上仍可接受。</a:t>
            </a:r>
          </a:p>
          <a:p>
            <a:r>
              <a:t>這些是本研究最終可信的評估結果，每個R²均來自GroupKFold中從未參與訓練的unseen session。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這張圖表展示了四種模型在所有6種毒素上的GroupKFold R²比較。</a:t>
            </a:r>
          </a:p>
          <a:p>
            <a:r>
              <a:t>圖表標題明確標注「Grouped Unseen Sessions」，確認這是session層級GroupKFold的結果，非行層級CV。</a:t>
            </a:r>
          </a:p>
          <a:p>
            <a:r>
              <a:t>顯著發現：線性回歸（橙色）在多種毒素上出現極負的R²值，說明該模型在session層級評估中嚴重欠擬合。</a:t>
            </a:r>
          </a:p>
          <a:p>
            <a:r>
              <a:t>SVR（藍色）在Urea和Creatinine上表現穩定；Random Forest（綠色）在多種毒素上具有競爭力。</a:t>
            </a:r>
          </a:p>
          <a:p>
            <a:r>
              <a:t>誤差線反映了5個fold之間的variance，Potassium的不確定性最大，顯示該目標預測難度最高。</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六個面板分別展示了6種毒素在GroupKFold unseen session上的預測值vs實際值散點圖。</a:t>
            </a:r>
          </a:p>
          <a:p>
            <a:r>
              <a:t>面板標題格式為「(A) Urea: SVR rbf, features=..., R²=0.745, RMSE=4.130」，清楚顯示每種毒素的最佳模型配置。</a:t>
            </a:r>
          </a:p>
          <a:p>
            <a:r>
              <a:t>Uric Acid（R²=0.773）和Creatinine（R²=0.757）的散點最集中在對角線附近，預測品質最好。</a:t>
            </a:r>
          </a:p>
          <a:p>
            <a:r>
              <a:t>Potassium（R²=0.295）的散點最分散，說明該毒素的預測不確定性最高。</a:t>
            </a:r>
          </a:p>
          <a:p>
            <a:r>
              <a:t>圖表副標題確認使用「Consistent Best-Model Selection」——每種毒素的最佳模型在所有fold中保持一致。</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這張圖展示了GroupKFold交叉驗證中代表性unseen session的時序預測曲線。</a:t>
            </a:r>
          </a:p>
          <a:p>
            <a:r>
              <a:t>圖表標題為「Unseen-Session Prediction Curves from Grouped Cross-Validation」——明確說明這是GroupKFold的結果，而非固定的held-out測試集。</a:t>
            </a:r>
          </a:p>
          <a:p>
            <a:r>
              <a:t>每個面板對應一種毒素，紅色三角形為實際測量值，黑色線條為模型預測值，x軸為透析時間（分鐘）。</a:t>
            </a:r>
          </a:p>
          <a:p>
            <a:r>
              <a:t>可觀察到毒素濃度在透析初期快速下降的典型趨勢，多數toxin的預測曲線能夠捕捉到這種動態變化。</a:t>
            </a:r>
          </a:p>
          <a:p>
            <a:r>
              <a:t>Potassium的預測曲線波動較大，再次印證該毒素是最具挑戰性的預測目標。</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特徵重要性分析揭示了哪些特徵對毒素預測貢獻最大。</a:t>
            </a:r>
          </a:p>
          <a:p>
            <a:r>
              <a:t>285 nm吸光值是最重要的單一特徵，但它恰恰是前人研究中被忽略的波長之一。</a:t>
            </a:r>
          </a:p>
          <a:p>
            <a:r>
              <a:t>機器參數（特別是超濾體積和跨膜壓力）也提供了有意義的預測信號。</a:t>
            </a:r>
          </a:p>
          <a:p>
            <a:r>
              <a:t>不同毒素的最重要特徵有所不同——這支持了針對每種毒素分別選擇最佳特徵集的設計決策。</a:t>
            </a:r>
          </a:p>
          <a:p>
            <a:r>
              <a:t>特徵選擇能提高可解釋性，但不一定能提升預測性能，與前人研究中的簡單結論不同。</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這張對比圖展示了完整特徵與特徵選擇後在各毒素上的性能比較。</a:t>
            </a:r>
          </a:p>
          <a:p>
            <a:r>
              <a:t>結果顯示：特徵選擇的效果因毒素而異——對某些毒素略有提升，對其他毒素則略有下降，並無一致的改進趨勢。</a:t>
            </a:r>
          </a:p>
          <a:p>
            <a:r>
              <a:t>這與前人研究中「特徵選擇總能提升性能」的結論形成對比，說明在小型資料集上的特徵選擇效果難以預測。</a:t>
            </a:r>
          </a:p>
          <a:p>
            <a:r>
              <a:t>特徵選擇的主要價值在於提升模型可解釋性和降低計算複雜度，而非保證更好的預測性能。</a:t>
            </a:r>
          </a:p>
          <a:p>
            <a:r>
              <a:t>這一發現對臨床應用具有重要意義：在資料量有限的情況下，應謹慎對待特徵選擇的過度優化。</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這張系統性比較表清楚地呈現了本研究與前人研究在各個維度上的差異。</a:t>
            </a:r>
          </a:p>
          <a:p>
            <a:r>
              <a:t>最關鍵的差異在於交叉驗證策略：前人研究使用行層級5折CV（存在洩漏），本研究使用session層級5折GroupKFold（無洩漏）。</a:t>
            </a:r>
          </a:p>
          <a:p>
            <a:r>
              <a:t>前人研究未進行session分組，本研究的GroupKFold設計確保所有30個session都能輪流作為測試集，每個session恰好被測試一次。</a:t>
            </a:r>
          </a:p>
          <a:p>
            <a:r>
              <a:t>在可重現性方面，本研究提供完整的Python管線、單元測試和版本化審計報告，遠超前人研究的MATLAB實現。</a:t>
            </a:r>
          </a:p>
          <a:p>
            <a:r>
              <a:t>這種系統性比較有助於客觀評估本研究的方法論進步，同時也承認前人研究作為概念驗證的重要價值。</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討論部分聚焦於本研究與前人研究的主要差異以及遇到的問題和解決方案。</a:t>
            </a:r>
          </a:p>
          <a:p>
            <a:r>
              <a:t>在模型選擇結果方面，GroupKFold評估揭示了不同的最優模型：SVR在Urea和Creatinine上勝出，線性回歸在Uric Acid上取得最高R²，Random Forest在Phosphorus、Potassium和B2M上表現最佳。</a:t>
            </a:r>
          </a:p>
          <a:p>
            <a:r>
              <a:t>三個主要問題得到了解決：散點圖R²與CV R²的混淆、session層級資料洩漏，以及模型選擇偏差。</a:t>
            </a:r>
          </a:p>
          <a:p>
            <a:r>
              <a:t>剩餘局限性包括：小型資料集（9名患者）、GroupKFold各fold大小不均等，以及「Acid」列的語義映射仍為推斷。</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結論總結了本研究的四個核心成就：問題定義、方法論、評估嚴謹性和關鍵結果。</a:t>
            </a:r>
          </a:p>
          <a:p>
            <a:r>
              <a:t>關鍵結果（正確的GroupKFold數值）：Uric Acid R²=0.773（最佳），B2M=0.769，Creatinine=0.757，Urea=0.745，均來自GroupKFold的unseen session評估。</a:t>
            </a:r>
          </a:p>
          <a:p>
            <a:r>
              <a:t>這些數值低於前人研究報告的0.822至0.959，但它們是真正可信的性能估計——反映模型對未見session的實際泛化能力。</a:t>
            </a:r>
          </a:p>
          <a:p>
            <a:r>
              <a:t>評估紀律與模型選擇同等重要：透過消除資料洩漏和模型選擇偏差，我們提供了可以信任的研究證據。</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六個未來研究方向均根植於當前研究的發現。</a:t>
            </a:r>
          </a:p>
          <a:p>
            <a:r>
              <a:t>最直接的改進是使用重複GroupKFold或留一患者交叉驗證（LOGO CV），以獲得更穩健的性能估計和variance分析。</a:t>
            </a:r>
          </a:p>
          <a:p>
            <a:r>
              <a:t>「Acid」列的語義確認需要臨床領域專家介入，以正式確認其映射到尿酸的正確性。</a:t>
            </a:r>
          </a:p>
          <a:p>
            <a:r>
              <a:t>對於SVR，可以在每個GroupKFold fold內進行嵌套超參數調整，避免超參數選擇偏差。</a:t>
            </a:r>
          </a:p>
          <a:p>
            <a:r>
              <a:t>時序建模（如LSTM）可以更好地利用透析過程中的時間動態信息。</a:t>
            </a:r>
          </a:p>
          <a:p>
            <a:r>
              <a:t>擴大到更多患者（遠超9名）是提升模型泛化能力的最根本途徑。</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最後的反思強調了本研究最重要的學習：可信賴的機器學習同時需要預測建模技能和評估紀律。</a:t>
            </a:r>
          </a:p>
          <a:p>
            <a:r>
              <a:t>AI代理人不僅加速了程式碼生成，更重要的是加速了整個「識別問題→修正→學習」的週期。</a:t>
            </a:r>
          </a:p>
          <a:p>
            <a:r>
              <a:t>本研究的核心價值不在於R²數值本身，而在於從初步結果到可信證據的完整記錄路徑——包括三次重大修正及其背後的方法論思考。</a:t>
            </a:r>
          </a:p>
          <a:p>
            <a:r>
              <a:t>前人研究提供了堅實的概念驗證基礎，本研究則通過嚴格的session層級GroupKFold評估對其進行了系統性的方法論壓力測試。</a:t>
            </a:r>
          </a:p>
          <a:p>
            <a:r>
              <a:t>這種研究態度——願意主動識別並修正自身的評估缺陷——是科學研究誠信的核心體現。</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2342"/>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0"/>
            <a:ext cx="12191695" cy="155448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005840"/>
            <a:ext cx="10058400" cy="1188720"/>
          </a:xfrm>
          <a:prstGeom prst="rect">
            <a:avLst/>
          </a:prstGeom>
          <a:noFill/>
        </p:spPr>
        <p:txBody>
          <a:bodyPr wrap="square" anchor="t">
            <a:spAutoFit/>
          </a:bodyPr>
          <a:lstStyle/>
          <a:p>
            <a:pPr algn="l">
              <a:defRPr sz="4000" b="1">
                <a:solidFill>
                  <a:srgbClr val="FFFFFF"/>
                </a:solidFill>
                <a:latin typeface="Microsoft JhengHei"/>
              </a:defRPr>
            </a:pPr>
            <a:r>
              <a:t>AI-Assisted Hemodialysis Toxin Estimation</a:t>
            </a:r>
          </a:p>
        </p:txBody>
      </p:sp>
      <p:sp>
        <p:nvSpPr>
          <p:cNvPr id="5" name="TextBox 4"/>
          <p:cNvSpPr txBox="1"/>
          <p:nvPr/>
        </p:nvSpPr>
        <p:spPr>
          <a:xfrm>
            <a:off x="914400" y="2331720"/>
            <a:ext cx="10058400" cy="731520"/>
          </a:xfrm>
          <a:prstGeom prst="rect">
            <a:avLst/>
          </a:prstGeom>
          <a:noFill/>
        </p:spPr>
        <p:txBody>
          <a:bodyPr wrap="square" anchor="t">
            <a:spAutoFit/>
          </a:bodyPr>
          <a:lstStyle/>
          <a:p>
            <a:pPr algn="l">
              <a:defRPr sz="2200" b="0">
                <a:solidFill>
                  <a:srgbClr val="D5D8DC"/>
                </a:solidFill>
                <a:latin typeface="Microsoft JhengHei"/>
              </a:defRPr>
            </a:pPr>
            <a:r>
              <a:t>From Research Reproduction to Methodological Correction</a:t>
            </a:r>
          </a:p>
        </p:txBody>
      </p:sp>
      <p:sp>
        <p:nvSpPr>
          <p:cNvPr id="6" name="TextBox 5"/>
          <p:cNvSpPr txBox="1"/>
          <p:nvPr/>
        </p:nvSpPr>
        <p:spPr>
          <a:xfrm>
            <a:off x="914400" y="3246120"/>
            <a:ext cx="10058400" cy="502920"/>
          </a:xfrm>
          <a:prstGeom prst="rect">
            <a:avLst/>
          </a:prstGeom>
          <a:noFill/>
        </p:spPr>
        <p:txBody>
          <a:bodyPr wrap="square" anchor="t">
            <a:spAutoFit/>
          </a:bodyPr>
          <a:lstStyle/>
          <a:p>
            <a:pPr algn="l">
              <a:defRPr sz="1700" b="0">
                <a:solidFill>
                  <a:srgbClr val="2E86C1"/>
                </a:solidFill>
                <a:latin typeface="Microsoft JhengHei"/>
              </a:defRPr>
            </a:pPr>
            <a:r>
              <a:t>Using AI Agent for End-to-End Clinical ML Pipeline Development</a:t>
            </a:r>
          </a:p>
        </p:txBody>
      </p:sp>
      <p:sp>
        <p:nvSpPr>
          <p:cNvPr id="7" name="TextBox 6"/>
          <p:cNvSpPr txBox="1"/>
          <p:nvPr/>
        </p:nvSpPr>
        <p:spPr>
          <a:xfrm>
            <a:off x="914400" y="5468112"/>
            <a:ext cx="4572000" cy="338554"/>
          </a:xfrm>
          <a:prstGeom prst="rect">
            <a:avLst/>
          </a:prstGeom>
          <a:noFill/>
        </p:spPr>
        <p:txBody>
          <a:bodyPr wrap="square" anchor="t">
            <a:spAutoFit/>
          </a:bodyPr>
          <a:lstStyle/>
          <a:p>
            <a:pPr algn="l">
              <a:defRPr sz="1600" b="1">
                <a:solidFill>
                  <a:srgbClr val="FFFFFF"/>
                </a:solidFill>
                <a:latin typeface="Microsoft JhengHei"/>
              </a:defRPr>
            </a:pPr>
            <a:r>
              <a:rPr sz="1600" dirty="0"/>
              <a:t>Presenter: </a:t>
            </a:r>
            <a:r>
              <a:rPr sz="1600" dirty="0" err="1"/>
              <a:t>Jinxun</a:t>
            </a:r>
            <a:r>
              <a:rPr lang="en-US" sz="1600" dirty="0"/>
              <a:t> Zhang( </a:t>
            </a:r>
            <a:r>
              <a:rPr lang="en-US" sz="1600" dirty="0" err="1"/>
              <a:t>張晉薰</a:t>
            </a:r>
            <a:r>
              <a:rPr lang="en-US" sz="1600" dirty="0"/>
              <a:t>）</a:t>
            </a:r>
            <a:endParaRPr sz="1600" dirty="0"/>
          </a:p>
        </p:txBody>
      </p:sp>
      <p:sp>
        <p:nvSpPr>
          <p:cNvPr id="8" name="TextBox 7"/>
          <p:cNvSpPr txBox="1"/>
          <p:nvPr/>
        </p:nvSpPr>
        <p:spPr>
          <a:xfrm>
            <a:off x="914400" y="5897880"/>
            <a:ext cx="4572000" cy="338554"/>
          </a:xfrm>
          <a:prstGeom prst="rect">
            <a:avLst/>
          </a:prstGeom>
          <a:noFill/>
        </p:spPr>
        <p:txBody>
          <a:bodyPr wrap="square" anchor="t">
            <a:spAutoFit/>
          </a:bodyPr>
          <a:lstStyle/>
          <a:p>
            <a:pPr algn="l">
              <a:defRPr sz="1400" b="0">
                <a:solidFill>
                  <a:srgbClr val="D5D8DC"/>
                </a:solidFill>
                <a:latin typeface="Microsoft JhengHei"/>
              </a:defRPr>
            </a:pPr>
            <a:r>
              <a:rPr sz="1600" dirty="0"/>
              <a:t>AI Homework Project  |  April 2026</a:t>
            </a:r>
          </a:p>
        </p:txBody>
      </p:sp>
      <p:sp>
        <p:nvSpPr>
          <p:cNvPr id="9" name="TextBox 8"/>
          <p:cNvSpPr txBox="1"/>
          <p:nvPr/>
        </p:nvSpPr>
        <p:spPr>
          <a:xfrm>
            <a:off x="6400800" y="5468112"/>
            <a:ext cx="5303520" cy="584775"/>
          </a:xfrm>
          <a:prstGeom prst="rect">
            <a:avLst/>
          </a:prstGeom>
          <a:noFill/>
        </p:spPr>
        <p:txBody>
          <a:bodyPr wrap="square" anchor="t">
            <a:spAutoFit/>
          </a:bodyPr>
          <a:lstStyle/>
          <a:p>
            <a:pPr algn="l">
              <a:defRPr sz="1300" b="0">
                <a:solidFill>
                  <a:srgbClr val="D5D8DC"/>
                </a:solidFill>
                <a:latin typeface="Microsoft JhengHei"/>
              </a:defRPr>
            </a:pPr>
            <a:r>
              <a:rPr sz="1600"/>
              <a:t>Schema verification → Pipeline build → Evaluation audit → Final protocol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1064240" cy="621792"/>
          </a:xfrm>
          <a:prstGeom prst="rect">
            <a:avLst/>
          </a:prstGeom>
          <a:noFill/>
        </p:spPr>
        <p:txBody>
          <a:bodyPr wrap="square" anchor="t">
            <a:spAutoFit/>
          </a:bodyPr>
          <a:lstStyle/>
          <a:p>
            <a:pPr algn="l">
              <a:defRPr sz="2800" b="1">
                <a:solidFill>
                  <a:srgbClr val="1C2833"/>
                </a:solidFill>
                <a:latin typeface="Microsoft JhengHei"/>
              </a:defRPr>
            </a:pPr>
            <a:r>
              <a:t>Clinical Background: Why Predict Uremic Toxins?</a:t>
            </a:r>
          </a:p>
        </p:txBody>
      </p:sp>
      <p:sp>
        <p:nvSpPr>
          <p:cNvPr id="4" name="Rectangle 3"/>
          <p:cNvSpPr/>
          <p:nvPr/>
        </p:nvSpPr>
        <p:spPr>
          <a:xfrm>
            <a:off x="548640" y="1143000"/>
            <a:ext cx="11064240" cy="1371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280160"/>
            <a:ext cx="6492240" cy="3477875"/>
          </a:xfrm>
          <a:prstGeom prst="rect">
            <a:avLst/>
          </a:prstGeom>
          <a:noFill/>
        </p:spPr>
        <p:txBody>
          <a:bodyPr wrap="square">
            <a:spAutoFit/>
          </a:bodyPr>
          <a:lstStyle/>
          <a:p>
            <a:pPr marL="285750" indent="-285750">
              <a:spcAft>
                <a:spcPts val="1200"/>
              </a:spcAft>
              <a:buFont typeface="Arial" panose="020B0604020202020204" pitchFamily="34" charset="0"/>
              <a:buChar char="•"/>
              <a:defRPr sz="1800">
                <a:solidFill>
                  <a:srgbClr val="1C2833"/>
                </a:solidFill>
                <a:latin typeface="Microsoft JhengHei"/>
              </a:defRPr>
            </a:pPr>
            <a:r>
              <a:rPr dirty="0"/>
              <a:t>Direct blood assays during HD sessions are slow — real-time monitoring requires an alternative</a:t>
            </a:r>
          </a:p>
          <a:p>
            <a:pPr marL="285750" indent="-285750">
              <a:spcAft>
                <a:spcPts val="1200"/>
              </a:spcAft>
              <a:buFont typeface="Arial" panose="020B0604020202020204" pitchFamily="34" charset="0"/>
              <a:buChar char="•"/>
              <a:defRPr sz="1800">
                <a:solidFill>
                  <a:srgbClr val="1C2833"/>
                </a:solidFill>
                <a:latin typeface="Microsoft JhengHei"/>
              </a:defRPr>
            </a:pPr>
            <a:r>
              <a:rPr dirty="0"/>
              <a:t>UV optoelectronic sensors measure spent dialysate absorbance in real time — an indirect toxin proxy</a:t>
            </a:r>
          </a:p>
          <a:p>
            <a:pPr marL="285750" indent="-285750">
              <a:spcAft>
                <a:spcPts val="1200"/>
              </a:spcAft>
              <a:buFont typeface="Arial" panose="020B0604020202020204" pitchFamily="34" charset="0"/>
              <a:buChar char="•"/>
              <a:defRPr sz="1800">
                <a:solidFill>
                  <a:srgbClr val="1C2833"/>
                </a:solidFill>
                <a:latin typeface="Microsoft JhengHei"/>
              </a:defRPr>
            </a:pPr>
            <a:r>
              <a:rPr dirty="0"/>
              <a:t>ML maps optical signals + clinical features to toxin concentrations — no extra blood draws needed</a:t>
            </a:r>
          </a:p>
          <a:p>
            <a:pPr marL="285750" indent="-285750">
              <a:spcAft>
                <a:spcPts val="1200"/>
              </a:spcAft>
              <a:buFont typeface="Arial" panose="020B0604020202020204" pitchFamily="34" charset="0"/>
              <a:buChar char="•"/>
              <a:defRPr sz="1800">
                <a:solidFill>
                  <a:srgbClr val="1C2833"/>
                </a:solidFill>
                <a:latin typeface="Microsoft JhengHei"/>
              </a:defRPr>
            </a:pPr>
            <a:r>
              <a:rPr dirty="0"/>
              <a:t>Prior work (</a:t>
            </a:r>
            <a:r>
              <a:rPr dirty="0" err="1"/>
              <a:t>OptoEML</a:t>
            </a:r>
            <a:r>
              <a:rPr dirty="0"/>
              <a:t>) proved this concept: SVR on 3 UV wavelengths, 9 patients, 30 sessions</a:t>
            </a:r>
          </a:p>
          <a:p>
            <a:pPr marL="285750" indent="-285750">
              <a:spcAft>
                <a:spcPts val="1200"/>
              </a:spcAft>
              <a:buFont typeface="Arial" panose="020B0604020202020204" pitchFamily="34" charset="0"/>
              <a:buChar char="•"/>
              <a:defRPr sz="1800">
                <a:solidFill>
                  <a:srgbClr val="1C2833"/>
                </a:solidFill>
                <a:latin typeface="Microsoft JhengHei"/>
              </a:defRPr>
            </a:pPr>
            <a:r>
              <a:rPr dirty="0"/>
              <a:t>This project reproduces and extends </a:t>
            </a:r>
            <a:r>
              <a:rPr dirty="0" err="1"/>
              <a:t>OptoEML</a:t>
            </a:r>
            <a:r>
              <a:rPr dirty="0"/>
              <a:t> with a rigorous, AI-agent-assisted pipeline</a:t>
            </a:r>
          </a:p>
        </p:txBody>
      </p:sp>
      <p:sp>
        <p:nvSpPr>
          <p:cNvPr id="6" name="Rectangle 5"/>
          <p:cNvSpPr/>
          <p:nvPr/>
        </p:nvSpPr>
        <p:spPr>
          <a:xfrm>
            <a:off x="7406640" y="1280160"/>
            <a:ext cx="4206240" cy="137160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406640" y="1280160"/>
            <a:ext cx="64008" cy="13716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1389888"/>
            <a:ext cx="3749039" cy="457200"/>
          </a:xfrm>
          <a:prstGeom prst="rect">
            <a:avLst/>
          </a:prstGeom>
          <a:noFill/>
        </p:spPr>
        <p:txBody>
          <a:bodyPr wrap="square" anchor="t">
            <a:spAutoFit/>
          </a:bodyPr>
          <a:lstStyle/>
          <a:p>
            <a:pPr algn="l">
              <a:defRPr sz="1700" b="1">
                <a:solidFill>
                  <a:srgbClr val="0A2342"/>
                </a:solidFill>
                <a:latin typeface="Microsoft JhengHei"/>
              </a:defRPr>
            </a:pPr>
            <a:r>
              <a:t>6 Toxin Targets</a:t>
            </a:r>
          </a:p>
        </p:txBody>
      </p:sp>
      <p:sp>
        <p:nvSpPr>
          <p:cNvPr id="9" name="TextBox 8"/>
          <p:cNvSpPr txBox="1"/>
          <p:nvPr/>
        </p:nvSpPr>
        <p:spPr>
          <a:xfrm>
            <a:off x="7680960" y="1847088"/>
            <a:ext cx="3749039" cy="713232"/>
          </a:xfrm>
          <a:prstGeom prst="rect">
            <a:avLst/>
          </a:prstGeom>
          <a:noFill/>
        </p:spPr>
        <p:txBody>
          <a:bodyPr wrap="square" anchor="t">
            <a:spAutoFit/>
          </a:bodyPr>
          <a:lstStyle/>
          <a:p>
            <a:pPr algn="l">
              <a:defRPr sz="1400" b="0">
                <a:solidFill>
                  <a:srgbClr val="566573"/>
                </a:solidFill>
                <a:latin typeface="Microsoft JhengHei"/>
              </a:defRPr>
            </a:pPr>
            <a:r>
              <a:t>Urea, Creatinine, Uric Acid,</a:t>
            </a:r>
            <a:br/>
            <a:r>
              <a:t>Phosphorus, Potassium, B2M</a:t>
            </a:r>
          </a:p>
        </p:txBody>
      </p:sp>
      <p:sp>
        <p:nvSpPr>
          <p:cNvPr id="10" name="Rectangle 9"/>
          <p:cNvSpPr/>
          <p:nvPr/>
        </p:nvSpPr>
        <p:spPr>
          <a:xfrm>
            <a:off x="7406640" y="2852928"/>
            <a:ext cx="4206240" cy="137160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406640" y="2852928"/>
            <a:ext cx="64008" cy="13716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680960" y="2962656"/>
            <a:ext cx="3749039" cy="457200"/>
          </a:xfrm>
          <a:prstGeom prst="rect">
            <a:avLst/>
          </a:prstGeom>
          <a:noFill/>
        </p:spPr>
        <p:txBody>
          <a:bodyPr wrap="square" anchor="t">
            <a:spAutoFit/>
          </a:bodyPr>
          <a:lstStyle/>
          <a:p>
            <a:pPr algn="l">
              <a:defRPr sz="1700" b="1">
                <a:solidFill>
                  <a:srgbClr val="0A2342"/>
                </a:solidFill>
                <a:latin typeface="Microsoft JhengHei"/>
              </a:defRPr>
            </a:pPr>
            <a:r>
              <a:t>5 UV Wavelengths</a:t>
            </a:r>
          </a:p>
        </p:txBody>
      </p:sp>
      <p:sp>
        <p:nvSpPr>
          <p:cNvPr id="13" name="TextBox 12"/>
          <p:cNvSpPr txBox="1"/>
          <p:nvPr/>
        </p:nvSpPr>
        <p:spPr>
          <a:xfrm>
            <a:off x="7680960" y="3419856"/>
            <a:ext cx="3749039" cy="713232"/>
          </a:xfrm>
          <a:prstGeom prst="rect">
            <a:avLst/>
          </a:prstGeom>
          <a:noFill/>
        </p:spPr>
        <p:txBody>
          <a:bodyPr wrap="square" anchor="t">
            <a:spAutoFit/>
          </a:bodyPr>
          <a:lstStyle/>
          <a:p>
            <a:pPr algn="l">
              <a:defRPr sz="1400" b="0">
                <a:solidFill>
                  <a:srgbClr val="566573"/>
                </a:solidFill>
                <a:latin typeface="Microsoft JhengHei"/>
              </a:defRPr>
            </a:pPr>
            <a:r>
              <a:t>255, 275, 285, 295, 310 nm</a:t>
            </a:r>
          </a:p>
        </p:txBody>
      </p:sp>
      <p:sp>
        <p:nvSpPr>
          <p:cNvPr id="14" name="Rectangle 13"/>
          <p:cNvSpPr/>
          <p:nvPr/>
        </p:nvSpPr>
        <p:spPr>
          <a:xfrm>
            <a:off x="7406640" y="4425696"/>
            <a:ext cx="4206240" cy="137160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406640" y="4425696"/>
            <a:ext cx="64008" cy="13716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80960" y="4535424"/>
            <a:ext cx="3749039" cy="457200"/>
          </a:xfrm>
          <a:prstGeom prst="rect">
            <a:avLst/>
          </a:prstGeom>
          <a:noFill/>
        </p:spPr>
        <p:txBody>
          <a:bodyPr wrap="square" anchor="t">
            <a:spAutoFit/>
          </a:bodyPr>
          <a:lstStyle/>
          <a:p>
            <a:pPr algn="l">
              <a:defRPr sz="1700" b="1">
                <a:solidFill>
                  <a:srgbClr val="0A2342"/>
                </a:solidFill>
                <a:latin typeface="Microsoft JhengHei"/>
              </a:defRPr>
            </a:pPr>
            <a:r>
              <a:t>30 HD Sessions</a:t>
            </a:r>
          </a:p>
        </p:txBody>
      </p:sp>
      <p:sp>
        <p:nvSpPr>
          <p:cNvPr id="17" name="TextBox 16"/>
          <p:cNvSpPr txBox="1"/>
          <p:nvPr/>
        </p:nvSpPr>
        <p:spPr>
          <a:xfrm>
            <a:off x="7680960" y="4992624"/>
            <a:ext cx="3749039" cy="713232"/>
          </a:xfrm>
          <a:prstGeom prst="rect">
            <a:avLst/>
          </a:prstGeom>
          <a:noFill/>
        </p:spPr>
        <p:txBody>
          <a:bodyPr wrap="square" anchor="t">
            <a:spAutoFit/>
          </a:bodyPr>
          <a:lstStyle/>
          <a:p>
            <a:pPr algn="l">
              <a:defRPr sz="1400" b="0">
                <a:solidFill>
                  <a:srgbClr val="566573"/>
                </a:solidFill>
                <a:latin typeface="Microsoft JhengHei"/>
              </a:defRPr>
            </a:pPr>
            <a:r>
              <a:t>9 ESRD patients,  ~510 data points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1064240" cy="621792"/>
          </a:xfrm>
          <a:prstGeom prst="rect">
            <a:avLst/>
          </a:prstGeom>
          <a:noFill/>
        </p:spPr>
        <p:txBody>
          <a:bodyPr wrap="square" anchor="t">
            <a:spAutoFit/>
          </a:bodyPr>
          <a:lstStyle/>
          <a:p>
            <a:pPr algn="l">
              <a:defRPr sz="2800" b="1">
                <a:solidFill>
                  <a:srgbClr val="1C2833"/>
                </a:solidFill>
                <a:latin typeface="Microsoft JhengHei"/>
              </a:defRPr>
            </a:pPr>
            <a:r>
              <a:t>Problem Statement</a:t>
            </a:r>
          </a:p>
        </p:txBody>
      </p:sp>
      <p:sp>
        <p:nvSpPr>
          <p:cNvPr id="4" name="TextBox 3"/>
          <p:cNvSpPr txBox="1"/>
          <p:nvPr/>
        </p:nvSpPr>
        <p:spPr>
          <a:xfrm>
            <a:off x="548640" y="795528"/>
            <a:ext cx="11064240" cy="329184"/>
          </a:xfrm>
          <a:prstGeom prst="rect">
            <a:avLst/>
          </a:prstGeom>
          <a:noFill/>
        </p:spPr>
        <p:txBody>
          <a:bodyPr wrap="square" anchor="t">
            <a:spAutoFit/>
          </a:bodyPr>
          <a:lstStyle/>
          <a:p>
            <a:pPr algn="l">
              <a:defRPr sz="1300" b="0">
                <a:solidFill>
                  <a:srgbClr val="566573"/>
                </a:solidFill>
                <a:latin typeface="Microsoft JhengHei"/>
              </a:defRPr>
            </a:pPr>
            <a:r>
              <a:t>Multivariate Clinical Regression from Optoelectronic Signals</a:t>
            </a:r>
          </a:p>
        </p:txBody>
      </p:sp>
      <p:sp>
        <p:nvSpPr>
          <p:cNvPr id="5" name="Rectangle 4"/>
          <p:cNvSpPr/>
          <p:nvPr/>
        </p:nvSpPr>
        <p:spPr>
          <a:xfrm>
            <a:off x="548640" y="1143000"/>
            <a:ext cx="11064240" cy="1371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280160"/>
            <a:ext cx="5303520" cy="411480"/>
          </a:xfrm>
          <a:prstGeom prst="rect">
            <a:avLst/>
          </a:prstGeom>
          <a:noFill/>
        </p:spPr>
        <p:txBody>
          <a:bodyPr wrap="square" anchor="t">
            <a:spAutoFit/>
          </a:bodyPr>
          <a:lstStyle/>
          <a:p>
            <a:pPr algn="l">
              <a:defRPr sz="2000" b="1">
                <a:solidFill>
                  <a:srgbClr val="0A2342"/>
                </a:solidFill>
                <a:latin typeface="Microsoft JhengHei"/>
              </a:defRPr>
            </a:pPr>
            <a:r>
              <a:t>Task Definition</a:t>
            </a:r>
          </a:p>
        </p:txBody>
      </p:sp>
      <p:sp>
        <p:nvSpPr>
          <p:cNvPr id="7" name="TextBox 6"/>
          <p:cNvSpPr txBox="1"/>
          <p:nvPr/>
        </p:nvSpPr>
        <p:spPr>
          <a:xfrm>
            <a:off x="548640" y="1737360"/>
            <a:ext cx="5303520" cy="3375283"/>
          </a:xfrm>
          <a:prstGeom prst="rect">
            <a:avLst/>
          </a:prstGeom>
          <a:noFill/>
        </p:spPr>
        <p:txBody>
          <a:bodyPr wrap="square">
            <a:spAutoFit/>
          </a:bodyPr>
          <a:lstStyle/>
          <a:p>
            <a:pPr marL="285750" indent="-285750">
              <a:spcAft>
                <a:spcPts val="1000"/>
              </a:spcAft>
              <a:buFont typeface="Arial" panose="020B0604020202020204" pitchFamily="34" charset="0"/>
              <a:buChar char="•"/>
              <a:defRPr sz="1800">
                <a:solidFill>
                  <a:srgbClr val="1C2833"/>
                </a:solidFill>
                <a:latin typeface="Microsoft JhengHei"/>
              </a:defRPr>
            </a:pPr>
            <a:r>
              <a:rPr dirty="0"/>
              <a:t>Estimate 6 toxin targets from tabular clinical data collected during HD sessions</a:t>
            </a:r>
          </a:p>
          <a:p>
            <a:pPr marL="285750" indent="-285750">
              <a:spcAft>
                <a:spcPts val="1000"/>
              </a:spcAft>
              <a:buFont typeface="Arial" panose="020B0604020202020204" pitchFamily="34" charset="0"/>
              <a:buChar char="•"/>
              <a:defRPr sz="1800">
                <a:solidFill>
                  <a:srgbClr val="1C2833"/>
                </a:solidFill>
                <a:latin typeface="Microsoft JhengHei"/>
              </a:defRPr>
            </a:pPr>
            <a:r>
              <a:rPr dirty="0"/>
              <a:t>Input: absorbance at 5 wavelengths + machine parameters + patient features</a:t>
            </a:r>
          </a:p>
          <a:p>
            <a:pPr marL="285750" indent="-285750">
              <a:spcAft>
                <a:spcPts val="1000"/>
              </a:spcAft>
              <a:buFont typeface="Arial" panose="020B0604020202020204" pitchFamily="34" charset="0"/>
              <a:buChar char="•"/>
              <a:defRPr sz="1800">
                <a:solidFill>
                  <a:srgbClr val="1C2833"/>
                </a:solidFill>
                <a:latin typeface="Microsoft JhengHei"/>
              </a:defRPr>
            </a:pPr>
            <a:r>
              <a:rPr dirty="0"/>
              <a:t>Output: predicted toxin concentration per time point</a:t>
            </a:r>
          </a:p>
          <a:p>
            <a:pPr marL="285750" indent="-285750">
              <a:spcAft>
                <a:spcPts val="1000"/>
              </a:spcAft>
              <a:buFont typeface="Arial" panose="020B0604020202020204" pitchFamily="34" charset="0"/>
              <a:buChar char="•"/>
              <a:defRPr sz="1800">
                <a:solidFill>
                  <a:srgbClr val="1C2833"/>
                </a:solidFill>
                <a:latin typeface="Microsoft JhengHei"/>
              </a:defRPr>
            </a:pPr>
            <a:r>
              <a:rPr dirty="0"/>
              <a:t>Evaluation: session-level </a:t>
            </a:r>
            <a:r>
              <a:rPr dirty="0" err="1"/>
              <a:t>GroupKFold</a:t>
            </a:r>
            <a:r>
              <a:rPr dirty="0"/>
              <a:t> with MAE, RMSE, R²</a:t>
            </a:r>
          </a:p>
          <a:p>
            <a:pPr marL="285750" indent="-285750">
              <a:spcAft>
                <a:spcPts val="1000"/>
              </a:spcAft>
              <a:buFont typeface="Arial" panose="020B0604020202020204" pitchFamily="34" charset="0"/>
              <a:buChar char="•"/>
              <a:defRPr sz="1800">
                <a:solidFill>
                  <a:srgbClr val="1C2833"/>
                </a:solidFill>
                <a:latin typeface="Microsoft JhengHei"/>
              </a:defRPr>
            </a:pPr>
            <a:r>
              <a:rPr dirty="0"/>
              <a:t>Session-level splitting prevents data leakage from repeated measurements</a:t>
            </a:r>
          </a:p>
        </p:txBody>
      </p:sp>
      <p:sp>
        <p:nvSpPr>
          <p:cNvPr id="8" name="TextBox 7"/>
          <p:cNvSpPr txBox="1"/>
          <p:nvPr/>
        </p:nvSpPr>
        <p:spPr>
          <a:xfrm>
            <a:off x="6583680" y="1280160"/>
            <a:ext cx="5029200" cy="411480"/>
          </a:xfrm>
          <a:prstGeom prst="rect">
            <a:avLst/>
          </a:prstGeom>
          <a:noFill/>
        </p:spPr>
        <p:txBody>
          <a:bodyPr wrap="square" anchor="t">
            <a:spAutoFit/>
          </a:bodyPr>
          <a:lstStyle/>
          <a:p>
            <a:pPr algn="l">
              <a:defRPr sz="2000" b="1">
                <a:solidFill>
                  <a:srgbClr val="0A2342"/>
                </a:solidFill>
                <a:latin typeface="Microsoft JhengHei"/>
              </a:defRPr>
            </a:pPr>
            <a:r>
              <a:t>Six Prediction Targets</a:t>
            </a:r>
          </a:p>
        </p:txBody>
      </p:sp>
      <p:graphicFrame>
        <p:nvGraphicFramePr>
          <p:cNvPr id="9" name="Table 8"/>
          <p:cNvGraphicFramePr>
            <a:graphicFrameLocks noGrp="1"/>
          </p:cNvGraphicFramePr>
          <p:nvPr/>
        </p:nvGraphicFramePr>
        <p:xfrm>
          <a:off x="6583680" y="1783080"/>
          <a:ext cx="5029200" cy="347472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496388">
                <a:tc>
                  <a:txBody>
                    <a:bodyPr/>
                    <a:lstStyle/>
                    <a:p>
                      <a:pPr>
                        <a:defRPr sz="1300" b="1">
                          <a:solidFill>
                            <a:srgbClr val="FFFFFF"/>
                          </a:solidFill>
                          <a:latin typeface="Microsoft JhengHei"/>
                        </a:defRPr>
                      </a:pPr>
                      <a:r>
                        <a:t>Target</a:t>
                      </a:r>
                    </a:p>
                  </a:txBody>
                  <a:tcPr>
                    <a:solidFill>
                      <a:srgbClr val="0A2342"/>
                    </a:solidFill>
                  </a:tcPr>
                </a:tc>
                <a:tc>
                  <a:txBody>
                    <a:bodyPr/>
                    <a:lstStyle/>
                    <a:p>
                      <a:pPr>
                        <a:defRPr sz="1300" b="1">
                          <a:solidFill>
                            <a:srgbClr val="FFFFFF"/>
                          </a:solidFill>
                          <a:latin typeface="Microsoft JhengHei"/>
                        </a:defRPr>
                      </a:pPr>
                      <a:r>
                        <a:t>Workbook Column</a:t>
                      </a:r>
                    </a:p>
                  </a:txBody>
                  <a:tcPr>
                    <a:solidFill>
                      <a:srgbClr val="0A2342"/>
                    </a:solidFill>
                  </a:tcPr>
                </a:tc>
                <a:tc>
                  <a:txBody>
                    <a:bodyPr/>
                    <a:lstStyle/>
                    <a:p>
                      <a:pPr>
                        <a:defRPr sz="1300" b="1">
                          <a:solidFill>
                            <a:srgbClr val="FFFFFF"/>
                          </a:solidFill>
                          <a:latin typeface="Microsoft JhengHei"/>
                        </a:defRPr>
                      </a:pPr>
                      <a:r>
                        <a:t>Status</a:t>
                      </a:r>
                    </a:p>
                  </a:txBody>
                  <a:tcPr>
                    <a:solidFill>
                      <a:srgbClr val="0A2342"/>
                    </a:solidFill>
                  </a:tcPr>
                </a:tc>
                <a:extLst>
                  <a:ext uri="{0D108BD9-81ED-4DB2-BD59-A6C34878D82A}">
                    <a16:rowId xmlns:a16="http://schemas.microsoft.com/office/drawing/2014/main" val="10000"/>
                  </a:ext>
                </a:extLst>
              </a:tr>
              <a:tr h="496388">
                <a:tc>
                  <a:txBody>
                    <a:bodyPr/>
                    <a:lstStyle/>
                    <a:p>
                      <a:pPr>
                        <a:defRPr sz="1300">
                          <a:solidFill>
                            <a:srgbClr val="1C2833"/>
                          </a:solidFill>
                          <a:latin typeface="Microsoft JhengHei"/>
                        </a:defRPr>
                      </a:pPr>
                      <a:r>
                        <a:t>Urea Nitrogen</a:t>
                      </a:r>
                    </a:p>
                  </a:txBody>
                  <a:tcPr>
                    <a:solidFill>
                      <a:srgbClr val="FFFFFF"/>
                    </a:solidFill>
                  </a:tcPr>
                </a:tc>
                <a:tc>
                  <a:txBody>
                    <a:bodyPr/>
                    <a:lstStyle/>
                    <a:p>
                      <a:pPr>
                        <a:defRPr sz="1300">
                          <a:solidFill>
                            <a:srgbClr val="1C2833"/>
                          </a:solidFill>
                          <a:latin typeface="Microsoft JhengHei"/>
                        </a:defRPr>
                      </a:pPr>
                      <a:r>
                        <a:t>Urea</a:t>
                      </a:r>
                    </a:p>
                  </a:txBody>
                  <a:tcPr>
                    <a:solidFill>
                      <a:srgbClr val="FFFFFF"/>
                    </a:solidFill>
                  </a:tcPr>
                </a:tc>
                <a:tc>
                  <a:txBody>
                    <a:bodyPr/>
                    <a:lstStyle/>
                    <a:p>
                      <a:pPr>
                        <a:defRPr sz="1300">
                          <a:solidFill>
                            <a:srgbClr val="1C2833"/>
                          </a:solidFill>
                          <a:latin typeface="Microsoft JhengHei"/>
                        </a:defRPr>
                      </a:pPr>
                      <a:r>
                        <a:t>Direct match</a:t>
                      </a:r>
                    </a:p>
                  </a:txBody>
                  <a:tcPr>
                    <a:solidFill>
                      <a:srgbClr val="FFFFFF"/>
                    </a:solidFill>
                  </a:tcPr>
                </a:tc>
                <a:extLst>
                  <a:ext uri="{0D108BD9-81ED-4DB2-BD59-A6C34878D82A}">
                    <a16:rowId xmlns:a16="http://schemas.microsoft.com/office/drawing/2014/main" val="10001"/>
                  </a:ext>
                </a:extLst>
              </a:tr>
              <a:tr h="496388">
                <a:tc>
                  <a:txBody>
                    <a:bodyPr/>
                    <a:lstStyle/>
                    <a:p>
                      <a:pPr>
                        <a:defRPr sz="1300">
                          <a:solidFill>
                            <a:srgbClr val="1C2833"/>
                          </a:solidFill>
                          <a:latin typeface="Microsoft JhengHei"/>
                        </a:defRPr>
                      </a:pPr>
                      <a:r>
                        <a:t>Creatinine</a:t>
                      </a:r>
                    </a:p>
                  </a:txBody>
                  <a:tcPr>
                    <a:solidFill>
                      <a:srgbClr val="EBF5FB"/>
                    </a:solidFill>
                  </a:tcPr>
                </a:tc>
                <a:tc>
                  <a:txBody>
                    <a:bodyPr/>
                    <a:lstStyle/>
                    <a:p>
                      <a:pPr>
                        <a:defRPr sz="1300">
                          <a:solidFill>
                            <a:srgbClr val="1C2833"/>
                          </a:solidFill>
                          <a:latin typeface="Microsoft JhengHei"/>
                        </a:defRPr>
                      </a:pPr>
                      <a:r>
                        <a:t>Creatinine</a:t>
                      </a:r>
                    </a:p>
                  </a:txBody>
                  <a:tcPr>
                    <a:solidFill>
                      <a:srgbClr val="EBF5FB"/>
                    </a:solidFill>
                  </a:tcPr>
                </a:tc>
                <a:tc>
                  <a:txBody>
                    <a:bodyPr/>
                    <a:lstStyle/>
                    <a:p>
                      <a:pPr>
                        <a:defRPr sz="1300">
                          <a:solidFill>
                            <a:srgbClr val="1C2833"/>
                          </a:solidFill>
                          <a:latin typeface="Microsoft JhengHei"/>
                        </a:defRPr>
                      </a:pPr>
                      <a:r>
                        <a:t>Direct match</a:t>
                      </a:r>
                    </a:p>
                  </a:txBody>
                  <a:tcPr>
                    <a:solidFill>
                      <a:srgbClr val="EBF5FB"/>
                    </a:solidFill>
                  </a:tcPr>
                </a:tc>
                <a:extLst>
                  <a:ext uri="{0D108BD9-81ED-4DB2-BD59-A6C34878D82A}">
                    <a16:rowId xmlns:a16="http://schemas.microsoft.com/office/drawing/2014/main" val="10002"/>
                  </a:ext>
                </a:extLst>
              </a:tr>
              <a:tr h="496388">
                <a:tc>
                  <a:txBody>
                    <a:bodyPr/>
                    <a:lstStyle/>
                    <a:p>
                      <a:pPr>
                        <a:defRPr sz="1300">
                          <a:solidFill>
                            <a:srgbClr val="1C2833"/>
                          </a:solidFill>
                          <a:latin typeface="Microsoft JhengHei"/>
                        </a:defRPr>
                      </a:pPr>
                      <a:r>
                        <a:t>Uric Acid</a:t>
                      </a:r>
                    </a:p>
                  </a:txBody>
                  <a:tcPr>
                    <a:solidFill>
                      <a:srgbClr val="FFFFFF"/>
                    </a:solidFill>
                  </a:tcPr>
                </a:tc>
                <a:tc>
                  <a:txBody>
                    <a:bodyPr/>
                    <a:lstStyle/>
                    <a:p>
                      <a:pPr>
                        <a:defRPr sz="1300">
                          <a:solidFill>
                            <a:srgbClr val="1C2833"/>
                          </a:solidFill>
                          <a:latin typeface="Microsoft JhengHei"/>
                        </a:defRPr>
                      </a:pPr>
                      <a:r>
                        <a:t>Acid</a:t>
                      </a:r>
                    </a:p>
                  </a:txBody>
                  <a:tcPr>
                    <a:solidFill>
                      <a:srgbClr val="FFFFFF"/>
                    </a:solidFill>
                  </a:tcPr>
                </a:tc>
                <a:tc>
                  <a:txBody>
                    <a:bodyPr/>
                    <a:lstStyle/>
                    <a:p>
                      <a:pPr>
                        <a:defRPr sz="1300" b="1">
                          <a:solidFill>
                            <a:srgbClr val="F39C12"/>
                          </a:solidFill>
                          <a:latin typeface="Microsoft JhengHei"/>
                        </a:defRPr>
                      </a:pPr>
                      <a:r>
                        <a:t>Inferred mapping</a:t>
                      </a:r>
                    </a:p>
                  </a:txBody>
                  <a:tcPr>
                    <a:solidFill>
                      <a:srgbClr val="FFFFFF"/>
                    </a:solidFill>
                  </a:tcPr>
                </a:tc>
                <a:extLst>
                  <a:ext uri="{0D108BD9-81ED-4DB2-BD59-A6C34878D82A}">
                    <a16:rowId xmlns:a16="http://schemas.microsoft.com/office/drawing/2014/main" val="10003"/>
                  </a:ext>
                </a:extLst>
              </a:tr>
              <a:tr h="496388">
                <a:tc>
                  <a:txBody>
                    <a:bodyPr/>
                    <a:lstStyle/>
                    <a:p>
                      <a:pPr>
                        <a:defRPr sz="1300">
                          <a:solidFill>
                            <a:srgbClr val="1C2833"/>
                          </a:solidFill>
                          <a:latin typeface="Microsoft JhengHei"/>
                        </a:defRPr>
                      </a:pPr>
                      <a:r>
                        <a:t>Phosphorus</a:t>
                      </a:r>
                    </a:p>
                  </a:txBody>
                  <a:tcPr>
                    <a:solidFill>
                      <a:srgbClr val="EBF5FB"/>
                    </a:solidFill>
                  </a:tcPr>
                </a:tc>
                <a:tc>
                  <a:txBody>
                    <a:bodyPr/>
                    <a:lstStyle/>
                    <a:p>
                      <a:pPr>
                        <a:defRPr sz="1300">
                          <a:solidFill>
                            <a:srgbClr val="1C2833"/>
                          </a:solidFill>
                          <a:latin typeface="Microsoft JhengHei"/>
                        </a:defRPr>
                      </a:pPr>
                      <a:r>
                        <a:t>Phosphorus</a:t>
                      </a:r>
                    </a:p>
                  </a:txBody>
                  <a:tcPr>
                    <a:solidFill>
                      <a:srgbClr val="EBF5FB"/>
                    </a:solidFill>
                  </a:tcPr>
                </a:tc>
                <a:tc>
                  <a:txBody>
                    <a:bodyPr/>
                    <a:lstStyle/>
                    <a:p>
                      <a:pPr>
                        <a:defRPr sz="1300">
                          <a:solidFill>
                            <a:srgbClr val="1C2833"/>
                          </a:solidFill>
                          <a:latin typeface="Microsoft JhengHei"/>
                        </a:defRPr>
                      </a:pPr>
                      <a:r>
                        <a:t>Direct match</a:t>
                      </a:r>
                    </a:p>
                  </a:txBody>
                  <a:tcPr>
                    <a:solidFill>
                      <a:srgbClr val="EBF5FB"/>
                    </a:solidFill>
                  </a:tcPr>
                </a:tc>
                <a:extLst>
                  <a:ext uri="{0D108BD9-81ED-4DB2-BD59-A6C34878D82A}">
                    <a16:rowId xmlns:a16="http://schemas.microsoft.com/office/drawing/2014/main" val="10004"/>
                  </a:ext>
                </a:extLst>
              </a:tr>
              <a:tr h="496388">
                <a:tc>
                  <a:txBody>
                    <a:bodyPr/>
                    <a:lstStyle/>
                    <a:p>
                      <a:pPr>
                        <a:defRPr sz="1300">
                          <a:solidFill>
                            <a:srgbClr val="1C2833"/>
                          </a:solidFill>
                          <a:latin typeface="Microsoft JhengHei"/>
                        </a:defRPr>
                      </a:pPr>
                      <a:r>
                        <a:t>Potassium</a:t>
                      </a:r>
                    </a:p>
                  </a:txBody>
                  <a:tcPr>
                    <a:solidFill>
                      <a:srgbClr val="FFFFFF"/>
                    </a:solidFill>
                  </a:tcPr>
                </a:tc>
                <a:tc>
                  <a:txBody>
                    <a:bodyPr/>
                    <a:lstStyle/>
                    <a:p>
                      <a:pPr>
                        <a:defRPr sz="1300">
                          <a:solidFill>
                            <a:srgbClr val="1C2833"/>
                          </a:solidFill>
                          <a:latin typeface="Microsoft JhengHei"/>
                        </a:defRPr>
                      </a:pPr>
                      <a:r>
                        <a:t>Potassium</a:t>
                      </a:r>
                    </a:p>
                  </a:txBody>
                  <a:tcPr>
                    <a:solidFill>
                      <a:srgbClr val="FFFFFF"/>
                    </a:solidFill>
                  </a:tcPr>
                </a:tc>
                <a:tc>
                  <a:txBody>
                    <a:bodyPr/>
                    <a:lstStyle/>
                    <a:p>
                      <a:pPr>
                        <a:defRPr sz="1300">
                          <a:solidFill>
                            <a:srgbClr val="1C2833"/>
                          </a:solidFill>
                          <a:latin typeface="Microsoft JhengHei"/>
                        </a:defRPr>
                      </a:pPr>
                      <a:r>
                        <a:t>Direct match</a:t>
                      </a:r>
                    </a:p>
                  </a:txBody>
                  <a:tcPr>
                    <a:solidFill>
                      <a:srgbClr val="FFFFFF"/>
                    </a:solidFill>
                  </a:tcPr>
                </a:tc>
                <a:extLst>
                  <a:ext uri="{0D108BD9-81ED-4DB2-BD59-A6C34878D82A}">
                    <a16:rowId xmlns:a16="http://schemas.microsoft.com/office/drawing/2014/main" val="10005"/>
                  </a:ext>
                </a:extLst>
              </a:tr>
              <a:tr h="496392">
                <a:tc>
                  <a:txBody>
                    <a:bodyPr/>
                    <a:lstStyle/>
                    <a:p>
                      <a:pPr>
                        <a:defRPr sz="1300">
                          <a:solidFill>
                            <a:srgbClr val="1C2833"/>
                          </a:solidFill>
                          <a:latin typeface="Microsoft JhengHei"/>
                        </a:defRPr>
                      </a:pPr>
                      <a:r>
                        <a:t>β2-Microglobulin</a:t>
                      </a:r>
                    </a:p>
                  </a:txBody>
                  <a:tcPr>
                    <a:solidFill>
                      <a:srgbClr val="EBF5FB"/>
                    </a:solidFill>
                  </a:tcPr>
                </a:tc>
                <a:tc>
                  <a:txBody>
                    <a:bodyPr/>
                    <a:lstStyle/>
                    <a:p>
                      <a:pPr>
                        <a:defRPr sz="1300">
                          <a:solidFill>
                            <a:srgbClr val="1C2833"/>
                          </a:solidFill>
                          <a:latin typeface="Microsoft JhengHei"/>
                        </a:defRPr>
                      </a:pPr>
                      <a:r>
                        <a:t>β2-microglobulin</a:t>
                      </a:r>
                    </a:p>
                  </a:txBody>
                  <a:tcPr>
                    <a:solidFill>
                      <a:srgbClr val="EBF5FB"/>
                    </a:solidFill>
                  </a:tcPr>
                </a:tc>
                <a:tc>
                  <a:txBody>
                    <a:bodyPr/>
                    <a:lstStyle/>
                    <a:p>
                      <a:pPr>
                        <a:defRPr sz="1300">
                          <a:solidFill>
                            <a:srgbClr val="1C2833"/>
                          </a:solidFill>
                          <a:latin typeface="Microsoft JhengHei"/>
                        </a:defRPr>
                      </a:pPr>
                      <a:r>
                        <a:t>Direct match</a:t>
                      </a:r>
                    </a:p>
                  </a:txBody>
                  <a:tcPr>
                    <a:solidFill>
                      <a:srgbClr val="EBF5FB"/>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1064240" cy="621792"/>
          </a:xfrm>
          <a:prstGeom prst="rect">
            <a:avLst/>
          </a:prstGeom>
          <a:noFill/>
        </p:spPr>
        <p:txBody>
          <a:bodyPr wrap="square" anchor="t">
            <a:spAutoFit/>
          </a:bodyPr>
          <a:lstStyle/>
          <a:p>
            <a:pPr algn="l">
              <a:defRPr sz="2800" b="1">
                <a:solidFill>
                  <a:srgbClr val="1C2833"/>
                </a:solidFill>
                <a:latin typeface="Microsoft JhengHei"/>
              </a:defRPr>
            </a:pPr>
            <a:r>
              <a:t>Research Goal and Expected Outcome</a:t>
            </a:r>
          </a:p>
        </p:txBody>
      </p:sp>
      <p:sp>
        <p:nvSpPr>
          <p:cNvPr id="4" name="Rectangle 3"/>
          <p:cNvSpPr/>
          <p:nvPr/>
        </p:nvSpPr>
        <p:spPr>
          <a:xfrm>
            <a:off x="548640" y="1143000"/>
            <a:ext cx="11064240" cy="1371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1280160"/>
            <a:ext cx="3611880" cy="269748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280160"/>
            <a:ext cx="64008" cy="2697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408176"/>
            <a:ext cx="3200400" cy="502920"/>
          </a:xfrm>
          <a:prstGeom prst="rect">
            <a:avLst/>
          </a:prstGeom>
          <a:noFill/>
        </p:spPr>
        <p:txBody>
          <a:bodyPr wrap="square" anchor="t">
            <a:spAutoFit/>
          </a:bodyPr>
          <a:lstStyle/>
          <a:p>
            <a:pPr algn="l">
              <a:defRPr sz="1800" b="1">
                <a:solidFill>
                  <a:srgbClr val="0A2342"/>
                </a:solidFill>
                <a:latin typeface="Microsoft JhengHei"/>
              </a:defRPr>
            </a:pPr>
            <a:r>
              <a:t>Reproducible Pipeline</a:t>
            </a:r>
          </a:p>
        </p:txBody>
      </p:sp>
      <p:sp>
        <p:nvSpPr>
          <p:cNvPr id="8" name="TextBox 7"/>
          <p:cNvSpPr txBox="1"/>
          <p:nvPr/>
        </p:nvSpPr>
        <p:spPr>
          <a:xfrm>
            <a:off x="685800" y="1956815"/>
            <a:ext cx="3200400" cy="1828800"/>
          </a:xfrm>
          <a:prstGeom prst="rect">
            <a:avLst/>
          </a:prstGeom>
          <a:noFill/>
        </p:spPr>
        <p:txBody>
          <a:bodyPr wrap="square" anchor="t">
            <a:spAutoFit/>
          </a:bodyPr>
          <a:lstStyle/>
          <a:p>
            <a:pPr algn="l">
              <a:defRPr sz="1500" b="0">
                <a:solidFill>
                  <a:srgbClr val="1C2833"/>
                </a:solidFill>
                <a:latin typeface="Microsoft JhengHei"/>
              </a:defRPr>
            </a:pPr>
            <a:r>
              <a:t>GitHub-ready Python project: code, tests, figures, reports, PPT — all AI-agent-assisted</a:t>
            </a:r>
          </a:p>
        </p:txBody>
      </p:sp>
      <p:sp>
        <p:nvSpPr>
          <p:cNvPr id="9" name="Rectangle 8"/>
          <p:cNvSpPr/>
          <p:nvPr/>
        </p:nvSpPr>
        <p:spPr>
          <a:xfrm>
            <a:off x="4343400" y="1280160"/>
            <a:ext cx="3611880" cy="269748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43400" y="1280160"/>
            <a:ext cx="64008" cy="26974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0" y="1408176"/>
            <a:ext cx="3200400" cy="502920"/>
          </a:xfrm>
          <a:prstGeom prst="rect">
            <a:avLst/>
          </a:prstGeom>
          <a:noFill/>
        </p:spPr>
        <p:txBody>
          <a:bodyPr wrap="square" anchor="t">
            <a:spAutoFit/>
          </a:bodyPr>
          <a:lstStyle/>
          <a:p>
            <a:pPr algn="l">
              <a:defRPr sz="1800" b="1">
                <a:solidFill>
                  <a:srgbClr val="0A2342"/>
                </a:solidFill>
                <a:latin typeface="Microsoft JhengHei"/>
              </a:defRPr>
            </a:pPr>
            <a:r>
              <a:t>Methodological Rigor</a:t>
            </a:r>
          </a:p>
        </p:txBody>
      </p:sp>
      <p:sp>
        <p:nvSpPr>
          <p:cNvPr id="12" name="TextBox 11"/>
          <p:cNvSpPr txBox="1"/>
          <p:nvPr/>
        </p:nvSpPr>
        <p:spPr>
          <a:xfrm>
            <a:off x="4572000" y="1956815"/>
            <a:ext cx="3200400" cy="1828800"/>
          </a:xfrm>
          <a:prstGeom prst="rect">
            <a:avLst/>
          </a:prstGeom>
          <a:noFill/>
        </p:spPr>
        <p:txBody>
          <a:bodyPr wrap="square" anchor="t">
            <a:spAutoFit/>
          </a:bodyPr>
          <a:lstStyle/>
          <a:p>
            <a:pPr algn="l">
              <a:defRPr sz="1500" b="0">
                <a:solidFill>
                  <a:srgbClr val="1C2833"/>
                </a:solidFill>
                <a:latin typeface="Microsoft JhengHei"/>
              </a:defRPr>
            </a:pPr>
            <a:r>
              <a:t>Multi-model comparison, session-level evaluation, and GroupKFold cross-validation</a:t>
            </a:r>
          </a:p>
        </p:txBody>
      </p:sp>
      <p:sp>
        <p:nvSpPr>
          <p:cNvPr id="13" name="Rectangle 12"/>
          <p:cNvSpPr/>
          <p:nvPr/>
        </p:nvSpPr>
        <p:spPr>
          <a:xfrm>
            <a:off x="8229600" y="1280160"/>
            <a:ext cx="3611880" cy="269748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29600" y="1280160"/>
            <a:ext cx="64008" cy="269748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58200" y="1408176"/>
            <a:ext cx="3200400" cy="502920"/>
          </a:xfrm>
          <a:prstGeom prst="rect">
            <a:avLst/>
          </a:prstGeom>
          <a:noFill/>
        </p:spPr>
        <p:txBody>
          <a:bodyPr wrap="square" anchor="t">
            <a:spAutoFit/>
          </a:bodyPr>
          <a:lstStyle/>
          <a:p>
            <a:pPr algn="l">
              <a:defRPr sz="1800" b="1">
                <a:solidFill>
                  <a:srgbClr val="0A2342"/>
                </a:solidFill>
                <a:latin typeface="Microsoft JhengHei"/>
              </a:defRPr>
            </a:pPr>
            <a:r>
              <a:t>Clear Comparison</a:t>
            </a:r>
          </a:p>
        </p:txBody>
      </p:sp>
      <p:sp>
        <p:nvSpPr>
          <p:cNvPr id="16" name="TextBox 15"/>
          <p:cNvSpPr txBox="1"/>
          <p:nvPr/>
        </p:nvSpPr>
        <p:spPr>
          <a:xfrm>
            <a:off x="8458200" y="1956815"/>
            <a:ext cx="3200400" cy="1828800"/>
          </a:xfrm>
          <a:prstGeom prst="rect">
            <a:avLst/>
          </a:prstGeom>
          <a:noFill/>
        </p:spPr>
        <p:txBody>
          <a:bodyPr wrap="square" anchor="t">
            <a:spAutoFit/>
          </a:bodyPr>
          <a:lstStyle/>
          <a:p>
            <a:pPr algn="l">
              <a:defRPr sz="1500" b="0">
                <a:solidFill>
                  <a:srgbClr val="1C2833"/>
                </a:solidFill>
                <a:latin typeface="Microsoft JhengHei"/>
              </a:defRPr>
            </a:pPr>
            <a:r>
              <a:t>Document weaknesses in the prior study while demonstrating improved evaluation discipline</a:t>
            </a:r>
          </a:p>
        </p:txBody>
      </p:sp>
      <p:sp>
        <p:nvSpPr>
          <p:cNvPr id="17" name="Rectangle 16"/>
          <p:cNvSpPr/>
          <p:nvPr/>
        </p:nvSpPr>
        <p:spPr>
          <a:xfrm>
            <a:off x="457200" y="4224528"/>
            <a:ext cx="11247120" cy="2304288"/>
          </a:xfrm>
          <a:prstGeom prst="rect">
            <a:avLst/>
          </a:prstGeom>
          <a:solidFill>
            <a:srgbClr val="0A2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4370832"/>
            <a:ext cx="10515600" cy="438912"/>
          </a:xfrm>
          <a:prstGeom prst="rect">
            <a:avLst/>
          </a:prstGeom>
          <a:noFill/>
        </p:spPr>
        <p:txBody>
          <a:bodyPr wrap="square" anchor="t">
            <a:spAutoFit/>
          </a:bodyPr>
          <a:lstStyle/>
          <a:p>
            <a:pPr algn="l">
              <a:defRPr sz="1800" b="1">
                <a:solidFill>
                  <a:srgbClr val="FFFFFF"/>
                </a:solidFill>
                <a:latin typeface="Microsoft JhengHei"/>
              </a:defRPr>
            </a:pPr>
            <a:r>
              <a:t>Homework Requirements Alignment</a:t>
            </a:r>
          </a:p>
        </p:txBody>
      </p:sp>
      <p:sp>
        <p:nvSpPr>
          <p:cNvPr id="19" name="TextBox 18"/>
          <p:cNvSpPr txBox="1"/>
          <p:nvPr/>
        </p:nvSpPr>
        <p:spPr>
          <a:xfrm>
            <a:off x="822960" y="4864608"/>
            <a:ext cx="10515600" cy="1572768"/>
          </a:xfrm>
          <a:prstGeom prst="rect">
            <a:avLst/>
          </a:prstGeom>
          <a:noFill/>
        </p:spPr>
        <p:txBody>
          <a:bodyPr wrap="square">
            <a:spAutoFit/>
          </a:bodyPr>
          <a:lstStyle/>
          <a:p>
            <a:pPr>
              <a:spcAft>
                <a:spcPts val="600"/>
              </a:spcAft>
              <a:defRPr sz="1500">
                <a:solidFill>
                  <a:srgbClr val="D5D8DC"/>
                </a:solidFill>
                <a:latin typeface="Microsoft JhengHei"/>
              </a:defRPr>
            </a:pPr>
            <a:r>
              <a:t>Question Description:  HD toxin regression from optoelectronic absorbance + clinical features</a:t>
            </a:r>
          </a:p>
          <a:p>
            <a:pPr>
              <a:spcAft>
                <a:spcPts val="600"/>
              </a:spcAft>
              <a:defRPr sz="1500">
                <a:solidFill>
                  <a:srgbClr val="D5D8DC"/>
                </a:solidFill>
                <a:latin typeface="Microsoft JhengHei"/>
              </a:defRPr>
            </a:pPr>
            <a:r>
              <a:t>Solution Overview:  Multi-model pipeline (SVR, RF, KNN, LR) with 5-wavelength feature expansion</a:t>
            </a:r>
          </a:p>
          <a:p>
            <a:pPr>
              <a:spcAft>
                <a:spcPts val="600"/>
              </a:spcAft>
              <a:defRPr sz="1500">
                <a:solidFill>
                  <a:srgbClr val="D5D8DC"/>
                </a:solidFill>
                <a:latin typeface="Microsoft JhengHei"/>
              </a:defRPr>
            </a:pPr>
            <a:r>
              <a:t>Agent Workflow:  9-stage end-to-end AI agent — requirement parsing through final evaluation</a:t>
            </a:r>
          </a:p>
          <a:p>
            <a:pPr>
              <a:spcAft>
                <a:spcPts val="600"/>
              </a:spcAft>
              <a:defRPr sz="1500">
                <a:solidFill>
                  <a:srgbClr val="D5D8DC"/>
                </a:solidFill>
                <a:latin typeface="Microsoft JhengHei"/>
              </a:defRPr>
            </a:pPr>
            <a:r>
              <a:t>Demo Result:  GroupKFold session-level evaluation — trustworthy grouped-unseen-session R² results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1064240" cy="621792"/>
          </a:xfrm>
          <a:prstGeom prst="rect">
            <a:avLst/>
          </a:prstGeom>
          <a:noFill/>
        </p:spPr>
        <p:txBody>
          <a:bodyPr wrap="square" anchor="t">
            <a:spAutoFit/>
          </a:bodyPr>
          <a:lstStyle/>
          <a:p>
            <a:pPr algn="l">
              <a:defRPr sz="2800" b="1">
                <a:solidFill>
                  <a:srgbClr val="1C2833"/>
                </a:solidFill>
                <a:latin typeface="Microsoft JhengHei"/>
              </a:defRPr>
            </a:pPr>
            <a:r>
              <a:t>Review of Senior's Work (OptoEML Paper)</a:t>
            </a:r>
          </a:p>
        </p:txBody>
      </p:sp>
      <p:sp>
        <p:nvSpPr>
          <p:cNvPr id="4" name="Rectangle 3"/>
          <p:cNvSpPr/>
          <p:nvPr/>
        </p:nvSpPr>
        <p:spPr>
          <a:xfrm>
            <a:off x="548640" y="1143000"/>
            <a:ext cx="11064240" cy="1371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280160"/>
            <a:ext cx="5486400" cy="411480"/>
          </a:xfrm>
          <a:prstGeom prst="rect">
            <a:avLst/>
          </a:prstGeom>
          <a:noFill/>
        </p:spPr>
        <p:txBody>
          <a:bodyPr wrap="square" anchor="t">
            <a:spAutoFit/>
          </a:bodyPr>
          <a:lstStyle/>
          <a:p>
            <a:pPr algn="l">
              <a:defRPr sz="2000" b="1">
                <a:solidFill>
                  <a:srgbClr val="0A2342"/>
                </a:solidFill>
                <a:latin typeface="Microsoft JhengHei"/>
              </a:defRPr>
            </a:pPr>
            <a:r>
              <a:t>Methodology Summary</a:t>
            </a:r>
          </a:p>
        </p:txBody>
      </p:sp>
      <p:sp>
        <p:nvSpPr>
          <p:cNvPr id="6" name="TextBox 5"/>
          <p:cNvSpPr txBox="1"/>
          <p:nvPr/>
        </p:nvSpPr>
        <p:spPr>
          <a:xfrm>
            <a:off x="548640" y="1755648"/>
            <a:ext cx="5486400" cy="4108817"/>
          </a:xfrm>
          <a:prstGeom prst="rect">
            <a:avLst/>
          </a:prstGeom>
          <a:noFill/>
        </p:spPr>
        <p:txBody>
          <a:bodyPr wrap="square">
            <a:spAutoFit/>
          </a:bodyPr>
          <a:lstStyle/>
          <a:p>
            <a:pPr marL="285750" indent="-285750">
              <a:spcAft>
                <a:spcPts val="800"/>
              </a:spcAft>
              <a:buFont typeface="Arial" panose="020B0604020202020204" pitchFamily="34" charset="0"/>
              <a:buChar char="•"/>
              <a:defRPr sz="1700">
                <a:solidFill>
                  <a:srgbClr val="1C2833"/>
                </a:solidFill>
                <a:latin typeface="Microsoft JhengHei"/>
              </a:defRPr>
            </a:pPr>
            <a:r>
              <a:rPr dirty="0"/>
              <a:t>UV optoelectronic system — 3 wavelengths (255, 275, 310 nm) on spent dialysate</a:t>
            </a:r>
          </a:p>
          <a:p>
            <a:pPr marL="285750" indent="-285750">
              <a:spcAft>
                <a:spcPts val="800"/>
              </a:spcAft>
              <a:buFont typeface="Arial" panose="020B0604020202020204" pitchFamily="34" charset="0"/>
              <a:buChar char="•"/>
              <a:defRPr sz="1700">
                <a:solidFill>
                  <a:srgbClr val="1C2833"/>
                </a:solidFill>
                <a:latin typeface="Microsoft JhengHei"/>
              </a:defRPr>
            </a:pPr>
            <a:r>
              <a:rPr dirty="0"/>
              <a:t>SVR with polynomial kernel as the sole ML model</a:t>
            </a:r>
          </a:p>
          <a:p>
            <a:pPr marL="285750" indent="-285750">
              <a:spcAft>
                <a:spcPts val="800"/>
              </a:spcAft>
              <a:buFont typeface="Arial" panose="020B0604020202020204" pitchFamily="34" charset="0"/>
              <a:buChar char="•"/>
              <a:defRPr sz="1700">
                <a:solidFill>
                  <a:srgbClr val="1C2833"/>
                </a:solidFill>
                <a:latin typeface="Microsoft JhengHei"/>
              </a:defRPr>
            </a:pPr>
            <a:r>
              <a:rPr dirty="0"/>
              <a:t>Three feature sets: personal (m=8), absorbance (m=3), combined (m=11)</a:t>
            </a:r>
          </a:p>
          <a:p>
            <a:pPr marL="285750" indent="-285750">
              <a:spcAft>
                <a:spcPts val="800"/>
              </a:spcAft>
              <a:buFont typeface="Arial" panose="020B0604020202020204" pitchFamily="34" charset="0"/>
              <a:buChar char="•"/>
              <a:defRPr sz="1700">
                <a:solidFill>
                  <a:srgbClr val="1C2833"/>
                </a:solidFill>
                <a:latin typeface="Microsoft JhengHei"/>
              </a:defRPr>
            </a:pPr>
            <a:r>
              <a:rPr dirty="0"/>
              <a:t>5-fold cross-validation — without session-level grouping</a:t>
            </a:r>
          </a:p>
          <a:p>
            <a:pPr marL="285750" indent="-285750">
              <a:spcAft>
                <a:spcPts val="800"/>
              </a:spcAft>
              <a:buFont typeface="Arial" panose="020B0604020202020204" pitchFamily="34" charset="0"/>
              <a:buChar char="•"/>
              <a:defRPr sz="1700">
                <a:solidFill>
                  <a:srgbClr val="1C2833"/>
                </a:solidFill>
                <a:latin typeface="Microsoft JhengHei"/>
              </a:defRPr>
            </a:pPr>
            <a:r>
              <a:rPr dirty="0"/>
              <a:t>2-stage pipeline: SVR on dialysate → linear conversion to blood concentration</a:t>
            </a:r>
          </a:p>
          <a:p>
            <a:pPr marL="285750" indent="-285750">
              <a:spcAft>
                <a:spcPts val="800"/>
              </a:spcAft>
              <a:buFont typeface="Arial" panose="020B0604020202020204" pitchFamily="34" charset="0"/>
              <a:buChar char="•"/>
              <a:defRPr sz="1700">
                <a:solidFill>
                  <a:srgbClr val="1C2833"/>
                </a:solidFill>
                <a:latin typeface="Microsoft JhengHei"/>
              </a:defRPr>
            </a:pPr>
            <a:r>
              <a:rPr dirty="0"/>
              <a:t>Feature selection: ANOVA F-test + wrapper method</a:t>
            </a:r>
          </a:p>
          <a:p>
            <a:pPr marL="285750" indent="-285750">
              <a:spcAft>
                <a:spcPts val="800"/>
              </a:spcAft>
              <a:buFont typeface="Arial" panose="020B0604020202020204" pitchFamily="34" charset="0"/>
              <a:buChar char="•"/>
              <a:defRPr sz="1700">
                <a:solidFill>
                  <a:srgbClr val="1C2833"/>
                </a:solidFill>
                <a:latin typeface="Microsoft JhengHei"/>
              </a:defRPr>
            </a:pPr>
            <a:r>
              <a:rPr dirty="0"/>
              <a:t>Dataset: 9 ESRD patients, 30 sessions (Nov 2022 – Feb 2023)</a:t>
            </a:r>
          </a:p>
        </p:txBody>
      </p:sp>
      <p:sp>
        <p:nvSpPr>
          <p:cNvPr id="7" name="TextBox 6"/>
          <p:cNvSpPr txBox="1"/>
          <p:nvPr/>
        </p:nvSpPr>
        <p:spPr>
          <a:xfrm>
            <a:off x="6583680" y="1280160"/>
            <a:ext cx="5029200" cy="411480"/>
          </a:xfrm>
          <a:prstGeom prst="rect">
            <a:avLst/>
          </a:prstGeom>
          <a:noFill/>
        </p:spPr>
        <p:txBody>
          <a:bodyPr wrap="square" anchor="t">
            <a:spAutoFit/>
          </a:bodyPr>
          <a:lstStyle/>
          <a:p>
            <a:pPr algn="l">
              <a:defRPr sz="1800" b="1">
                <a:solidFill>
                  <a:srgbClr val="0A2342"/>
                </a:solidFill>
                <a:latin typeface="Microsoft JhengHei"/>
              </a:defRPr>
            </a:pPr>
            <a:r>
              <a:t>Reported R² (Blood Concentration)</a:t>
            </a:r>
          </a:p>
        </p:txBody>
      </p:sp>
      <p:graphicFrame>
        <p:nvGraphicFramePr>
          <p:cNvPr id="8" name="Table 7"/>
          <p:cNvGraphicFramePr>
            <a:graphicFrameLocks noGrp="1"/>
          </p:cNvGraphicFramePr>
          <p:nvPr/>
        </p:nvGraphicFramePr>
        <p:xfrm>
          <a:off x="6583680" y="1783080"/>
          <a:ext cx="4389120" cy="310896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tblGrid>
              <a:tr h="444137">
                <a:tc>
                  <a:txBody>
                    <a:bodyPr/>
                    <a:lstStyle/>
                    <a:p>
                      <a:pPr>
                        <a:defRPr sz="1500" b="1">
                          <a:solidFill>
                            <a:srgbClr val="FFFFFF"/>
                          </a:solidFill>
                          <a:latin typeface="Microsoft JhengHei"/>
                        </a:defRPr>
                      </a:pPr>
                      <a:r>
                        <a:t>Toxin</a:t>
                      </a:r>
                    </a:p>
                  </a:txBody>
                  <a:tcPr>
                    <a:solidFill>
                      <a:srgbClr val="0A2342"/>
                    </a:solidFill>
                  </a:tcPr>
                </a:tc>
                <a:tc>
                  <a:txBody>
                    <a:bodyPr/>
                    <a:lstStyle/>
                    <a:p>
                      <a:pPr>
                        <a:defRPr sz="1500" b="1">
                          <a:solidFill>
                            <a:srgbClr val="FFFFFF"/>
                          </a:solidFill>
                          <a:latin typeface="Microsoft JhengHei"/>
                        </a:defRPr>
                      </a:pPr>
                      <a:r>
                        <a:t>Senior R²</a:t>
                      </a:r>
                    </a:p>
                  </a:txBody>
                  <a:tcPr>
                    <a:solidFill>
                      <a:srgbClr val="0A2342"/>
                    </a:solidFill>
                  </a:tcPr>
                </a:tc>
                <a:extLst>
                  <a:ext uri="{0D108BD9-81ED-4DB2-BD59-A6C34878D82A}">
                    <a16:rowId xmlns:a16="http://schemas.microsoft.com/office/drawing/2014/main" val="10000"/>
                  </a:ext>
                </a:extLst>
              </a:tr>
              <a:tr h="444137">
                <a:tc>
                  <a:txBody>
                    <a:bodyPr/>
                    <a:lstStyle/>
                    <a:p>
                      <a:pPr>
                        <a:defRPr sz="1500">
                          <a:solidFill>
                            <a:srgbClr val="1C2833"/>
                          </a:solidFill>
                          <a:latin typeface="Microsoft JhengHei"/>
                        </a:defRPr>
                      </a:pPr>
                      <a:r>
                        <a:t>Urea Nitrogen</a:t>
                      </a:r>
                    </a:p>
                  </a:txBody>
                  <a:tcPr>
                    <a:solidFill>
                      <a:srgbClr val="FFFFFF"/>
                    </a:solidFill>
                  </a:tcPr>
                </a:tc>
                <a:tc>
                  <a:txBody>
                    <a:bodyPr/>
                    <a:lstStyle/>
                    <a:p>
                      <a:pPr algn="ctr">
                        <a:defRPr sz="1500" b="1">
                          <a:solidFill>
                            <a:srgbClr val="1C2833"/>
                          </a:solidFill>
                          <a:latin typeface="Microsoft JhengHei"/>
                        </a:defRPr>
                      </a:pPr>
                      <a:r>
                        <a:t>0.953</a:t>
                      </a:r>
                    </a:p>
                  </a:txBody>
                  <a:tcPr>
                    <a:solidFill>
                      <a:srgbClr val="FFFFFF"/>
                    </a:solidFill>
                  </a:tcPr>
                </a:tc>
                <a:extLst>
                  <a:ext uri="{0D108BD9-81ED-4DB2-BD59-A6C34878D82A}">
                    <a16:rowId xmlns:a16="http://schemas.microsoft.com/office/drawing/2014/main" val="10001"/>
                  </a:ext>
                </a:extLst>
              </a:tr>
              <a:tr h="444137">
                <a:tc>
                  <a:txBody>
                    <a:bodyPr/>
                    <a:lstStyle/>
                    <a:p>
                      <a:pPr>
                        <a:defRPr sz="1500">
                          <a:solidFill>
                            <a:srgbClr val="1C2833"/>
                          </a:solidFill>
                          <a:latin typeface="Microsoft JhengHei"/>
                        </a:defRPr>
                      </a:pPr>
                      <a:r>
                        <a:t>Creatinine</a:t>
                      </a:r>
                    </a:p>
                  </a:txBody>
                  <a:tcPr>
                    <a:solidFill>
                      <a:srgbClr val="EBF5FB"/>
                    </a:solidFill>
                  </a:tcPr>
                </a:tc>
                <a:tc>
                  <a:txBody>
                    <a:bodyPr/>
                    <a:lstStyle/>
                    <a:p>
                      <a:pPr algn="ctr">
                        <a:defRPr sz="1500" b="1">
                          <a:solidFill>
                            <a:srgbClr val="1C2833"/>
                          </a:solidFill>
                          <a:latin typeface="Microsoft JhengHei"/>
                        </a:defRPr>
                      </a:pPr>
                      <a:r>
                        <a:t>0.952</a:t>
                      </a:r>
                    </a:p>
                  </a:txBody>
                  <a:tcPr>
                    <a:solidFill>
                      <a:srgbClr val="EBF5FB"/>
                    </a:solidFill>
                  </a:tcPr>
                </a:tc>
                <a:extLst>
                  <a:ext uri="{0D108BD9-81ED-4DB2-BD59-A6C34878D82A}">
                    <a16:rowId xmlns:a16="http://schemas.microsoft.com/office/drawing/2014/main" val="10002"/>
                  </a:ext>
                </a:extLst>
              </a:tr>
              <a:tr h="444137">
                <a:tc>
                  <a:txBody>
                    <a:bodyPr/>
                    <a:lstStyle/>
                    <a:p>
                      <a:pPr>
                        <a:defRPr sz="1500">
                          <a:solidFill>
                            <a:srgbClr val="1C2833"/>
                          </a:solidFill>
                          <a:latin typeface="Microsoft JhengHei"/>
                        </a:defRPr>
                      </a:pPr>
                      <a:r>
                        <a:t>Uric Acid</a:t>
                      </a:r>
                    </a:p>
                  </a:txBody>
                  <a:tcPr>
                    <a:solidFill>
                      <a:srgbClr val="FFFFFF"/>
                    </a:solidFill>
                  </a:tcPr>
                </a:tc>
                <a:tc>
                  <a:txBody>
                    <a:bodyPr/>
                    <a:lstStyle/>
                    <a:p>
                      <a:pPr algn="ctr">
                        <a:defRPr sz="1500" b="1">
                          <a:solidFill>
                            <a:srgbClr val="1C2833"/>
                          </a:solidFill>
                          <a:latin typeface="Microsoft JhengHei"/>
                        </a:defRPr>
                      </a:pPr>
                      <a:r>
                        <a:t>0.959</a:t>
                      </a:r>
                    </a:p>
                  </a:txBody>
                  <a:tcPr>
                    <a:solidFill>
                      <a:srgbClr val="FFFFFF"/>
                    </a:solidFill>
                  </a:tcPr>
                </a:tc>
                <a:extLst>
                  <a:ext uri="{0D108BD9-81ED-4DB2-BD59-A6C34878D82A}">
                    <a16:rowId xmlns:a16="http://schemas.microsoft.com/office/drawing/2014/main" val="10003"/>
                  </a:ext>
                </a:extLst>
              </a:tr>
              <a:tr h="444137">
                <a:tc>
                  <a:txBody>
                    <a:bodyPr/>
                    <a:lstStyle/>
                    <a:p>
                      <a:pPr>
                        <a:defRPr sz="1500">
                          <a:solidFill>
                            <a:srgbClr val="1C2833"/>
                          </a:solidFill>
                          <a:latin typeface="Microsoft JhengHei"/>
                        </a:defRPr>
                      </a:pPr>
                      <a:r>
                        <a:t>β2-Microglobulin</a:t>
                      </a:r>
                    </a:p>
                  </a:txBody>
                  <a:tcPr>
                    <a:solidFill>
                      <a:srgbClr val="EBF5FB"/>
                    </a:solidFill>
                  </a:tcPr>
                </a:tc>
                <a:tc>
                  <a:txBody>
                    <a:bodyPr/>
                    <a:lstStyle/>
                    <a:p>
                      <a:pPr algn="ctr">
                        <a:defRPr sz="1500" b="1">
                          <a:solidFill>
                            <a:srgbClr val="1C2833"/>
                          </a:solidFill>
                          <a:latin typeface="Microsoft JhengHei"/>
                        </a:defRPr>
                      </a:pPr>
                      <a:r>
                        <a:t>0.822</a:t>
                      </a:r>
                    </a:p>
                  </a:txBody>
                  <a:tcPr>
                    <a:solidFill>
                      <a:srgbClr val="EBF5FB"/>
                    </a:solidFill>
                  </a:tcPr>
                </a:tc>
                <a:extLst>
                  <a:ext uri="{0D108BD9-81ED-4DB2-BD59-A6C34878D82A}">
                    <a16:rowId xmlns:a16="http://schemas.microsoft.com/office/drawing/2014/main" val="10004"/>
                  </a:ext>
                </a:extLst>
              </a:tr>
              <a:tr h="444137">
                <a:tc>
                  <a:txBody>
                    <a:bodyPr/>
                    <a:lstStyle/>
                    <a:p>
                      <a:pPr>
                        <a:defRPr sz="1500">
                          <a:solidFill>
                            <a:srgbClr val="1C2833"/>
                          </a:solidFill>
                          <a:latin typeface="Microsoft JhengHei"/>
                        </a:defRPr>
                      </a:pPr>
                      <a:r>
                        <a:t>Phosphorus</a:t>
                      </a:r>
                    </a:p>
                  </a:txBody>
                  <a:tcPr>
                    <a:solidFill>
                      <a:srgbClr val="FFFFFF"/>
                    </a:solidFill>
                  </a:tcPr>
                </a:tc>
                <a:tc>
                  <a:txBody>
                    <a:bodyPr/>
                    <a:lstStyle/>
                    <a:p>
                      <a:pPr algn="ctr">
                        <a:defRPr sz="1500" b="1">
                          <a:solidFill>
                            <a:srgbClr val="1C2833"/>
                          </a:solidFill>
                          <a:latin typeface="Microsoft JhengHei"/>
                        </a:defRPr>
                      </a:pPr>
                      <a:r>
                        <a:t>0.853</a:t>
                      </a:r>
                    </a:p>
                  </a:txBody>
                  <a:tcPr>
                    <a:solidFill>
                      <a:srgbClr val="FFFFFF"/>
                    </a:solidFill>
                  </a:tcPr>
                </a:tc>
                <a:extLst>
                  <a:ext uri="{0D108BD9-81ED-4DB2-BD59-A6C34878D82A}">
                    <a16:rowId xmlns:a16="http://schemas.microsoft.com/office/drawing/2014/main" val="10005"/>
                  </a:ext>
                </a:extLst>
              </a:tr>
              <a:tr h="444138">
                <a:tc>
                  <a:txBody>
                    <a:bodyPr/>
                    <a:lstStyle/>
                    <a:p>
                      <a:pPr>
                        <a:defRPr sz="1500">
                          <a:solidFill>
                            <a:srgbClr val="1C2833"/>
                          </a:solidFill>
                          <a:latin typeface="Microsoft JhengHei"/>
                        </a:defRPr>
                      </a:pPr>
                      <a:r>
                        <a:t>Potassium</a:t>
                      </a:r>
                    </a:p>
                  </a:txBody>
                  <a:tcPr>
                    <a:solidFill>
                      <a:srgbClr val="EBF5FB"/>
                    </a:solidFill>
                  </a:tcPr>
                </a:tc>
                <a:tc>
                  <a:txBody>
                    <a:bodyPr/>
                    <a:lstStyle/>
                    <a:p>
                      <a:pPr algn="ctr">
                        <a:defRPr sz="1500" b="1">
                          <a:solidFill>
                            <a:srgbClr val="1C2833"/>
                          </a:solidFill>
                          <a:latin typeface="Microsoft JhengHei"/>
                        </a:defRPr>
                      </a:pPr>
                      <a:r>
                        <a:t>0.621</a:t>
                      </a:r>
                    </a:p>
                  </a:txBody>
                  <a:tcPr>
                    <a:solidFill>
                      <a:srgbClr val="EBF5FB"/>
                    </a:solidFill>
                  </a:tcPr>
                </a:tc>
                <a:extLst>
                  <a:ext uri="{0D108BD9-81ED-4DB2-BD59-A6C34878D82A}">
                    <a16:rowId xmlns:a16="http://schemas.microsoft.com/office/drawing/2014/main" val="10006"/>
                  </a:ext>
                </a:extLst>
              </a:tr>
            </a:tbl>
          </a:graphicData>
        </a:graphic>
      </p:graphicFrame>
      <p:sp>
        <p:nvSpPr>
          <p:cNvPr id="9" name="TextBox 8"/>
          <p:cNvSpPr txBox="1"/>
          <p:nvPr/>
        </p:nvSpPr>
        <p:spPr>
          <a:xfrm>
            <a:off x="6583680" y="4892040"/>
            <a:ext cx="5029200" cy="548640"/>
          </a:xfrm>
          <a:prstGeom prst="rect">
            <a:avLst/>
          </a:prstGeom>
          <a:noFill/>
        </p:spPr>
        <p:txBody>
          <a:bodyPr wrap="square" anchor="t">
            <a:spAutoFit/>
          </a:bodyPr>
          <a:lstStyle/>
          <a:p>
            <a:pPr algn="l">
              <a:defRPr sz="1300" b="0">
                <a:solidFill>
                  <a:srgbClr val="566573"/>
                </a:solidFill>
                <a:latin typeface="Microsoft JhengHei"/>
              </a:defRPr>
            </a:pPr>
            <a:r>
              <a:t>Note: R² includes a 2nd-stage linear regression step — may amplify apparent accuracy.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1064240" cy="621792"/>
          </a:xfrm>
          <a:prstGeom prst="rect">
            <a:avLst/>
          </a:prstGeom>
          <a:noFill/>
        </p:spPr>
        <p:txBody>
          <a:bodyPr wrap="square" anchor="t">
            <a:spAutoFit/>
          </a:bodyPr>
          <a:lstStyle/>
          <a:p>
            <a:pPr algn="l">
              <a:defRPr sz="2800" b="1">
                <a:solidFill>
                  <a:srgbClr val="1C2833"/>
                </a:solidFill>
                <a:latin typeface="Microsoft JhengHei"/>
              </a:defRPr>
            </a:pPr>
            <a:r>
              <a:t>Limitations in the Senior's Methodology</a:t>
            </a:r>
          </a:p>
        </p:txBody>
      </p:sp>
      <p:sp>
        <p:nvSpPr>
          <p:cNvPr id="4" name="TextBox 3"/>
          <p:cNvSpPr txBox="1"/>
          <p:nvPr/>
        </p:nvSpPr>
        <p:spPr>
          <a:xfrm>
            <a:off x="548640" y="795528"/>
            <a:ext cx="11064240" cy="329184"/>
          </a:xfrm>
          <a:prstGeom prst="rect">
            <a:avLst/>
          </a:prstGeom>
          <a:noFill/>
        </p:spPr>
        <p:txBody>
          <a:bodyPr wrap="square" anchor="t">
            <a:spAutoFit/>
          </a:bodyPr>
          <a:lstStyle/>
          <a:p>
            <a:pPr algn="l">
              <a:defRPr sz="1300" b="0">
                <a:solidFill>
                  <a:srgbClr val="566573"/>
                </a:solidFill>
                <a:latin typeface="Microsoft JhengHei"/>
              </a:defRPr>
            </a:pPr>
            <a:r>
              <a:t>Critical evaluation of experimental design and evaluation rigor</a:t>
            </a:r>
          </a:p>
        </p:txBody>
      </p:sp>
      <p:sp>
        <p:nvSpPr>
          <p:cNvPr id="5" name="Rectangle 4"/>
          <p:cNvSpPr/>
          <p:nvPr/>
        </p:nvSpPr>
        <p:spPr>
          <a:xfrm>
            <a:off x="548640" y="1143000"/>
            <a:ext cx="11064240" cy="1371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47472" y="1280160"/>
            <a:ext cx="365760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47472" y="1280160"/>
            <a:ext cx="64008" cy="237744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47472" y="1280160"/>
            <a:ext cx="3657600" cy="2377440"/>
          </a:xfrm>
          <a:prstGeom prst="rect">
            <a:avLst/>
          </a:prstGeom>
          <a:no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408176"/>
            <a:ext cx="3291840" cy="512064"/>
          </a:xfrm>
          <a:prstGeom prst="rect">
            <a:avLst/>
          </a:prstGeom>
          <a:noFill/>
        </p:spPr>
        <p:txBody>
          <a:bodyPr wrap="square" anchor="t">
            <a:spAutoFit/>
          </a:bodyPr>
          <a:lstStyle/>
          <a:p>
            <a:pPr algn="l">
              <a:defRPr sz="1400" b="1">
                <a:solidFill>
                  <a:srgbClr val="0A2342"/>
                </a:solidFill>
                <a:latin typeface="Microsoft JhengHei"/>
              </a:defRPr>
            </a:pPr>
            <a:r>
              <a:t>Row-Level CV on Session Data</a:t>
            </a:r>
          </a:p>
        </p:txBody>
      </p:sp>
      <p:sp>
        <p:nvSpPr>
          <p:cNvPr id="10" name="TextBox 9"/>
          <p:cNvSpPr txBox="1"/>
          <p:nvPr/>
        </p:nvSpPr>
        <p:spPr>
          <a:xfrm>
            <a:off x="548640" y="1938528"/>
            <a:ext cx="3291840" cy="1572768"/>
          </a:xfrm>
          <a:prstGeom prst="rect">
            <a:avLst/>
          </a:prstGeom>
          <a:noFill/>
        </p:spPr>
        <p:txBody>
          <a:bodyPr wrap="square" anchor="t">
            <a:spAutoFit/>
          </a:bodyPr>
          <a:lstStyle/>
          <a:p>
            <a:pPr algn="l">
              <a:defRPr sz="1300" b="0">
                <a:solidFill>
                  <a:srgbClr val="1C2833"/>
                </a:solidFill>
                <a:latin typeface="Microsoft JhengHei"/>
              </a:defRPr>
            </a:pPr>
            <a:r>
              <a:t>Row-level 5-fold CV splits correlated intra-session measurements across folds — inflating performance.</a:t>
            </a:r>
          </a:p>
        </p:txBody>
      </p:sp>
      <p:sp>
        <p:nvSpPr>
          <p:cNvPr id="11" name="Rectangle 10"/>
          <p:cNvSpPr/>
          <p:nvPr/>
        </p:nvSpPr>
        <p:spPr>
          <a:xfrm>
            <a:off x="4279392" y="1280160"/>
            <a:ext cx="365760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79392" y="1280160"/>
            <a:ext cx="64008" cy="237744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79392" y="1280160"/>
            <a:ext cx="3657600" cy="2377440"/>
          </a:xfrm>
          <a:prstGeom prst="rect">
            <a:avLst/>
          </a:prstGeom>
          <a:no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80559" y="1408176"/>
            <a:ext cx="3291840" cy="512064"/>
          </a:xfrm>
          <a:prstGeom prst="rect">
            <a:avLst/>
          </a:prstGeom>
          <a:noFill/>
        </p:spPr>
        <p:txBody>
          <a:bodyPr wrap="square" anchor="t">
            <a:spAutoFit/>
          </a:bodyPr>
          <a:lstStyle/>
          <a:p>
            <a:pPr algn="l">
              <a:defRPr sz="1400" b="1">
                <a:solidFill>
                  <a:srgbClr val="0A2342"/>
                </a:solidFill>
                <a:latin typeface="Microsoft JhengHei"/>
              </a:defRPr>
            </a:pPr>
            <a:r>
              <a:t>No Train / Validation / Test Split</a:t>
            </a:r>
          </a:p>
        </p:txBody>
      </p:sp>
      <p:sp>
        <p:nvSpPr>
          <p:cNvPr id="15" name="TextBox 14"/>
          <p:cNvSpPr txBox="1"/>
          <p:nvPr/>
        </p:nvSpPr>
        <p:spPr>
          <a:xfrm>
            <a:off x="4480559" y="1938528"/>
            <a:ext cx="3291840" cy="1572768"/>
          </a:xfrm>
          <a:prstGeom prst="rect">
            <a:avLst/>
          </a:prstGeom>
          <a:noFill/>
        </p:spPr>
        <p:txBody>
          <a:bodyPr wrap="square" anchor="t">
            <a:spAutoFit/>
          </a:bodyPr>
          <a:lstStyle/>
          <a:p>
            <a:pPr algn="l">
              <a:defRPr sz="1300" b="0">
                <a:solidFill>
                  <a:srgbClr val="1C2833"/>
                </a:solidFill>
                <a:latin typeface="Microsoft JhengHei"/>
              </a:defRPr>
            </a:pPr>
            <a:r>
              <a:t>Model selection uses the same CV results as final reporting — selection bias in the reported R².</a:t>
            </a:r>
          </a:p>
        </p:txBody>
      </p:sp>
      <p:sp>
        <p:nvSpPr>
          <p:cNvPr id="16" name="Rectangle 15"/>
          <p:cNvSpPr/>
          <p:nvPr/>
        </p:nvSpPr>
        <p:spPr>
          <a:xfrm>
            <a:off x="8211312" y="1280160"/>
            <a:ext cx="365760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211312" y="1280160"/>
            <a:ext cx="64008" cy="237744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11312" y="1280160"/>
            <a:ext cx="3657600" cy="2377440"/>
          </a:xfrm>
          <a:prstGeom prst="rect">
            <a:avLst/>
          </a:prstGeom>
          <a:no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80" y="1408176"/>
            <a:ext cx="3291840" cy="512064"/>
          </a:xfrm>
          <a:prstGeom prst="rect">
            <a:avLst/>
          </a:prstGeom>
          <a:noFill/>
        </p:spPr>
        <p:txBody>
          <a:bodyPr wrap="square" anchor="t">
            <a:spAutoFit/>
          </a:bodyPr>
          <a:lstStyle/>
          <a:p>
            <a:pPr algn="l">
              <a:defRPr sz="1400" b="1">
                <a:solidFill>
                  <a:srgbClr val="0A2342"/>
                </a:solidFill>
                <a:latin typeface="Microsoft JhengHei"/>
              </a:defRPr>
            </a:pPr>
            <a:r>
              <a:t>Plot R² ≠ CV R²</a:t>
            </a:r>
          </a:p>
        </p:txBody>
      </p:sp>
      <p:sp>
        <p:nvSpPr>
          <p:cNvPr id="20" name="TextBox 19"/>
          <p:cNvSpPr txBox="1"/>
          <p:nvPr/>
        </p:nvSpPr>
        <p:spPr>
          <a:xfrm>
            <a:off x="8412480" y="1938528"/>
            <a:ext cx="3291840" cy="1572768"/>
          </a:xfrm>
          <a:prstGeom prst="rect">
            <a:avLst/>
          </a:prstGeom>
          <a:noFill/>
        </p:spPr>
        <p:txBody>
          <a:bodyPr wrap="square" anchor="t">
            <a:spAutoFit/>
          </a:bodyPr>
          <a:lstStyle/>
          <a:p>
            <a:pPr algn="l">
              <a:defRPr sz="1300" b="0">
                <a:solidFill>
                  <a:srgbClr val="1C2833"/>
                </a:solidFill>
                <a:latin typeface="Microsoft JhengHei"/>
              </a:defRPr>
            </a:pPr>
            <a:r>
              <a:t>Scatter-plot R² (from a fit line) differs from formal CV R² — easy to conflate in figures.</a:t>
            </a:r>
          </a:p>
        </p:txBody>
      </p:sp>
      <p:sp>
        <p:nvSpPr>
          <p:cNvPr id="21" name="Rectangle 20"/>
          <p:cNvSpPr/>
          <p:nvPr/>
        </p:nvSpPr>
        <p:spPr>
          <a:xfrm>
            <a:off x="347472" y="3950208"/>
            <a:ext cx="365760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47472" y="3950208"/>
            <a:ext cx="64008" cy="237744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47472" y="3950208"/>
            <a:ext cx="3657600" cy="2377440"/>
          </a:xfrm>
          <a:prstGeom prst="rect">
            <a:avLst/>
          </a:prstGeom>
          <a:no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4078224"/>
            <a:ext cx="3291840" cy="512064"/>
          </a:xfrm>
          <a:prstGeom prst="rect">
            <a:avLst/>
          </a:prstGeom>
          <a:noFill/>
        </p:spPr>
        <p:txBody>
          <a:bodyPr wrap="square" anchor="t">
            <a:spAutoFit/>
          </a:bodyPr>
          <a:lstStyle/>
          <a:p>
            <a:pPr algn="l">
              <a:defRPr sz="1400" b="1">
                <a:solidFill>
                  <a:srgbClr val="0A2342"/>
                </a:solidFill>
                <a:latin typeface="Microsoft JhengHei"/>
              </a:defRPr>
            </a:pPr>
            <a:r>
              <a:t>Two-Stage Error Propagation</a:t>
            </a:r>
          </a:p>
        </p:txBody>
      </p:sp>
      <p:sp>
        <p:nvSpPr>
          <p:cNvPr id="25" name="TextBox 24"/>
          <p:cNvSpPr txBox="1"/>
          <p:nvPr/>
        </p:nvSpPr>
        <p:spPr>
          <a:xfrm>
            <a:off x="548640" y="4608576"/>
            <a:ext cx="3291840" cy="1572768"/>
          </a:xfrm>
          <a:prstGeom prst="rect">
            <a:avLst/>
          </a:prstGeom>
          <a:noFill/>
        </p:spPr>
        <p:txBody>
          <a:bodyPr wrap="square" anchor="t">
            <a:spAutoFit/>
          </a:bodyPr>
          <a:lstStyle/>
          <a:p>
            <a:pPr algn="l">
              <a:defRPr sz="1300" b="0">
                <a:solidFill>
                  <a:srgbClr val="1C2833"/>
                </a:solidFill>
                <a:latin typeface="Microsoft JhengHei"/>
              </a:defRPr>
            </a:pPr>
            <a:r>
              <a:t>Error from two regressions compounds, but the final R² does not distinguish the two stages.</a:t>
            </a:r>
          </a:p>
        </p:txBody>
      </p:sp>
      <p:sp>
        <p:nvSpPr>
          <p:cNvPr id="26" name="Rectangle 25"/>
          <p:cNvSpPr/>
          <p:nvPr/>
        </p:nvSpPr>
        <p:spPr>
          <a:xfrm>
            <a:off x="4279392" y="3950208"/>
            <a:ext cx="365760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279392" y="3950208"/>
            <a:ext cx="64008" cy="237744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279392" y="3950208"/>
            <a:ext cx="3657600" cy="2377440"/>
          </a:xfrm>
          <a:prstGeom prst="rect">
            <a:avLst/>
          </a:prstGeom>
          <a:no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480559" y="4078224"/>
            <a:ext cx="3291840" cy="512064"/>
          </a:xfrm>
          <a:prstGeom prst="rect">
            <a:avLst/>
          </a:prstGeom>
          <a:noFill/>
        </p:spPr>
        <p:txBody>
          <a:bodyPr wrap="square" anchor="t">
            <a:spAutoFit/>
          </a:bodyPr>
          <a:lstStyle/>
          <a:p>
            <a:pPr algn="l">
              <a:defRPr sz="1400" b="1">
                <a:solidFill>
                  <a:srgbClr val="0A2342"/>
                </a:solidFill>
                <a:latin typeface="Microsoft JhengHei"/>
              </a:defRPr>
            </a:pPr>
            <a:r>
              <a:t>Manual Data Exclusion</a:t>
            </a:r>
          </a:p>
        </p:txBody>
      </p:sp>
      <p:sp>
        <p:nvSpPr>
          <p:cNvPr id="30" name="TextBox 29"/>
          <p:cNvSpPr txBox="1"/>
          <p:nvPr/>
        </p:nvSpPr>
        <p:spPr>
          <a:xfrm>
            <a:off x="4480559" y="4608576"/>
            <a:ext cx="3291840" cy="1572768"/>
          </a:xfrm>
          <a:prstGeom prst="rect">
            <a:avLst/>
          </a:prstGeom>
          <a:noFill/>
        </p:spPr>
        <p:txBody>
          <a:bodyPr wrap="square" anchor="t">
            <a:spAutoFit/>
          </a:bodyPr>
          <a:lstStyle/>
          <a:p>
            <a:pPr algn="l">
              <a:defRPr sz="1300" b="0">
                <a:solidFill>
                  <a:srgbClr val="1C2833"/>
                </a:solidFill>
                <a:latin typeface="Microsoft JhengHei"/>
              </a:defRPr>
            </a:pPr>
            <a:r>
              <a:t>No formalized exclusion criteria — manual removal introduces hidden selection bias.</a:t>
            </a:r>
          </a:p>
        </p:txBody>
      </p:sp>
      <p:sp>
        <p:nvSpPr>
          <p:cNvPr id="31" name="Rectangle 30"/>
          <p:cNvSpPr/>
          <p:nvPr/>
        </p:nvSpPr>
        <p:spPr>
          <a:xfrm>
            <a:off x="8211312" y="3950208"/>
            <a:ext cx="365760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211312" y="3950208"/>
            <a:ext cx="64008" cy="237744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8211312" y="3950208"/>
            <a:ext cx="3657600" cy="2377440"/>
          </a:xfrm>
          <a:prstGeom prst="rect">
            <a:avLst/>
          </a:prstGeom>
          <a:no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412480" y="4078224"/>
            <a:ext cx="3291840" cy="512064"/>
          </a:xfrm>
          <a:prstGeom prst="rect">
            <a:avLst/>
          </a:prstGeom>
          <a:noFill/>
        </p:spPr>
        <p:txBody>
          <a:bodyPr wrap="square" anchor="t">
            <a:spAutoFit/>
          </a:bodyPr>
          <a:lstStyle/>
          <a:p>
            <a:pPr algn="l">
              <a:defRPr sz="1400" b="1">
                <a:solidFill>
                  <a:srgbClr val="0A2342"/>
                </a:solidFill>
                <a:latin typeface="Microsoft JhengHei"/>
              </a:defRPr>
            </a:pPr>
            <a:r>
              <a:t>Limited Wavelengths (3 of 5)</a:t>
            </a:r>
          </a:p>
        </p:txBody>
      </p:sp>
      <p:sp>
        <p:nvSpPr>
          <p:cNvPr id="35" name="TextBox 34"/>
          <p:cNvSpPr txBox="1"/>
          <p:nvPr/>
        </p:nvSpPr>
        <p:spPr>
          <a:xfrm>
            <a:off x="8412480" y="4608576"/>
            <a:ext cx="3291840" cy="1572768"/>
          </a:xfrm>
          <a:prstGeom prst="rect">
            <a:avLst/>
          </a:prstGeom>
          <a:noFill/>
        </p:spPr>
        <p:txBody>
          <a:bodyPr wrap="square" anchor="t">
            <a:spAutoFit/>
          </a:bodyPr>
          <a:lstStyle/>
          <a:p>
            <a:pPr algn="l">
              <a:defRPr sz="1300" b="0">
                <a:solidFill>
                  <a:srgbClr val="1C2833"/>
                </a:solidFill>
                <a:latin typeface="Microsoft JhengHei"/>
              </a:defRPr>
            </a:pPr>
            <a:r>
              <a:t>285 nm and 295 nm ignored — 285 nm later proved the most predictive wavelength.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1064240" cy="621792"/>
          </a:xfrm>
          <a:prstGeom prst="rect">
            <a:avLst/>
          </a:prstGeom>
          <a:noFill/>
        </p:spPr>
        <p:txBody>
          <a:bodyPr wrap="square" anchor="t">
            <a:spAutoFit/>
          </a:bodyPr>
          <a:lstStyle/>
          <a:p>
            <a:pPr algn="l">
              <a:defRPr sz="2800" b="1">
                <a:solidFill>
                  <a:srgbClr val="1C2833"/>
                </a:solidFill>
                <a:latin typeface="Microsoft JhengHei"/>
              </a:defRPr>
            </a:pPr>
            <a:r>
              <a:t>My Methodology: Expanded Feature Design</a:t>
            </a:r>
          </a:p>
        </p:txBody>
      </p:sp>
      <p:sp>
        <p:nvSpPr>
          <p:cNvPr id="4" name="TextBox 3"/>
          <p:cNvSpPr txBox="1"/>
          <p:nvPr/>
        </p:nvSpPr>
        <p:spPr>
          <a:xfrm>
            <a:off x="548640" y="795528"/>
            <a:ext cx="11064240" cy="329184"/>
          </a:xfrm>
          <a:prstGeom prst="rect">
            <a:avLst/>
          </a:prstGeom>
          <a:noFill/>
        </p:spPr>
        <p:txBody>
          <a:bodyPr wrap="square" anchor="t">
            <a:spAutoFit/>
          </a:bodyPr>
          <a:lstStyle/>
          <a:p>
            <a:pPr algn="l">
              <a:defRPr sz="1300" b="0">
                <a:solidFill>
                  <a:srgbClr val="566573"/>
                </a:solidFill>
                <a:latin typeface="Microsoft JhengHei"/>
              </a:defRPr>
            </a:pPr>
            <a:r>
              <a:t>Going beyond the 3-wavelength story</a:t>
            </a:r>
          </a:p>
        </p:txBody>
      </p:sp>
      <p:sp>
        <p:nvSpPr>
          <p:cNvPr id="5" name="Rectangle 4"/>
          <p:cNvSpPr/>
          <p:nvPr/>
        </p:nvSpPr>
        <p:spPr>
          <a:xfrm>
            <a:off x="548640" y="1143000"/>
            <a:ext cx="11064240" cy="1371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280160"/>
            <a:ext cx="11064240" cy="411480"/>
          </a:xfrm>
          <a:prstGeom prst="rect">
            <a:avLst/>
          </a:prstGeom>
          <a:noFill/>
        </p:spPr>
        <p:txBody>
          <a:bodyPr wrap="square" anchor="t">
            <a:spAutoFit/>
          </a:bodyPr>
          <a:lstStyle/>
          <a:p>
            <a:pPr algn="l">
              <a:defRPr sz="2000" b="1">
                <a:solidFill>
                  <a:srgbClr val="0A2342"/>
                </a:solidFill>
                <a:latin typeface="Microsoft JhengHei"/>
              </a:defRPr>
            </a:pPr>
            <a:r>
              <a:t>Three Progressive Feature Sets</a:t>
            </a:r>
          </a:p>
        </p:txBody>
      </p:sp>
      <p:graphicFrame>
        <p:nvGraphicFramePr>
          <p:cNvPr id="7" name="Table 6"/>
          <p:cNvGraphicFramePr>
            <a:graphicFrameLocks noGrp="1"/>
          </p:cNvGraphicFramePr>
          <p:nvPr/>
        </p:nvGraphicFramePr>
        <p:xfrm>
          <a:off x="548640" y="1755648"/>
          <a:ext cx="11064240" cy="2423160"/>
        </p:xfrm>
        <a:graphic>
          <a:graphicData uri="http://schemas.openxmlformats.org/drawingml/2006/table">
            <a:tbl>
              <a:tblPr firstRow="1" bandRow="1">
                <a:tableStyleId>{5C22544A-7EE6-4342-B048-85BDC9FD1C3A}</a:tableStyleId>
              </a:tblPr>
              <a:tblGrid>
                <a:gridCol w="329184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605790">
                <a:tc>
                  <a:txBody>
                    <a:bodyPr/>
                    <a:lstStyle/>
                    <a:p>
                      <a:pPr>
                        <a:defRPr sz="1400" b="1">
                          <a:solidFill>
                            <a:srgbClr val="FFFFFF"/>
                          </a:solidFill>
                          <a:latin typeface="Microsoft JhengHei"/>
                        </a:defRPr>
                      </a:pPr>
                      <a:r>
                        <a:t>Feature Set</a:t>
                      </a:r>
                    </a:p>
                  </a:txBody>
                  <a:tcPr>
                    <a:solidFill>
                      <a:srgbClr val="0A2342"/>
                    </a:solidFill>
                  </a:tcPr>
                </a:tc>
                <a:tc>
                  <a:txBody>
                    <a:bodyPr/>
                    <a:lstStyle/>
                    <a:p>
                      <a:pPr>
                        <a:defRPr sz="1400" b="1">
                          <a:solidFill>
                            <a:srgbClr val="FFFFFF"/>
                          </a:solidFill>
                          <a:latin typeface="Microsoft JhengHei"/>
                        </a:defRPr>
                      </a:pPr>
                      <a:r>
                        <a:t>Components</a:t>
                      </a:r>
                    </a:p>
                  </a:txBody>
                  <a:tcPr>
                    <a:solidFill>
                      <a:srgbClr val="0A2342"/>
                    </a:solidFill>
                  </a:tcPr>
                </a:tc>
                <a:tc>
                  <a:txBody>
                    <a:bodyPr/>
                    <a:lstStyle/>
                    <a:p>
                      <a:pPr>
                        <a:defRPr sz="1400" b="1">
                          <a:solidFill>
                            <a:srgbClr val="FFFFFF"/>
                          </a:solidFill>
                          <a:latin typeface="Microsoft JhengHei"/>
                        </a:defRPr>
                      </a:pPr>
                      <a:r>
                        <a:t>Count</a:t>
                      </a:r>
                    </a:p>
                  </a:txBody>
                  <a:tcPr>
                    <a:solidFill>
                      <a:srgbClr val="0A2342"/>
                    </a:solidFill>
                  </a:tcPr>
                </a:tc>
                <a:extLst>
                  <a:ext uri="{0D108BD9-81ED-4DB2-BD59-A6C34878D82A}">
                    <a16:rowId xmlns:a16="http://schemas.microsoft.com/office/drawing/2014/main" val="10000"/>
                  </a:ext>
                </a:extLst>
              </a:tr>
              <a:tr h="605790">
                <a:tc>
                  <a:txBody>
                    <a:bodyPr/>
                    <a:lstStyle/>
                    <a:p>
                      <a:pPr>
                        <a:defRPr sz="1400">
                          <a:solidFill>
                            <a:srgbClr val="1C2833"/>
                          </a:solidFill>
                          <a:latin typeface="Microsoft JhengHei"/>
                        </a:defRPr>
                      </a:pPr>
                      <a:r>
                        <a:t>A: Absorbance Only</a:t>
                      </a:r>
                    </a:p>
                  </a:txBody>
                  <a:tcPr>
                    <a:solidFill>
                      <a:srgbClr val="FFFFFF"/>
                    </a:solidFill>
                  </a:tcPr>
                </a:tc>
                <a:tc>
                  <a:txBody>
                    <a:bodyPr/>
                    <a:lstStyle/>
                    <a:p>
                      <a:pPr>
                        <a:defRPr sz="1400">
                          <a:solidFill>
                            <a:srgbClr val="1C2833"/>
                          </a:solidFill>
                          <a:latin typeface="Microsoft JhengHei"/>
                        </a:defRPr>
                      </a:pPr>
                      <a:r>
                        <a:t>255, 275, 285, 295, 310 nm</a:t>
                      </a:r>
                    </a:p>
                  </a:txBody>
                  <a:tcPr>
                    <a:solidFill>
                      <a:srgbClr val="FFFFFF"/>
                    </a:solidFill>
                  </a:tcPr>
                </a:tc>
                <a:tc>
                  <a:txBody>
                    <a:bodyPr/>
                    <a:lstStyle/>
                    <a:p>
                      <a:pPr>
                        <a:defRPr sz="1400">
                          <a:solidFill>
                            <a:srgbClr val="1C2833"/>
                          </a:solidFill>
                          <a:latin typeface="Microsoft JhengHei"/>
                        </a:defRPr>
                      </a:pPr>
                      <a:r>
                        <a:t>5</a:t>
                      </a:r>
                    </a:p>
                  </a:txBody>
                  <a:tcPr>
                    <a:solidFill>
                      <a:srgbClr val="FFFFFF"/>
                    </a:solidFill>
                  </a:tcPr>
                </a:tc>
                <a:extLst>
                  <a:ext uri="{0D108BD9-81ED-4DB2-BD59-A6C34878D82A}">
                    <a16:rowId xmlns:a16="http://schemas.microsoft.com/office/drawing/2014/main" val="10001"/>
                  </a:ext>
                </a:extLst>
              </a:tr>
              <a:tr h="605790">
                <a:tc>
                  <a:txBody>
                    <a:bodyPr/>
                    <a:lstStyle/>
                    <a:p>
                      <a:pPr>
                        <a:defRPr sz="1400">
                          <a:solidFill>
                            <a:srgbClr val="1C2833"/>
                          </a:solidFill>
                          <a:latin typeface="Microsoft JhengHei"/>
                        </a:defRPr>
                      </a:pPr>
                      <a:r>
                        <a:t>B: Absorbance + Machine</a:t>
                      </a:r>
                    </a:p>
                  </a:txBody>
                  <a:tcPr>
                    <a:solidFill>
                      <a:srgbClr val="EBF5FB"/>
                    </a:solidFill>
                  </a:tcPr>
                </a:tc>
                <a:tc>
                  <a:txBody>
                    <a:bodyPr/>
                    <a:lstStyle/>
                    <a:p>
                      <a:pPr>
                        <a:defRPr sz="1400">
                          <a:solidFill>
                            <a:srgbClr val="1C2833"/>
                          </a:solidFill>
                          <a:latin typeface="Microsoft JhengHei"/>
                        </a:defRPr>
                      </a:pPr>
                      <a:r>
                        <a:t>Set A + venous pressure, TMP, arterial flow, UF, Na</a:t>
                      </a:r>
                    </a:p>
                  </a:txBody>
                  <a:tcPr>
                    <a:solidFill>
                      <a:srgbClr val="EBF5FB"/>
                    </a:solidFill>
                  </a:tcPr>
                </a:tc>
                <a:tc>
                  <a:txBody>
                    <a:bodyPr/>
                    <a:lstStyle/>
                    <a:p>
                      <a:pPr>
                        <a:defRPr sz="1400">
                          <a:solidFill>
                            <a:srgbClr val="1C2833"/>
                          </a:solidFill>
                          <a:latin typeface="Microsoft JhengHei"/>
                        </a:defRPr>
                      </a:pPr>
                      <a:r>
                        <a:t>13</a:t>
                      </a:r>
                    </a:p>
                  </a:txBody>
                  <a:tcPr>
                    <a:solidFill>
                      <a:srgbClr val="EBF5FB"/>
                    </a:solidFill>
                  </a:tcPr>
                </a:tc>
                <a:extLst>
                  <a:ext uri="{0D108BD9-81ED-4DB2-BD59-A6C34878D82A}">
                    <a16:rowId xmlns:a16="http://schemas.microsoft.com/office/drawing/2014/main" val="10002"/>
                  </a:ext>
                </a:extLst>
              </a:tr>
              <a:tr h="605790">
                <a:tc>
                  <a:txBody>
                    <a:bodyPr/>
                    <a:lstStyle/>
                    <a:p>
                      <a:pPr>
                        <a:defRPr sz="1400">
                          <a:solidFill>
                            <a:srgbClr val="1C2833"/>
                          </a:solidFill>
                          <a:latin typeface="Microsoft JhengHei"/>
                        </a:defRPr>
                      </a:pPr>
                      <a:r>
                        <a:t>C: Full (Abs + Machine + Personal)</a:t>
                      </a:r>
                    </a:p>
                  </a:txBody>
                  <a:tcPr>
                    <a:solidFill>
                      <a:srgbClr val="FFFFFF"/>
                    </a:solidFill>
                  </a:tcPr>
                </a:tc>
                <a:tc>
                  <a:txBody>
                    <a:bodyPr/>
                    <a:lstStyle/>
                    <a:p>
                      <a:pPr>
                        <a:defRPr sz="1400">
                          <a:solidFill>
                            <a:srgbClr val="1C2833"/>
                          </a:solidFill>
                          <a:latin typeface="Microsoft JhengHei"/>
                        </a:defRPr>
                      </a:pPr>
                      <a:r>
                        <a:t>Set B + dialysis vintage, dry weight, height, age</a:t>
                      </a:r>
                    </a:p>
                  </a:txBody>
                  <a:tcPr>
                    <a:solidFill>
                      <a:srgbClr val="FFFFFF"/>
                    </a:solidFill>
                  </a:tcPr>
                </a:tc>
                <a:tc>
                  <a:txBody>
                    <a:bodyPr/>
                    <a:lstStyle/>
                    <a:p>
                      <a:pPr>
                        <a:defRPr sz="1400">
                          <a:solidFill>
                            <a:srgbClr val="1C2833"/>
                          </a:solidFill>
                          <a:latin typeface="Microsoft JhengHei"/>
                        </a:defRPr>
                      </a:pPr>
                      <a:r>
                        <a:t>19</a:t>
                      </a:r>
                    </a:p>
                  </a:txBody>
                  <a:tcPr>
                    <a:solidFill>
                      <a:srgbClr val="FFFFFF"/>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548640" y="4160520"/>
            <a:ext cx="11064240" cy="411480"/>
          </a:xfrm>
          <a:prstGeom prst="rect">
            <a:avLst/>
          </a:prstGeom>
          <a:noFill/>
        </p:spPr>
        <p:txBody>
          <a:bodyPr wrap="square" anchor="t">
            <a:spAutoFit/>
          </a:bodyPr>
          <a:lstStyle/>
          <a:p>
            <a:pPr algn="l">
              <a:defRPr sz="2000" b="1">
                <a:solidFill>
                  <a:srgbClr val="0A2342"/>
                </a:solidFill>
                <a:latin typeface="Microsoft JhengHei"/>
              </a:defRPr>
            </a:pPr>
            <a:r>
              <a:t>Key Improvements Over Senior's Approach</a:t>
            </a:r>
          </a:p>
        </p:txBody>
      </p:sp>
      <p:sp>
        <p:nvSpPr>
          <p:cNvPr id="9" name="TextBox 8"/>
          <p:cNvSpPr txBox="1"/>
          <p:nvPr/>
        </p:nvSpPr>
        <p:spPr>
          <a:xfrm>
            <a:off x="548640" y="4626864"/>
            <a:ext cx="11064240" cy="1508105"/>
          </a:xfrm>
          <a:prstGeom prst="rect">
            <a:avLst/>
          </a:prstGeom>
          <a:noFill/>
        </p:spPr>
        <p:txBody>
          <a:bodyPr wrap="square">
            <a:spAutoFit/>
          </a:bodyPr>
          <a:lstStyle/>
          <a:p>
            <a:pPr marL="285750" indent="-285750">
              <a:spcAft>
                <a:spcPts val="800"/>
              </a:spcAft>
              <a:buFont typeface="Arial" panose="020B0604020202020204" pitchFamily="34" charset="0"/>
              <a:buChar char="•"/>
              <a:defRPr sz="1800">
                <a:solidFill>
                  <a:srgbClr val="1C2833"/>
                </a:solidFill>
                <a:latin typeface="Microsoft JhengHei"/>
              </a:defRPr>
            </a:pPr>
            <a:r>
              <a:rPr dirty="0"/>
              <a:t>5 wavelengths (added 285 nm + 295 nm) — 285 nm proved the most important predictor</a:t>
            </a:r>
          </a:p>
          <a:p>
            <a:pPr marL="285750" indent="-285750">
              <a:spcAft>
                <a:spcPts val="800"/>
              </a:spcAft>
              <a:buFont typeface="Arial" panose="020B0604020202020204" pitchFamily="34" charset="0"/>
              <a:buChar char="•"/>
              <a:defRPr sz="1800">
                <a:solidFill>
                  <a:srgbClr val="1C2833"/>
                </a:solidFill>
                <a:latin typeface="Microsoft JhengHei"/>
              </a:defRPr>
            </a:pPr>
            <a:r>
              <a:rPr dirty="0"/>
              <a:t>Multi-model comparison: SVR, RF, KNN, LR — best model selected per toxin by grouped CV</a:t>
            </a:r>
          </a:p>
          <a:p>
            <a:pPr marL="285750" indent="-285750">
              <a:spcAft>
                <a:spcPts val="800"/>
              </a:spcAft>
              <a:buFont typeface="Arial" panose="020B0604020202020204" pitchFamily="34" charset="0"/>
              <a:buChar char="•"/>
              <a:defRPr sz="1800">
                <a:solidFill>
                  <a:srgbClr val="1C2833"/>
                </a:solidFill>
                <a:latin typeface="Microsoft JhengHei"/>
              </a:defRPr>
            </a:pPr>
            <a:r>
              <a:rPr dirty="0"/>
              <a:t>Feature selection: mutual information + permutation importance, with before/after comparison</a:t>
            </a:r>
          </a:p>
          <a:p>
            <a:pPr marL="285750" indent="-285750">
              <a:spcAft>
                <a:spcPts val="800"/>
              </a:spcAft>
              <a:buFont typeface="Arial" panose="020B0604020202020204" pitchFamily="34" charset="0"/>
              <a:buChar char="•"/>
              <a:defRPr sz="1800">
                <a:solidFill>
                  <a:srgbClr val="1C2833"/>
                </a:solidFill>
                <a:latin typeface="Microsoft JhengHei"/>
              </a:defRPr>
            </a:pPr>
            <a:r>
              <a:rPr dirty="0"/>
              <a:t>Session-level splitting (</a:t>
            </a:r>
            <a:r>
              <a:rPr dirty="0" err="1"/>
              <a:t>GroupKFold</a:t>
            </a:r>
            <a:r>
              <a:rPr dirty="0"/>
              <a:t>) — no within-session data leakage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1064240" cy="621792"/>
          </a:xfrm>
          <a:prstGeom prst="rect">
            <a:avLst/>
          </a:prstGeom>
          <a:noFill/>
        </p:spPr>
        <p:txBody>
          <a:bodyPr wrap="square" anchor="t">
            <a:spAutoFit/>
          </a:bodyPr>
          <a:lstStyle/>
          <a:p>
            <a:pPr algn="l">
              <a:defRPr sz="2800" b="1">
                <a:solidFill>
                  <a:srgbClr val="1C2833"/>
                </a:solidFill>
                <a:latin typeface="Microsoft JhengHei"/>
              </a:defRPr>
            </a:pPr>
            <a:r>
              <a:t>AI Agent Workflow</a:t>
            </a:r>
          </a:p>
        </p:txBody>
      </p:sp>
      <p:sp>
        <p:nvSpPr>
          <p:cNvPr id="4" name="TextBox 3"/>
          <p:cNvSpPr txBox="1"/>
          <p:nvPr/>
        </p:nvSpPr>
        <p:spPr>
          <a:xfrm>
            <a:off x="548640" y="795528"/>
            <a:ext cx="11064240" cy="329184"/>
          </a:xfrm>
          <a:prstGeom prst="rect">
            <a:avLst/>
          </a:prstGeom>
          <a:noFill/>
        </p:spPr>
        <p:txBody>
          <a:bodyPr wrap="square" anchor="t">
            <a:spAutoFit/>
          </a:bodyPr>
          <a:lstStyle/>
          <a:p>
            <a:pPr algn="l">
              <a:defRPr sz="1300" b="0">
                <a:solidFill>
                  <a:srgbClr val="566573"/>
                </a:solidFill>
                <a:latin typeface="Microsoft JhengHei"/>
              </a:defRPr>
            </a:pPr>
            <a:r>
              <a:t>End-to-end collaboration across 9 stages</a:t>
            </a:r>
          </a:p>
        </p:txBody>
      </p:sp>
      <p:sp>
        <p:nvSpPr>
          <p:cNvPr id="5" name="Rectangle 4"/>
          <p:cNvSpPr/>
          <p:nvPr/>
        </p:nvSpPr>
        <p:spPr>
          <a:xfrm>
            <a:off x="548640" y="1143000"/>
            <a:ext cx="11064240" cy="1371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85800" y="1444752"/>
            <a:ext cx="548640" cy="548640"/>
          </a:xfrm>
          <a:prstGeom prst="ellipse">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FFFFFF"/>
                </a:solidFill>
              </a:defRPr>
            </a:pPr>
            <a:r>
              <a:t>1</a:t>
            </a:r>
          </a:p>
        </p:txBody>
      </p:sp>
      <p:sp>
        <p:nvSpPr>
          <p:cNvPr id="7" name="TextBox 6"/>
          <p:cNvSpPr txBox="1"/>
          <p:nvPr/>
        </p:nvSpPr>
        <p:spPr>
          <a:xfrm>
            <a:off x="320040" y="2103120"/>
            <a:ext cx="1280160" cy="658368"/>
          </a:xfrm>
          <a:prstGeom prst="rect">
            <a:avLst/>
          </a:prstGeom>
          <a:noFill/>
        </p:spPr>
        <p:txBody>
          <a:bodyPr wrap="square" anchor="t">
            <a:spAutoFit/>
          </a:bodyPr>
          <a:lstStyle/>
          <a:p>
            <a:pPr algn="ctr">
              <a:defRPr sz="1200" b="1">
                <a:solidFill>
                  <a:srgbClr val="0A2342"/>
                </a:solidFill>
                <a:latin typeface="Microsoft JhengHei"/>
              </a:defRPr>
            </a:pPr>
            <a:r>
              <a:t>Requirement</a:t>
            </a:r>
            <a:br/>
            <a:r>
              <a:t>Analysis</a:t>
            </a:r>
          </a:p>
        </p:txBody>
      </p:sp>
      <p:sp>
        <p:nvSpPr>
          <p:cNvPr id="8" name="TextBox 7"/>
          <p:cNvSpPr txBox="1"/>
          <p:nvPr/>
        </p:nvSpPr>
        <p:spPr>
          <a:xfrm>
            <a:off x="320040" y="2788920"/>
            <a:ext cx="1280160" cy="749808"/>
          </a:xfrm>
          <a:prstGeom prst="rect">
            <a:avLst/>
          </a:prstGeom>
          <a:noFill/>
        </p:spPr>
        <p:txBody>
          <a:bodyPr wrap="square" anchor="t">
            <a:spAutoFit/>
          </a:bodyPr>
          <a:lstStyle/>
          <a:p>
            <a:pPr algn="ctr">
              <a:defRPr sz="1000" b="0">
                <a:solidFill>
                  <a:srgbClr val="566573"/>
                </a:solidFill>
                <a:latin typeface="Microsoft JhengHei"/>
              </a:defRPr>
            </a:pPr>
            <a:r>
              <a:t>Parse homework,</a:t>
            </a:r>
            <a:br/>
            <a:r>
              <a:t>extract deliverables</a:t>
            </a:r>
          </a:p>
        </p:txBody>
      </p:sp>
      <p:sp>
        <p:nvSpPr>
          <p:cNvPr id="9" name="Rectangle 8"/>
          <p:cNvSpPr/>
          <p:nvPr/>
        </p:nvSpPr>
        <p:spPr>
          <a:xfrm>
            <a:off x="1490472" y="1609344"/>
            <a:ext cx="164592" cy="1828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984248" y="1444752"/>
            <a:ext cx="548640" cy="548640"/>
          </a:xfrm>
          <a:prstGeom prst="ellipse">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FFFFFF"/>
                </a:solidFill>
              </a:defRPr>
            </a:pPr>
            <a:r>
              <a:t>2</a:t>
            </a:r>
          </a:p>
        </p:txBody>
      </p:sp>
      <p:sp>
        <p:nvSpPr>
          <p:cNvPr id="11" name="TextBox 10"/>
          <p:cNvSpPr txBox="1"/>
          <p:nvPr/>
        </p:nvSpPr>
        <p:spPr>
          <a:xfrm>
            <a:off x="1618488" y="2103120"/>
            <a:ext cx="1280160" cy="658368"/>
          </a:xfrm>
          <a:prstGeom prst="rect">
            <a:avLst/>
          </a:prstGeom>
          <a:noFill/>
        </p:spPr>
        <p:txBody>
          <a:bodyPr wrap="square" anchor="t">
            <a:spAutoFit/>
          </a:bodyPr>
          <a:lstStyle/>
          <a:p>
            <a:pPr algn="ctr">
              <a:defRPr sz="1200" b="1">
                <a:solidFill>
                  <a:srgbClr val="0A2342"/>
                </a:solidFill>
                <a:latin typeface="Microsoft JhengHei"/>
              </a:defRPr>
            </a:pPr>
            <a:r>
              <a:t>Dataset</a:t>
            </a:r>
            <a:br/>
            <a:r>
              <a:t>Inspection</a:t>
            </a:r>
          </a:p>
        </p:txBody>
      </p:sp>
      <p:sp>
        <p:nvSpPr>
          <p:cNvPr id="12" name="TextBox 11"/>
          <p:cNvSpPr txBox="1"/>
          <p:nvPr/>
        </p:nvSpPr>
        <p:spPr>
          <a:xfrm>
            <a:off x="1618488" y="2788920"/>
            <a:ext cx="1280160" cy="749808"/>
          </a:xfrm>
          <a:prstGeom prst="rect">
            <a:avLst/>
          </a:prstGeom>
          <a:noFill/>
        </p:spPr>
        <p:txBody>
          <a:bodyPr wrap="square" anchor="t">
            <a:spAutoFit/>
          </a:bodyPr>
          <a:lstStyle/>
          <a:p>
            <a:pPr algn="ctr">
              <a:defRPr sz="1000" b="0">
                <a:solidFill>
                  <a:srgbClr val="566573"/>
                </a:solidFill>
                <a:latin typeface="Microsoft JhengHei"/>
              </a:defRPr>
            </a:pPr>
            <a:r>
              <a:t>Verify workbook</a:t>
            </a:r>
            <a:br/>
            <a:r>
              <a:t>schema &amp; columns</a:t>
            </a:r>
          </a:p>
        </p:txBody>
      </p:sp>
      <p:sp>
        <p:nvSpPr>
          <p:cNvPr id="13" name="Rectangle 12"/>
          <p:cNvSpPr/>
          <p:nvPr/>
        </p:nvSpPr>
        <p:spPr>
          <a:xfrm>
            <a:off x="2788920" y="1609344"/>
            <a:ext cx="164592" cy="1828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282696" y="1444752"/>
            <a:ext cx="548640" cy="548640"/>
          </a:xfrm>
          <a:prstGeom prst="ellipse">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FFFFFF"/>
                </a:solidFill>
              </a:defRPr>
            </a:pPr>
            <a:r>
              <a:t>3</a:t>
            </a:r>
          </a:p>
        </p:txBody>
      </p:sp>
      <p:sp>
        <p:nvSpPr>
          <p:cNvPr id="15" name="TextBox 14"/>
          <p:cNvSpPr txBox="1"/>
          <p:nvPr/>
        </p:nvSpPr>
        <p:spPr>
          <a:xfrm>
            <a:off x="2916936" y="2103120"/>
            <a:ext cx="1280160" cy="658368"/>
          </a:xfrm>
          <a:prstGeom prst="rect">
            <a:avLst/>
          </a:prstGeom>
          <a:noFill/>
        </p:spPr>
        <p:txBody>
          <a:bodyPr wrap="square" anchor="t">
            <a:spAutoFit/>
          </a:bodyPr>
          <a:lstStyle/>
          <a:p>
            <a:pPr algn="ctr">
              <a:defRPr sz="1200" b="1">
                <a:solidFill>
                  <a:srgbClr val="0A2342"/>
                </a:solidFill>
                <a:latin typeface="Microsoft JhengHei"/>
              </a:defRPr>
            </a:pPr>
            <a:r>
              <a:t>Project</a:t>
            </a:r>
            <a:br/>
            <a:r>
              <a:t>Design</a:t>
            </a:r>
          </a:p>
        </p:txBody>
      </p:sp>
      <p:sp>
        <p:nvSpPr>
          <p:cNvPr id="16" name="TextBox 15"/>
          <p:cNvSpPr txBox="1"/>
          <p:nvPr/>
        </p:nvSpPr>
        <p:spPr>
          <a:xfrm>
            <a:off x="2916936" y="2788920"/>
            <a:ext cx="1280160" cy="749808"/>
          </a:xfrm>
          <a:prstGeom prst="rect">
            <a:avLst/>
          </a:prstGeom>
          <a:noFill/>
        </p:spPr>
        <p:txBody>
          <a:bodyPr wrap="square" anchor="t">
            <a:spAutoFit/>
          </a:bodyPr>
          <a:lstStyle/>
          <a:p>
            <a:pPr algn="ctr">
              <a:defRPr sz="1000" b="0">
                <a:solidFill>
                  <a:srgbClr val="566573"/>
                </a:solidFill>
                <a:latin typeface="Microsoft JhengHei"/>
              </a:defRPr>
            </a:pPr>
            <a:r>
              <a:t>Define scope,</a:t>
            </a:r>
            <a:br/>
            <a:r>
              <a:t>module boundaries</a:t>
            </a:r>
          </a:p>
        </p:txBody>
      </p:sp>
      <p:sp>
        <p:nvSpPr>
          <p:cNvPr id="17" name="Rectangle 16"/>
          <p:cNvSpPr/>
          <p:nvPr/>
        </p:nvSpPr>
        <p:spPr>
          <a:xfrm>
            <a:off x="4087368" y="1609344"/>
            <a:ext cx="164592" cy="1828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581144" y="1444752"/>
            <a:ext cx="548640" cy="548640"/>
          </a:xfrm>
          <a:prstGeom prst="ellipse">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FFFFFF"/>
                </a:solidFill>
              </a:defRPr>
            </a:pPr>
            <a:r>
              <a:t>4</a:t>
            </a:r>
          </a:p>
        </p:txBody>
      </p:sp>
      <p:sp>
        <p:nvSpPr>
          <p:cNvPr id="19" name="TextBox 18"/>
          <p:cNvSpPr txBox="1"/>
          <p:nvPr/>
        </p:nvSpPr>
        <p:spPr>
          <a:xfrm>
            <a:off x="4215383" y="2103120"/>
            <a:ext cx="1280160" cy="658368"/>
          </a:xfrm>
          <a:prstGeom prst="rect">
            <a:avLst/>
          </a:prstGeom>
          <a:noFill/>
        </p:spPr>
        <p:txBody>
          <a:bodyPr wrap="square" anchor="t">
            <a:spAutoFit/>
          </a:bodyPr>
          <a:lstStyle/>
          <a:p>
            <a:pPr algn="ctr">
              <a:defRPr sz="1200" b="1">
                <a:solidFill>
                  <a:srgbClr val="0A2342"/>
                </a:solidFill>
                <a:latin typeface="Microsoft JhengHei"/>
              </a:defRPr>
            </a:pPr>
            <a:r>
              <a:t>Code</a:t>
            </a:r>
            <a:br/>
            <a:r>
              <a:t>Generation</a:t>
            </a:r>
          </a:p>
        </p:txBody>
      </p:sp>
      <p:sp>
        <p:nvSpPr>
          <p:cNvPr id="20" name="TextBox 19"/>
          <p:cNvSpPr txBox="1"/>
          <p:nvPr/>
        </p:nvSpPr>
        <p:spPr>
          <a:xfrm>
            <a:off x="4215383" y="2788920"/>
            <a:ext cx="1280160" cy="749808"/>
          </a:xfrm>
          <a:prstGeom prst="rect">
            <a:avLst/>
          </a:prstGeom>
          <a:noFill/>
        </p:spPr>
        <p:txBody>
          <a:bodyPr wrap="square" anchor="t">
            <a:spAutoFit/>
          </a:bodyPr>
          <a:lstStyle/>
          <a:p>
            <a:pPr algn="ctr">
              <a:defRPr sz="1000" b="0">
                <a:solidFill>
                  <a:srgbClr val="566573"/>
                </a:solidFill>
                <a:latin typeface="Microsoft JhengHei"/>
              </a:defRPr>
            </a:pPr>
            <a:r>
              <a:t>Modular Python</a:t>
            </a:r>
            <a:br/>
            <a:r>
              <a:t>src + config</a:t>
            </a:r>
          </a:p>
        </p:txBody>
      </p:sp>
      <p:sp>
        <p:nvSpPr>
          <p:cNvPr id="21" name="Rectangle 20"/>
          <p:cNvSpPr/>
          <p:nvPr/>
        </p:nvSpPr>
        <p:spPr>
          <a:xfrm>
            <a:off x="5385816" y="1609344"/>
            <a:ext cx="164592" cy="1828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5879592" y="1444752"/>
            <a:ext cx="548640" cy="548640"/>
          </a:xfrm>
          <a:prstGeom prst="ellipse">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FFFFFF"/>
                </a:solidFill>
              </a:defRPr>
            </a:pPr>
            <a:r>
              <a:t>5</a:t>
            </a:r>
          </a:p>
        </p:txBody>
      </p:sp>
      <p:sp>
        <p:nvSpPr>
          <p:cNvPr id="23" name="TextBox 22"/>
          <p:cNvSpPr txBox="1"/>
          <p:nvPr/>
        </p:nvSpPr>
        <p:spPr>
          <a:xfrm>
            <a:off x="5513831" y="2103120"/>
            <a:ext cx="1280160" cy="658368"/>
          </a:xfrm>
          <a:prstGeom prst="rect">
            <a:avLst/>
          </a:prstGeom>
          <a:noFill/>
        </p:spPr>
        <p:txBody>
          <a:bodyPr wrap="square" anchor="t">
            <a:spAutoFit/>
          </a:bodyPr>
          <a:lstStyle/>
          <a:p>
            <a:pPr algn="ctr">
              <a:defRPr sz="1200" b="1">
                <a:solidFill>
                  <a:srgbClr val="0A2342"/>
                </a:solidFill>
                <a:latin typeface="Microsoft JhengHei"/>
              </a:defRPr>
            </a:pPr>
            <a:r>
              <a:t>Debug &amp;</a:t>
            </a:r>
            <a:br/>
            <a:r>
              <a:t>Test</a:t>
            </a:r>
          </a:p>
        </p:txBody>
      </p:sp>
      <p:sp>
        <p:nvSpPr>
          <p:cNvPr id="24" name="TextBox 23"/>
          <p:cNvSpPr txBox="1"/>
          <p:nvPr/>
        </p:nvSpPr>
        <p:spPr>
          <a:xfrm>
            <a:off x="5513831" y="2788920"/>
            <a:ext cx="1280160" cy="749808"/>
          </a:xfrm>
          <a:prstGeom prst="rect">
            <a:avLst/>
          </a:prstGeom>
          <a:noFill/>
        </p:spPr>
        <p:txBody>
          <a:bodyPr wrap="square" anchor="t">
            <a:spAutoFit/>
          </a:bodyPr>
          <a:lstStyle/>
          <a:p>
            <a:pPr algn="ctr">
              <a:defRPr sz="1000" b="0">
                <a:solidFill>
                  <a:srgbClr val="566573"/>
                </a:solidFill>
                <a:latin typeface="Microsoft JhengHei"/>
              </a:defRPr>
            </a:pPr>
            <a:r>
              <a:t>Unit tests,</a:t>
            </a:r>
            <a:br/>
            <a:r>
              <a:t>pipeline validation</a:t>
            </a:r>
          </a:p>
        </p:txBody>
      </p:sp>
      <p:sp>
        <p:nvSpPr>
          <p:cNvPr id="25" name="Rectangle 24"/>
          <p:cNvSpPr/>
          <p:nvPr/>
        </p:nvSpPr>
        <p:spPr>
          <a:xfrm>
            <a:off x="6684264" y="1609344"/>
            <a:ext cx="164592" cy="1828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178040" y="1444752"/>
            <a:ext cx="548640" cy="548640"/>
          </a:xfrm>
          <a:prstGeom prst="ellipse">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FFFFFF"/>
                </a:solidFill>
              </a:defRPr>
            </a:pPr>
            <a:r>
              <a:t>6</a:t>
            </a:r>
          </a:p>
        </p:txBody>
      </p:sp>
      <p:sp>
        <p:nvSpPr>
          <p:cNvPr id="27" name="TextBox 26"/>
          <p:cNvSpPr txBox="1"/>
          <p:nvPr/>
        </p:nvSpPr>
        <p:spPr>
          <a:xfrm>
            <a:off x="6812279" y="2103120"/>
            <a:ext cx="1280160" cy="658368"/>
          </a:xfrm>
          <a:prstGeom prst="rect">
            <a:avLst/>
          </a:prstGeom>
          <a:noFill/>
        </p:spPr>
        <p:txBody>
          <a:bodyPr wrap="square" anchor="t">
            <a:spAutoFit/>
          </a:bodyPr>
          <a:lstStyle/>
          <a:p>
            <a:pPr algn="ctr">
              <a:defRPr sz="1200" b="1">
                <a:solidFill>
                  <a:srgbClr val="0A2342"/>
                </a:solidFill>
                <a:latin typeface="Microsoft JhengHei"/>
              </a:defRPr>
            </a:pPr>
            <a:r>
              <a:t>Analysis</a:t>
            </a:r>
            <a:br/>
            <a:r>
              <a:t>Execution</a:t>
            </a:r>
          </a:p>
        </p:txBody>
      </p:sp>
      <p:sp>
        <p:nvSpPr>
          <p:cNvPr id="28" name="TextBox 27"/>
          <p:cNvSpPr txBox="1"/>
          <p:nvPr/>
        </p:nvSpPr>
        <p:spPr>
          <a:xfrm>
            <a:off x="6812279" y="2788920"/>
            <a:ext cx="1280160" cy="749808"/>
          </a:xfrm>
          <a:prstGeom prst="rect">
            <a:avLst/>
          </a:prstGeom>
          <a:noFill/>
        </p:spPr>
        <p:txBody>
          <a:bodyPr wrap="square" anchor="t">
            <a:spAutoFit/>
          </a:bodyPr>
          <a:lstStyle/>
          <a:p>
            <a:pPr algn="ctr">
              <a:defRPr sz="1000" b="0">
                <a:solidFill>
                  <a:srgbClr val="566573"/>
                </a:solidFill>
                <a:latin typeface="Microsoft JhengHei"/>
              </a:defRPr>
            </a:pPr>
            <a:r>
              <a:t>Run models,</a:t>
            </a:r>
            <a:br/>
            <a:r>
              <a:t>generate outputs</a:t>
            </a:r>
          </a:p>
        </p:txBody>
      </p:sp>
      <p:sp>
        <p:nvSpPr>
          <p:cNvPr id="29" name="Rectangle 28"/>
          <p:cNvSpPr/>
          <p:nvPr/>
        </p:nvSpPr>
        <p:spPr>
          <a:xfrm>
            <a:off x="7982711" y="1609344"/>
            <a:ext cx="164592" cy="1828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476488" y="1444752"/>
            <a:ext cx="548640" cy="548640"/>
          </a:xfrm>
          <a:prstGeom prst="ellipse">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FFFFFF"/>
                </a:solidFill>
              </a:defRPr>
            </a:pPr>
            <a:r>
              <a:t>7</a:t>
            </a:r>
          </a:p>
        </p:txBody>
      </p:sp>
      <p:sp>
        <p:nvSpPr>
          <p:cNvPr id="31" name="TextBox 30"/>
          <p:cNvSpPr txBox="1"/>
          <p:nvPr/>
        </p:nvSpPr>
        <p:spPr>
          <a:xfrm>
            <a:off x="8110727" y="2103120"/>
            <a:ext cx="1280160" cy="658368"/>
          </a:xfrm>
          <a:prstGeom prst="rect">
            <a:avLst/>
          </a:prstGeom>
          <a:noFill/>
        </p:spPr>
        <p:txBody>
          <a:bodyPr wrap="square" anchor="t">
            <a:spAutoFit/>
          </a:bodyPr>
          <a:lstStyle/>
          <a:p>
            <a:pPr algn="ctr">
              <a:defRPr sz="1200" b="1">
                <a:solidFill>
                  <a:srgbClr val="0A2342"/>
                </a:solidFill>
                <a:latin typeface="Microsoft JhengHei"/>
              </a:defRPr>
            </a:pPr>
            <a:r>
              <a:t>Figure &amp;</a:t>
            </a:r>
            <a:br/>
            <a:r>
              <a:t>Report Gen</a:t>
            </a:r>
          </a:p>
        </p:txBody>
      </p:sp>
      <p:sp>
        <p:nvSpPr>
          <p:cNvPr id="32" name="TextBox 31"/>
          <p:cNvSpPr txBox="1"/>
          <p:nvPr/>
        </p:nvSpPr>
        <p:spPr>
          <a:xfrm>
            <a:off x="8110727" y="2788920"/>
            <a:ext cx="1280160" cy="749808"/>
          </a:xfrm>
          <a:prstGeom prst="rect">
            <a:avLst/>
          </a:prstGeom>
          <a:noFill/>
        </p:spPr>
        <p:txBody>
          <a:bodyPr wrap="square" anchor="t">
            <a:spAutoFit/>
          </a:bodyPr>
          <a:lstStyle/>
          <a:p>
            <a:pPr algn="ctr">
              <a:defRPr sz="1000" b="0">
                <a:solidFill>
                  <a:srgbClr val="566573"/>
                </a:solidFill>
                <a:latin typeface="Microsoft JhengHei"/>
              </a:defRPr>
            </a:pPr>
            <a:r>
              <a:t>Charts, tables,</a:t>
            </a:r>
            <a:br/>
            <a:r>
              <a:t>markdown reports</a:t>
            </a:r>
          </a:p>
        </p:txBody>
      </p:sp>
      <p:sp>
        <p:nvSpPr>
          <p:cNvPr id="33" name="Rectangle 32"/>
          <p:cNvSpPr/>
          <p:nvPr/>
        </p:nvSpPr>
        <p:spPr>
          <a:xfrm>
            <a:off x="9281159" y="1609344"/>
            <a:ext cx="164592" cy="1828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9774936" y="1444752"/>
            <a:ext cx="548640" cy="548640"/>
          </a:xfrm>
          <a:prstGeom prst="ellipse">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FFFFFF"/>
                </a:solidFill>
              </a:defRPr>
            </a:pPr>
            <a:r>
              <a:t>8</a:t>
            </a:r>
          </a:p>
        </p:txBody>
      </p:sp>
      <p:sp>
        <p:nvSpPr>
          <p:cNvPr id="35" name="TextBox 34"/>
          <p:cNvSpPr txBox="1"/>
          <p:nvPr/>
        </p:nvSpPr>
        <p:spPr>
          <a:xfrm>
            <a:off x="9409176" y="2103120"/>
            <a:ext cx="1280160" cy="658368"/>
          </a:xfrm>
          <a:prstGeom prst="rect">
            <a:avLst/>
          </a:prstGeom>
          <a:noFill/>
        </p:spPr>
        <p:txBody>
          <a:bodyPr wrap="square" anchor="t">
            <a:spAutoFit/>
          </a:bodyPr>
          <a:lstStyle/>
          <a:p>
            <a:pPr algn="ctr">
              <a:defRPr sz="1200" b="1">
                <a:solidFill>
                  <a:srgbClr val="0A2342"/>
                </a:solidFill>
                <a:latin typeface="Microsoft JhengHei"/>
              </a:defRPr>
            </a:pPr>
            <a:r>
              <a:t>Methodology</a:t>
            </a:r>
            <a:br/>
            <a:r>
              <a:t>Correction</a:t>
            </a:r>
          </a:p>
        </p:txBody>
      </p:sp>
      <p:sp>
        <p:nvSpPr>
          <p:cNvPr id="36" name="TextBox 35"/>
          <p:cNvSpPr txBox="1"/>
          <p:nvPr/>
        </p:nvSpPr>
        <p:spPr>
          <a:xfrm>
            <a:off x="9409176" y="2788920"/>
            <a:ext cx="1280160" cy="749808"/>
          </a:xfrm>
          <a:prstGeom prst="rect">
            <a:avLst/>
          </a:prstGeom>
          <a:noFill/>
        </p:spPr>
        <p:txBody>
          <a:bodyPr wrap="square" anchor="t">
            <a:spAutoFit/>
          </a:bodyPr>
          <a:lstStyle/>
          <a:p>
            <a:pPr algn="ctr">
              <a:defRPr sz="1000" b="0">
                <a:solidFill>
                  <a:srgbClr val="566573"/>
                </a:solidFill>
                <a:latin typeface="Microsoft JhengHei"/>
              </a:defRPr>
            </a:pPr>
            <a:r>
              <a:t>Fix leakage,</a:t>
            </a:r>
            <a:br/>
            <a:r>
              <a:t>audit protocol</a:t>
            </a:r>
          </a:p>
        </p:txBody>
      </p:sp>
      <p:sp>
        <p:nvSpPr>
          <p:cNvPr id="37" name="Rectangle 36"/>
          <p:cNvSpPr/>
          <p:nvPr/>
        </p:nvSpPr>
        <p:spPr>
          <a:xfrm>
            <a:off x="10579607" y="1609344"/>
            <a:ext cx="164592" cy="1828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1073384" y="1444752"/>
            <a:ext cx="548640" cy="548640"/>
          </a:xfrm>
          <a:prstGeom prst="ellipse">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FFFFFF"/>
                </a:solidFill>
              </a:defRPr>
            </a:pPr>
            <a:r>
              <a:t>9</a:t>
            </a:r>
          </a:p>
        </p:txBody>
      </p:sp>
      <p:sp>
        <p:nvSpPr>
          <p:cNvPr id="39" name="TextBox 38"/>
          <p:cNvSpPr txBox="1"/>
          <p:nvPr/>
        </p:nvSpPr>
        <p:spPr>
          <a:xfrm>
            <a:off x="10707624" y="2103120"/>
            <a:ext cx="1280160" cy="658368"/>
          </a:xfrm>
          <a:prstGeom prst="rect">
            <a:avLst/>
          </a:prstGeom>
          <a:noFill/>
        </p:spPr>
        <p:txBody>
          <a:bodyPr wrap="square" anchor="t">
            <a:spAutoFit/>
          </a:bodyPr>
          <a:lstStyle/>
          <a:p>
            <a:pPr algn="ctr">
              <a:defRPr sz="1200" b="1">
                <a:solidFill>
                  <a:srgbClr val="0A2342"/>
                </a:solidFill>
                <a:latin typeface="Microsoft JhengHei"/>
              </a:defRPr>
            </a:pPr>
            <a:r>
              <a:t>PPT &amp;</a:t>
            </a:r>
            <a:br/>
            <a:r>
              <a:t>Demo Prep</a:t>
            </a:r>
          </a:p>
        </p:txBody>
      </p:sp>
      <p:sp>
        <p:nvSpPr>
          <p:cNvPr id="40" name="TextBox 39"/>
          <p:cNvSpPr txBox="1"/>
          <p:nvPr/>
        </p:nvSpPr>
        <p:spPr>
          <a:xfrm>
            <a:off x="10707624" y="2788920"/>
            <a:ext cx="1280160" cy="749808"/>
          </a:xfrm>
          <a:prstGeom prst="rect">
            <a:avLst/>
          </a:prstGeom>
          <a:noFill/>
        </p:spPr>
        <p:txBody>
          <a:bodyPr wrap="square" anchor="t">
            <a:spAutoFit/>
          </a:bodyPr>
          <a:lstStyle/>
          <a:p>
            <a:pPr algn="ctr">
              <a:defRPr sz="1000" b="0">
                <a:solidFill>
                  <a:srgbClr val="566573"/>
                </a:solidFill>
                <a:latin typeface="Microsoft JhengHei"/>
              </a:defRPr>
            </a:pPr>
            <a:r>
              <a:t>Final presentation</a:t>
            </a:r>
            <a:br/>
            <a:r>
              <a:t>&amp; demo materials</a:t>
            </a:r>
          </a:p>
        </p:txBody>
      </p:sp>
      <p:sp>
        <p:nvSpPr>
          <p:cNvPr id="41" name="Rectangle 40"/>
          <p:cNvSpPr/>
          <p:nvPr/>
        </p:nvSpPr>
        <p:spPr>
          <a:xfrm>
            <a:off x="457200" y="3794760"/>
            <a:ext cx="11247120" cy="274320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85800" y="3931920"/>
            <a:ext cx="10789920" cy="457200"/>
          </a:xfrm>
          <a:prstGeom prst="rect">
            <a:avLst/>
          </a:prstGeom>
          <a:noFill/>
        </p:spPr>
        <p:txBody>
          <a:bodyPr wrap="square" anchor="t">
            <a:spAutoFit/>
          </a:bodyPr>
          <a:lstStyle/>
          <a:p>
            <a:pPr algn="l">
              <a:defRPr sz="1800" b="1">
                <a:solidFill>
                  <a:srgbClr val="0A2342"/>
                </a:solidFill>
                <a:latin typeface="Microsoft JhengHei"/>
              </a:defRPr>
            </a:pPr>
            <a:r>
              <a:t>Critical Agent Contribution: Iterative Debugging &amp; Correction</a:t>
            </a:r>
          </a:p>
        </p:txBody>
      </p:sp>
      <p:sp>
        <p:nvSpPr>
          <p:cNvPr id="43" name="TextBox 42"/>
          <p:cNvSpPr txBox="1"/>
          <p:nvPr/>
        </p:nvSpPr>
        <p:spPr>
          <a:xfrm>
            <a:off x="685800" y="4462272"/>
            <a:ext cx="10789920" cy="1408078"/>
          </a:xfrm>
          <a:prstGeom prst="rect">
            <a:avLst/>
          </a:prstGeom>
          <a:noFill/>
        </p:spPr>
        <p:txBody>
          <a:bodyPr wrap="square">
            <a:spAutoFit/>
          </a:bodyPr>
          <a:lstStyle/>
          <a:p>
            <a:pPr marL="285750" indent="-285750">
              <a:spcAft>
                <a:spcPts val="700"/>
              </a:spcAft>
              <a:buFont typeface="Arial" panose="020B0604020202020204" pitchFamily="34" charset="0"/>
              <a:buChar char="•"/>
              <a:defRPr sz="1700">
                <a:solidFill>
                  <a:srgbClr val="1C2833"/>
                </a:solidFill>
                <a:latin typeface="Microsoft JhengHei"/>
              </a:defRPr>
            </a:pPr>
            <a:r>
              <a:rPr dirty="0"/>
              <a:t>Agent role extended beyond code generation — actively identified evaluation flaws</a:t>
            </a:r>
          </a:p>
          <a:p>
            <a:pPr marL="285750" indent="-285750">
              <a:spcAft>
                <a:spcPts val="700"/>
              </a:spcAft>
              <a:buFont typeface="Arial" panose="020B0604020202020204" pitchFamily="34" charset="0"/>
              <a:buChar char="•"/>
              <a:defRPr sz="1700">
                <a:solidFill>
                  <a:srgbClr val="1C2833"/>
                </a:solidFill>
                <a:latin typeface="Microsoft JhengHei"/>
              </a:defRPr>
            </a:pPr>
            <a:r>
              <a:rPr dirty="0"/>
              <a:t>Stage 8 was most impactful: surfaced session leakage + model-selection bias</a:t>
            </a:r>
          </a:p>
          <a:p>
            <a:pPr marL="285750" indent="-285750">
              <a:spcAft>
                <a:spcPts val="700"/>
              </a:spcAft>
              <a:buFont typeface="Arial" panose="020B0604020202020204" pitchFamily="34" charset="0"/>
              <a:buChar char="•"/>
              <a:defRPr sz="1700">
                <a:solidFill>
                  <a:srgbClr val="1C2833"/>
                </a:solidFill>
                <a:latin typeface="Microsoft JhengHei"/>
              </a:defRPr>
            </a:pPr>
            <a:r>
              <a:rPr dirty="0"/>
              <a:t>Three corrections: figure framing, session-grouped CV, protocol audit</a:t>
            </a:r>
          </a:p>
          <a:p>
            <a:pPr marL="285750" indent="-285750">
              <a:spcAft>
                <a:spcPts val="700"/>
              </a:spcAft>
              <a:buFont typeface="Arial" panose="020B0604020202020204" pitchFamily="34" charset="0"/>
              <a:buChar char="•"/>
              <a:defRPr sz="1700">
                <a:solidFill>
                  <a:srgbClr val="1C2833"/>
                </a:solidFill>
                <a:latin typeface="Microsoft JhengHei"/>
              </a:defRPr>
            </a:pPr>
            <a:r>
              <a:rPr dirty="0"/>
              <a:t>All corrections documented in versioned audit reports for full traceability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1064240" cy="621792"/>
          </a:xfrm>
          <a:prstGeom prst="rect">
            <a:avLst/>
          </a:prstGeom>
          <a:noFill/>
        </p:spPr>
        <p:txBody>
          <a:bodyPr wrap="square" anchor="t">
            <a:spAutoFit/>
          </a:bodyPr>
          <a:lstStyle/>
          <a:p>
            <a:pPr algn="l">
              <a:defRPr sz="2800" b="1">
                <a:solidFill>
                  <a:srgbClr val="1C2833"/>
                </a:solidFill>
                <a:latin typeface="Microsoft JhengHei"/>
              </a:defRPr>
            </a:pPr>
            <a:r>
              <a:t>Experimental Procedure</a:t>
            </a:r>
          </a:p>
        </p:txBody>
      </p:sp>
      <p:sp>
        <p:nvSpPr>
          <p:cNvPr id="4" name="TextBox 3"/>
          <p:cNvSpPr txBox="1"/>
          <p:nvPr/>
        </p:nvSpPr>
        <p:spPr>
          <a:xfrm>
            <a:off x="548640" y="795528"/>
            <a:ext cx="11064240" cy="329184"/>
          </a:xfrm>
          <a:prstGeom prst="rect">
            <a:avLst/>
          </a:prstGeom>
          <a:noFill/>
        </p:spPr>
        <p:txBody>
          <a:bodyPr wrap="square" anchor="t">
            <a:spAutoFit/>
          </a:bodyPr>
          <a:lstStyle/>
          <a:p>
            <a:pPr algn="l">
              <a:defRPr sz="1300" b="0">
                <a:solidFill>
                  <a:srgbClr val="566573"/>
                </a:solidFill>
                <a:latin typeface="Microsoft JhengHei"/>
              </a:defRPr>
            </a:pPr>
            <a:r>
              <a:t>Step-by-step execution flow</a:t>
            </a:r>
          </a:p>
        </p:txBody>
      </p:sp>
      <p:sp>
        <p:nvSpPr>
          <p:cNvPr id="5" name="Rectangle 4"/>
          <p:cNvSpPr/>
          <p:nvPr/>
        </p:nvSpPr>
        <p:spPr>
          <a:xfrm>
            <a:off x="548640" y="1143000"/>
            <a:ext cx="11064240" cy="1371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280160"/>
            <a:ext cx="64008" cy="74980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280160"/>
            <a:ext cx="11064240" cy="347472"/>
          </a:xfrm>
          <a:prstGeom prst="rect">
            <a:avLst/>
          </a:prstGeom>
          <a:noFill/>
        </p:spPr>
        <p:txBody>
          <a:bodyPr wrap="square" anchor="t">
            <a:spAutoFit/>
          </a:bodyPr>
          <a:lstStyle/>
          <a:p>
            <a:pPr algn="l">
              <a:defRPr sz="1600" b="1">
                <a:solidFill>
                  <a:srgbClr val="0A2342"/>
                </a:solidFill>
                <a:latin typeface="Microsoft JhengHei"/>
              </a:defRPr>
            </a:pPr>
            <a:r>
              <a:t>Step 1: Data Loading &amp; Verification</a:t>
            </a:r>
          </a:p>
        </p:txBody>
      </p:sp>
      <p:sp>
        <p:nvSpPr>
          <p:cNvPr id="8" name="TextBox 7"/>
          <p:cNvSpPr txBox="1"/>
          <p:nvPr/>
        </p:nvSpPr>
        <p:spPr>
          <a:xfrm>
            <a:off x="685800" y="1645919"/>
            <a:ext cx="11064240" cy="502920"/>
          </a:xfrm>
          <a:prstGeom prst="rect">
            <a:avLst/>
          </a:prstGeom>
          <a:noFill/>
        </p:spPr>
        <p:txBody>
          <a:bodyPr wrap="square" anchor="t">
            <a:spAutoFit/>
          </a:bodyPr>
          <a:lstStyle/>
          <a:p>
            <a:pPr algn="l">
              <a:defRPr sz="1400" b="0">
                <a:solidFill>
                  <a:srgbClr val="566573"/>
                </a:solidFill>
                <a:latin typeface="Microsoft JhengHei"/>
              </a:defRPr>
            </a:pPr>
            <a:r>
              <a:t>Verified 510 rows × 29 cols; 9 patients, 30 sessions; mapped 6 toxin targets.</a:t>
            </a:r>
          </a:p>
        </p:txBody>
      </p:sp>
      <p:sp>
        <p:nvSpPr>
          <p:cNvPr id="9" name="Rectangle 8"/>
          <p:cNvSpPr/>
          <p:nvPr/>
        </p:nvSpPr>
        <p:spPr>
          <a:xfrm>
            <a:off x="457200" y="2194560"/>
            <a:ext cx="64008" cy="74980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194560"/>
            <a:ext cx="11064240" cy="347472"/>
          </a:xfrm>
          <a:prstGeom prst="rect">
            <a:avLst/>
          </a:prstGeom>
          <a:noFill/>
        </p:spPr>
        <p:txBody>
          <a:bodyPr wrap="square" anchor="t">
            <a:spAutoFit/>
          </a:bodyPr>
          <a:lstStyle/>
          <a:p>
            <a:pPr algn="l">
              <a:defRPr sz="1600" b="1">
                <a:solidFill>
                  <a:srgbClr val="0A2342"/>
                </a:solidFill>
                <a:latin typeface="Microsoft JhengHei"/>
              </a:defRPr>
            </a:pPr>
            <a:r>
              <a:t>Step 2: Data Profiling &amp; Cleaning</a:t>
            </a:r>
          </a:p>
        </p:txBody>
      </p:sp>
      <p:sp>
        <p:nvSpPr>
          <p:cNvPr id="11" name="TextBox 10"/>
          <p:cNvSpPr txBox="1"/>
          <p:nvPr/>
        </p:nvSpPr>
        <p:spPr>
          <a:xfrm>
            <a:off x="685800" y="2560320"/>
            <a:ext cx="11064240" cy="502920"/>
          </a:xfrm>
          <a:prstGeom prst="rect">
            <a:avLst/>
          </a:prstGeom>
          <a:noFill/>
        </p:spPr>
        <p:txBody>
          <a:bodyPr wrap="square" anchor="t">
            <a:spAutoFit/>
          </a:bodyPr>
          <a:lstStyle/>
          <a:p>
            <a:pPr algn="l">
              <a:defRPr sz="1400" b="0">
                <a:solidFill>
                  <a:srgbClr val="566573"/>
                </a:solidFill>
                <a:latin typeface="Microsoft JhengHei"/>
              </a:defRPr>
            </a:pPr>
            <a:r>
              <a:t>69 missing values for Acid; 6 for Urea/B2M — imputed via pipeline, no row deletion.</a:t>
            </a:r>
          </a:p>
        </p:txBody>
      </p:sp>
      <p:sp>
        <p:nvSpPr>
          <p:cNvPr id="12" name="Rectangle 11"/>
          <p:cNvSpPr/>
          <p:nvPr/>
        </p:nvSpPr>
        <p:spPr>
          <a:xfrm>
            <a:off x="457200" y="3108960"/>
            <a:ext cx="64008" cy="74980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3108960"/>
            <a:ext cx="11064240" cy="347472"/>
          </a:xfrm>
          <a:prstGeom prst="rect">
            <a:avLst/>
          </a:prstGeom>
          <a:noFill/>
        </p:spPr>
        <p:txBody>
          <a:bodyPr wrap="square" anchor="t">
            <a:spAutoFit/>
          </a:bodyPr>
          <a:lstStyle/>
          <a:p>
            <a:pPr algn="l">
              <a:defRPr sz="1600" b="1">
                <a:solidFill>
                  <a:srgbClr val="0A2342"/>
                </a:solidFill>
                <a:latin typeface="Microsoft JhengHei"/>
              </a:defRPr>
            </a:pPr>
            <a:r>
              <a:t>Step 3: Feature Engineering</a:t>
            </a:r>
          </a:p>
        </p:txBody>
      </p:sp>
      <p:sp>
        <p:nvSpPr>
          <p:cNvPr id="14" name="TextBox 13"/>
          <p:cNvSpPr txBox="1"/>
          <p:nvPr/>
        </p:nvSpPr>
        <p:spPr>
          <a:xfrm>
            <a:off x="685800" y="3474720"/>
            <a:ext cx="11064240" cy="502920"/>
          </a:xfrm>
          <a:prstGeom prst="rect">
            <a:avLst/>
          </a:prstGeom>
          <a:noFill/>
        </p:spPr>
        <p:txBody>
          <a:bodyPr wrap="square" anchor="t">
            <a:spAutoFit/>
          </a:bodyPr>
          <a:lstStyle/>
          <a:p>
            <a:pPr algn="l">
              <a:defRPr sz="1400" b="0">
                <a:solidFill>
                  <a:srgbClr val="566573"/>
                </a:solidFill>
                <a:latin typeface="Microsoft JhengHei"/>
              </a:defRPr>
            </a:pPr>
            <a:r>
              <a:t>Built 3 feature sets (A/B/C); standardized (mean=0, std=1); created session_id.</a:t>
            </a:r>
          </a:p>
        </p:txBody>
      </p:sp>
      <p:sp>
        <p:nvSpPr>
          <p:cNvPr id="15" name="Rectangle 14"/>
          <p:cNvSpPr/>
          <p:nvPr/>
        </p:nvSpPr>
        <p:spPr>
          <a:xfrm>
            <a:off x="457200" y="4023360"/>
            <a:ext cx="64008" cy="74980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4023360"/>
            <a:ext cx="11064240" cy="347472"/>
          </a:xfrm>
          <a:prstGeom prst="rect">
            <a:avLst/>
          </a:prstGeom>
          <a:noFill/>
        </p:spPr>
        <p:txBody>
          <a:bodyPr wrap="square" anchor="t">
            <a:spAutoFit/>
          </a:bodyPr>
          <a:lstStyle/>
          <a:p>
            <a:pPr algn="l">
              <a:defRPr sz="1600" b="1">
                <a:solidFill>
                  <a:srgbClr val="0A2342"/>
                </a:solidFill>
                <a:latin typeface="Microsoft JhengHei"/>
              </a:defRPr>
            </a:pPr>
            <a:r>
              <a:t>Step 4: Model Training &amp; CV</a:t>
            </a:r>
          </a:p>
        </p:txBody>
      </p:sp>
      <p:sp>
        <p:nvSpPr>
          <p:cNvPr id="17" name="TextBox 16"/>
          <p:cNvSpPr txBox="1"/>
          <p:nvPr/>
        </p:nvSpPr>
        <p:spPr>
          <a:xfrm>
            <a:off x="685800" y="4389120"/>
            <a:ext cx="11064240" cy="502920"/>
          </a:xfrm>
          <a:prstGeom prst="rect">
            <a:avLst/>
          </a:prstGeom>
          <a:noFill/>
        </p:spPr>
        <p:txBody>
          <a:bodyPr wrap="square" anchor="t">
            <a:spAutoFit/>
          </a:bodyPr>
          <a:lstStyle/>
          <a:p>
            <a:pPr algn="l">
              <a:defRPr sz="1400" b="0">
                <a:solidFill>
                  <a:srgbClr val="566573"/>
                </a:solidFill>
                <a:latin typeface="Microsoft JhengHei"/>
              </a:defRPr>
            </a:pPr>
            <a:r>
              <a:t>4 models × 6 targets × 3 feature sets; corrected to session-level GroupKFold throughout.</a:t>
            </a:r>
          </a:p>
        </p:txBody>
      </p:sp>
      <p:sp>
        <p:nvSpPr>
          <p:cNvPr id="18" name="Rectangle 17"/>
          <p:cNvSpPr/>
          <p:nvPr/>
        </p:nvSpPr>
        <p:spPr>
          <a:xfrm>
            <a:off x="457200" y="4937760"/>
            <a:ext cx="64008" cy="74980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4937760"/>
            <a:ext cx="11064240" cy="347472"/>
          </a:xfrm>
          <a:prstGeom prst="rect">
            <a:avLst/>
          </a:prstGeom>
          <a:noFill/>
        </p:spPr>
        <p:txBody>
          <a:bodyPr wrap="square" anchor="t">
            <a:spAutoFit/>
          </a:bodyPr>
          <a:lstStyle/>
          <a:p>
            <a:pPr algn="l">
              <a:defRPr sz="1600" b="1">
                <a:solidFill>
                  <a:srgbClr val="0A2342"/>
                </a:solidFill>
                <a:latin typeface="Microsoft JhengHei"/>
              </a:defRPr>
            </a:pPr>
            <a:r>
              <a:t>Step 5: Feature Selection</a:t>
            </a:r>
          </a:p>
        </p:txBody>
      </p:sp>
      <p:sp>
        <p:nvSpPr>
          <p:cNvPr id="20" name="TextBox 19"/>
          <p:cNvSpPr txBox="1"/>
          <p:nvPr/>
        </p:nvSpPr>
        <p:spPr>
          <a:xfrm>
            <a:off x="685800" y="5303520"/>
            <a:ext cx="11064240" cy="502920"/>
          </a:xfrm>
          <a:prstGeom prst="rect">
            <a:avLst/>
          </a:prstGeom>
          <a:noFill/>
        </p:spPr>
        <p:txBody>
          <a:bodyPr wrap="square" anchor="t">
            <a:spAutoFit/>
          </a:bodyPr>
          <a:lstStyle/>
          <a:p>
            <a:pPr algn="l">
              <a:defRPr sz="1400" b="0">
                <a:solidFill>
                  <a:srgbClr val="566573"/>
                </a:solidFill>
                <a:latin typeface="Microsoft JhengHei"/>
              </a:defRPr>
            </a:pPr>
            <a:r>
              <a:t>Mutual info + permutation importance; compared full vs. selected feature performance.</a:t>
            </a:r>
          </a:p>
        </p:txBody>
      </p:sp>
      <p:sp>
        <p:nvSpPr>
          <p:cNvPr id="21" name="Rectangle 20"/>
          <p:cNvSpPr/>
          <p:nvPr/>
        </p:nvSpPr>
        <p:spPr>
          <a:xfrm>
            <a:off x="457200" y="5852160"/>
            <a:ext cx="64008" cy="74980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85800" y="5852160"/>
            <a:ext cx="11064240" cy="347472"/>
          </a:xfrm>
          <a:prstGeom prst="rect">
            <a:avLst/>
          </a:prstGeom>
          <a:noFill/>
        </p:spPr>
        <p:txBody>
          <a:bodyPr wrap="square" anchor="t">
            <a:spAutoFit/>
          </a:bodyPr>
          <a:lstStyle/>
          <a:p>
            <a:pPr algn="l">
              <a:defRPr sz="1600" b="1">
                <a:solidFill>
                  <a:srgbClr val="0A2342"/>
                </a:solidFill>
                <a:latin typeface="Microsoft JhengHei"/>
              </a:defRPr>
            </a:pPr>
            <a:r>
              <a:t>Step 6: Protocol Correction</a:t>
            </a:r>
          </a:p>
        </p:txBody>
      </p:sp>
      <p:sp>
        <p:nvSpPr>
          <p:cNvPr id="23" name="TextBox 22"/>
          <p:cNvSpPr txBox="1"/>
          <p:nvPr/>
        </p:nvSpPr>
        <p:spPr>
          <a:xfrm>
            <a:off x="685800" y="6217920"/>
            <a:ext cx="11064240" cy="502920"/>
          </a:xfrm>
          <a:prstGeom prst="rect">
            <a:avLst/>
          </a:prstGeom>
          <a:noFill/>
        </p:spPr>
        <p:txBody>
          <a:bodyPr wrap="square" anchor="t">
            <a:spAutoFit/>
          </a:bodyPr>
          <a:lstStyle/>
          <a:p>
            <a:pPr algn="l">
              <a:defRPr sz="1400" b="0">
                <a:solidFill>
                  <a:srgbClr val="566573"/>
                </a:solidFill>
                <a:latin typeface="Microsoft JhengHei"/>
              </a:defRPr>
            </a:pPr>
            <a:r>
              <a:t>Detected row-level leakage; added GroupKFold by session_id; re-ran all evaluations.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1064240" cy="621792"/>
          </a:xfrm>
          <a:prstGeom prst="rect">
            <a:avLst/>
          </a:prstGeom>
          <a:noFill/>
        </p:spPr>
        <p:txBody>
          <a:bodyPr wrap="square" anchor="t">
            <a:spAutoFit/>
          </a:bodyPr>
          <a:lstStyle/>
          <a:p>
            <a:pPr algn="l">
              <a:defRPr sz="2800" b="1">
                <a:solidFill>
                  <a:srgbClr val="1C2833"/>
                </a:solidFill>
                <a:latin typeface="Microsoft JhengHei"/>
              </a:defRPr>
            </a:pPr>
            <a:r>
              <a:t>Dataset Profile &amp; Feature Correlations</a:t>
            </a:r>
          </a:p>
        </p:txBody>
      </p:sp>
      <p:sp>
        <p:nvSpPr>
          <p:cNvPr id="4" name="TextBox 3"/>
          <p:cNvSpPr txBox="1"/>
          <p:nvPr/>
        </p:nvSpPr>
        <p:spPr>
          <a:xfrm>
            <a:off x="548640" y="795528"/>
            <a:ext cx="11064240" cy="329184"/>
          </a:xfrm>
          <a:prstGeom prst="rect">
            <a:avLst/>
          </a:prstGeom>
          <a:noFill/>
        </p:spPr>
        <p:txBody>
          <a:bodyPr wrap="square" anchor="t">
            <a:spAutoFit/>
          </a:bodyPr>
          <a:lstStyle/>
          <a:p>
            <a:pPr algn="l">
              <a:defRPr sz="1300" b="0">
                <a:solidFill>
                  <a:srgbClr val="566573"/>
                </a:solidFill>
                <a:latin typeface="Microsoft JhengHei"/>
              </a:defRPr>
            </a:pPr>
            <a:r>
              <a:t>Data structure used throughout the pipeline</a:t>
            </a:r>
          </a:p>
        </p:txBody>
      </p:sp>
      <p:sp>
        <p:nvSpPr>
          <p:cNvPr id="5" name="Rectangle 4"/>
          <p:cNvSpPr/>
          <p:nvPr/>
        </p:nvSpPr>
        <p:spPr>
          <a:xfrm>
            <a:off x="548640" y="1143000"/>
            <a:ext cx="11064240" cy="1371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280160"/>
            <a:ext cx="5303520" cy="411480"/>
          </a:xfrm>
          <a:prstGeom prst="rect">
            <a:avLst/>
          </a:prstGeom>
          <a:noFill/>
        </p:spPr>
        <p:txBody>
          <a:bodyPr wrap="square" anchor="t">
            <a:spAutoFit/>
          </a:bodyPr>
          <a:lstStyle/>
          <a:p>
            <a:pPr algn="l">
              <a:defRPr sz="2000" b="1">
                <a:solidFill>
                  <a:srgbClr val="0A2342"/>
                </a:solidFill>
                <a:latin typeface="Microsoft JhengHei"/>
              </a:defRPr>
            </a:pPr>
            <a:r>
              <a:t>Dataset Summary</a:t>
            </a:r>
          </a:p>
        </p:txBody>
      </p:sp>
      <p:sp>
        <p:nvSpPr>
          <p:cNvPr id="7" name="TextBox 6"/>
          <p:cNvSpPr txBox="1"/>
          <p:nvPr/>
        </p:nvSpPr>
        <p:spPr>
          <a:xfrm>
            <a:off x="548640" y="1755648"/>
            <a:ext cx="5303520" cy="4389120"/>
          </a:xfrm>
          <a:prstGeom prst="rect">
            <a:avLst/>
          </a:prstGeom>
          <a:noFill/>
        </p:spPr>
        <p:txBody>
          <a:bodyPr wrap="square">
            <a:spAutoFit/>
          </a:bodyPr>
          <a:lstStyle/>
          <a:p>
            <a:pPr>
              <a:spcAft>
                <a:spcPts val="1000"/>
              </a:spcAft>
              <a:defRPr sz="1800">
                <a:solidFill>
                  <a:srgbClr val="1C2833"/>
                </a:solidFill>
                <a:latin typeface="Microsoft JhengHei"/>
              </a:defRPr>
            </a:pPr>
            <a:r>
              <a:t>510 rows, 29 columns</a:t>
            </a:r>
          </a:p>
          <a:p>
            <a:pPr>
              <a:spcAft>
                <a:spcPts val="1000"/>
              </a:spcAft>
              <a:defRPr sz="1800">
                <a:solidFill>
                  <a:srgbClr val="1C2833"/>
                </a:solidFill>
                <a:latin typeface="Microsoft JhengHei"/>
              </a:defRPr>
            </a:pPr>
            <a:r>
              <a:t>9 unique ESRD patients</a:t>
            </a:r>
          </a:p>
          <a:p>
            <a:pPr>
              <a:spcAft>
                <a:spcPts val="1000"/>
              </a:spcAft>
              <a:defRPr sz="1800">
                <a:solidFill>
                  <a:srgbClr val="1C2833"/>
                </a:solidFill>
                <a:latin typeface="Microsoft JhengHei"/>
              </a:defRPr>
            </a:pPr>
            <a:r>
              <a:t>30 HD sessions total</a:t>
            </a:r>
          </a:p>
          <a:p>
            <a:pPr>
              <a:spcAft>
                <a:spcPts val="1000"/>
              </a:spcAft>
              <a:defRPr sz="1800">
                <a:solidFill>
                  <a:srgbClr val="1C2833"/>
                </a:solidFill>
                <a:latin typeface="Microsoft JhengHei"/>
              </a:defRPr>
            </a:pPr>
            <a:r>
              <a:t>17 time points per session (0–240 min)</a:t>
            </a:r>
          </a:p>
          <a:p>
            <a:pPr>
              <a:spcAft>
                <a:spcPts val="1000"/>
              </a:spcAft>
              <a:defRPr sz="1800">
                <a:solidFill>
                  <a:srgbClr val="1C2833"/>
                </a:solidFill>
                <a:latin typeface="Microsoft JhengHei"/>
              </a:defRPr>
            </a:pPr>
            <a:r>
              <a:t>5 absorbance features (UV wavelengths)</a:t>
            </a:r>
          </a:p>
          <a:p>
            <a:pPr>
              <a:spcAft>
                <a:spcPts val="1000"/>
              </a:spcAft>
              <a:defRPr sz="1800">
                <a:solidFill>
                  <a:srgbClr val="1C2833"/>
                </a:solidFill>
                <a:latin typeface="Microsoft JhengHei"/>
              </a:defRPr>
            </a:pPr>
            <a:r>
              <a:t>8 machine parameters</a:t>
            </a:r>
          </a:p>
          <a:p>
            <a:pPr>
              <a:spcAft>
                <a:spcPts val="1000"/>
              </a:spcAft>
              <a:defRPr sz="1800">
                <a:solidFill>
                  <a:srgbClr val="1C2833"/>
                </a:solidFill>
                <a:latin typeface="Microsoft JhengHei"/>
              </a:defRPr>
            </a:pPr>
            <a:r>
              <a:t>6 personal features</a:t>
            </a:r>
          </a:p>
          <a:p>
            <a:pPr>
              <a:spcAft>
                <a:spcPts val="1000"/>
              </a:spcAft>
              <a:defRPr sz="1800">
                <a:solidFill>
                  <a:srgbClr val="1C2833"/>
                </a:solidFill>
                <a:latin typeface="Microsoft JhengHei"/>
              </a:defRPr>
            </a:pPr>
            <a:r>
              <a:t>6 toxin prediction targets</a:t>
            </a:r>
          </a:p>
        </p:txBody>
      </p:sp>
      <p:sp>
        <p:nvSpPr>
          <p:cNvPr id="8" name="TextBox 7"/>
          <p:cNvSpPr txBox="1"/>
          <p:nvPr/>
        </p:nvSpPr>
        <p:spPr>
          <a:xfrm>
            <a:off x="6492240" y="1280160"/>
            <a:ext cx="5212080" cy="411480"/>
          </a:xfrm>
          <a:prstGeom prst="rect">
            <a:avLst/>
          </a:prstGeom>
          <a:noFill/>
        </p:spPr>
        <p:txBody>
          <a:bodyPr wrap="square" anchor="t">
            <a:spAutoFit/>
          </a:bodyPr>
          <a:lstStyle/>
          <a:p>
            <a:pPr algn="l">
              <a:defRPr sz="2000" b="1">
                <a:solidFill>
                  <a:srgbClr val="0A2342"/>
                </a:solidFill>
                <a:latin typeface="Microsoft JhengHei"/>
              </a:defRPr>
            </a:pPr>
            <a:r>
              <a:t>Feature Correlation Heatmap</a:t>
            </a:r>
          </a:p>
        </p:txBody>
      </p:sp>
      <p:pic>
        <p:nvPicPr>
          <p:cNvPr id="9" name="Picture 8" descr="full_feature_correlation_heatmap.png"/>
          <p:cNvPicPr>
            <a:picLocks noChangeAspect="1"/>
          </p:cNvPicPr>
          <p:nvPr/>
        </p:nvPicPr>
        <p:blipFill>
          <a:blip r:embed="rId3"/>
          <a:stretch>
            <a:fillRect/>
          </a:stretch>
        </p:blipFill>
        <p:spPr>
          <a:xfrm>
            <a:off x="6675120" y="1783080"/>
            <a:ext cx="5029200" cy="44005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1064240" cy="621792"/>
          </a:xfrm>
          <a:prstGeom prst="rect">
            <a:avLst/>
          </a:prstGeom>
          <a:noFill/>
        </p:spPr>
        <p:txBody>
          <a:bodyPr wrap="square" anchor="t">
            <a:spAutoFit/>
          </a:bodyPr>
          <a:lstStyle/>
          <a:p>
            <a:pPr algn="l">
              <a:defRPr sz="2800" b="1">
                <a:solidFill>
                  <a:srgbClr val="1C2833"/>
                </a:solidFill>
                <a:latin typeface="Microsoft JhengHei"/>
              </a:defRPr>
            </a:pPr>
            <a:r>
              <a:t>Early Baseline Results</a:t>
            </a:r>
          </a:p>
        </p:txBody>
      </p:sp>
      <p:sp>
        <p:nvSpPr>
          <p:cNvPr id="4" name="TextBox 3"/>
          <p:cNvSpPr txBox="1"/>
          <p:nvPr/>
        </p:nvSpPr>
        <p:spPr>
          <a:xfrm>
            <a:off x="548640" y="795528"/>
            <a:ext cx="11064240" cy="329184"/>
          </a:xfrm>
          <a:prstGeom prst="rect">
            <a:avLst/>
          </a:prstGeom>
          <a:noFill/>
        </p:spPr>
        <p:txBody>
          <a:bodyPr wrap="square" anchor="t">
            <a:spAutoFit/>
          </a:bodyPr>
          <a:lstStyle/>
          <a:p>
            <a:pPr algn="l">
              <a:defRPr sz="1300" b="0">
                <a:solidFill>
                  <a:srgbClr val="566573"/>
                </a:solidFill>
                <a:latin typeface="Microsoft JhengHei"/>
              </a:defRPr>
            </a:pPr>
            <a:r>
              <a:t>Strong-looking metrics, but not yet trustworthy</a:t>
            </a:r>
          </a:p>
        </p:txBody>
      </p:sp>
      <p:sp>
        <p:nvSpPr>
          <p:cNvPr id="5" name="Rectangle 4"/>
          <p:cNvSpPr/>
          <p:nvPr/>
        </p:nvSpPr>
        <p:spPr>
          <a:xfrm>
            <a:off x="548640" y="1143000"/>
            <a:ext cx="11064240" cy="1371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280160"/>
            <a:ext cx="5577840" cy="411480"/>
          </a:xfrm>
          <a:prstGeom prst="rect">
            <a:avLst/>
          </a:prstGeom>
          <a:noFill/>
        </p:spPr>
        <p:txBody>
          <a:bodyPr wrap="square" anchor="t">
            <a:spAutoFit/>
          </a:bodyPr>
          <a:lstStyle/>
          <a:p>
            <a:pPr algn="l">
              <a:defRPr sz="1900" b="1">
                <a:solidFill>
                  <a:srgbClr val="0A2342"/>
                </a:solidFill>
                <a:latin typeface="Microsoft JhengHei"/>
              </a:defRPr>
            </a:pPr>
            <a:r>
              <a:t>Initial Row-Level CV Best Results</a:t>
            </a:r>
          </a:p>
        </p:txBody>
      </p:sp>
      <p:graphicFrame>
        <p:nvGraphicFramePr>
          <p:cNvPr id="7" name="Table 6"/>
          <p:cNvGraphicFramePr>
            <a:graphicFrameLocks noGrp="1"/>
          </p:cNvGraphicFramePr>
          <p:nvPr/>
        </p:nvGraphicFramePr>
        <p:xfrm>
          <a:off x="548640" y="1755648"/>
          <a:ext cx="5577840" cy="323088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457200">
                <a:tc>
                  <a:txBody>
                    <a:bodyPr/>
                    <a:lstStyle/>
                    <a:p>
                      <a:pPr>
                        <a:defRPr sz="1300" b="1">
                          <a:solidFill>
                            <a:srgbClr val="FFFFFF"/>
                          </a:solidFill>
                          <a:latin typeface="Microsoft JhengHei"/>
                        </a:defRPr>
                      </a:pPr>
                      <a:r>
                        <a:t>Target</a:t>
                      </a:r>
                    </a:p>
                  </a:txBody>
                  <a:tcPr>
                    <a:solidFill>
                      <a:srgbClr val="0A2342"/>
                    </a:solidFill>
                  </a:tcPr>
                </a:tc>
                <a:tc>
                  <a:txBody>
                    <a:bodyPr/>
                    <a:lstStyle/>
                    <a:p>
                      <a:pPr>
                        <a:defRPr sz="1300" b="1">
                          <a:solidFill>
                            <a:srgbClr val="FFFFFF"/>
                          </a:solidFill>
                          <a:latin typeface="Microsoft JhengHei"/>
                        </a:defRPr>
                      </a:pPr>
                      <a:r>
                        <a:t>Best Model</a:t>
                      </a:r>
                    </a:p>
                  </a:txBody>
                  <a:tcPr>
                    <a:solidFill>
                      <a:srgbClr val="0A2342"/>
                    </a:solidFill>
                  </a:tcPr>
                </a:tc>
                <a:tc>
                  <a:txBody>
                    <a:bodyPr/>
                    <a:lstStyle/>
                    <a:p>
                      <a:pPr>
                        <a:defRPr sz="1300" b="1">
                          <a:solidFill>
                            <a:srgbClr val="FFFFFF"/>
                          </a:solidFill>
                          <a:latin typeface="Microsoft JhengHei"/>
                        </a:defRPr>
                      </a:pPr>
                      <a:r>
                        <a:t>Feature Set</a:t>
                      </a:r>
                    </a:p>
                  </a:txBody>
                  <a:tcPr>
                    <a:solidFill>
                      <a:srgbClr val="0A2342"/>
                    </a:solidFill>
                  </a:tcPr>
                </a:tc>
                <a:tc>
                  <a:txBody>
                    <a:bodyPr/>
                    <a:lstStyle/>
                    <a:p>
                      <a:pPr>
                        <a:defRPr sz="1300" b="1">
                          <a:solidFill>
                            <a:srgbClr val="FFFFFF"/>
                          </a:solidFill>
                          <a:latin typeface="Microsoft JhengHei"/>
                        </a:defRPr>
                      </a:pPr>
                      <a:r>
                        <a:t>R²</a:t>
                      </a:r>
                    </a:p>
                  </a:txBody>
                  <a:tcPr>
                    <a:solidFill>
                      <a:srgbClr val="0A2342"/>
                    </a:solidFill>
                  </a:tcPr>
                </a:tc>
                <a:extLst>
                  <a:ext uri="{0D108BD9-81ED-4DB2-BD59-A6C34878D82A}">
                    <a16:rowId xmlns:a16="http://schemas.microsoft.com/office/drawing/2014/main" val="10000"/>
                  </a:ext>
                </a:extLst>
              </a:tr>
              <a:tr h="457200">
                <a:tc>
                  <a:txBody>
                    <a:bodyPr/>
                    <a:lstStyle/>
                    <a:p>
                      <a:pPr>
                        <a:defRPr sz="1300">
                          <a:solidFill>
                            <a:srgbClr val="1C2833"/>
                          </a:solidFill>
                          <a:latin typeface="Microsoft JhengHei"/>
                        </a:defRPr>
                      </a:pPr>
                      <a:r>
                        <a:t>Urea</a:t>
                      </a:r>
                    </a:p>
                  </a:txBody>
                  <a:tcPr>
                    <a:solidFill>
                      <a:srgbClr val="FFFFFF"/>
                    </a:solidFill>
                  </a:tcPr>
                </a:tc>
                <a:tc>
                  <a:txBody>
                    <a:bodyPr/>
                    <a:lstStyle/>
                    <a:p>
                      <a:pPr>
                        <a:defRPr sz="1300">
                          <a:solidFill>
                            <a:srgbClr val="1C2833"/>
                          </a:solidFill>
                          <a:latin typeface="Microsoft JhengHei"/>
                        </a:defRPr>
                      </a:pPr>
                      <a:r>
                        <a:t>SVR</a:t>
                      </a:r>
                    </a:p>
                  </a:txBody>
                  <a:tcPr>
                    <a:solidFill>
                      <a:srgbClr val="FFFFFF"/>
                    </a:solidFill>
                  </a:tcPr>
                </a:tc>
                <a:tc>
                  <a:txBody>
                    <a:bodyPr/>
                    <a:lstStyle/>
                    <a:p>
                      <a:pPr>
                        <a:defRPr sz="1300">
                          <a:solidFill>
                            <a:srgbClr val="1C2833"/>
                          </a:solidFill>
                          <a:latin typeface="Microsoft JhengHei"/>
                        </a:defRPr>
                      </a:pPr>
                      <a:r>
                        <a:t>Full (19 feat.)</a:t>
                      </a:r>
                    </a:p>
                  </a:txBody>
                  <a:tcPr>
                    <a:solidFill>
                      <a:srgbClr val="FFFFFF"/>
                    </a:solidFill>
                  </a:tcPr>
                </a:tc>
                <a:tc>
                  <a:txBody>
                    <a:bodyPr/>
                    <a:lstStyle/>
                    <a:p>
                      <a:pPr>
                        <a:defRPr sz="1300">
                          <a:solidFill>
                            <a:srgbClr val="1C2833"/>
                          </a:solidFill>
                          <a:latin typeface="Microsoft JhengHei"/>
                        </a:defRPr>
                      </a:pPr>
                      <a:r>
                        <a:t>0.938</a:t>
                      </a:r>
                    </a:p>
                  </a:txBody>
                  <a:tcPr>
                    <a:solidFill>
                      <a:srgbClr val="FFFFFF"/>
                    </a:solidFill>
                  </a:tcPr>
                </a:tc>
                <a:extLst>
                  <a:ext uri="{0D108BD9-81ED-4DB2-BD59-A6C34878D82A}">
                    <a16:rowId xmlns:a16="http://schemas.microsoft.com/office/drawing/2014/main" val="10001"/>
                  </a:ext>
                </a:extLst>
              </a:tr>
              <a:tr h="457200">
                <a:tc>
                  <a:txBody>
                    <a:bodyPr/>
                    <a:lstStyle/>
                    <a:p>
                      <a:pPr>
                        <a:defRPr sz="1300">
                          <a:solidFill>
                            <a:srgbClr val="1C2833"/>
                          </a:solidFill>
                          <a:latin typeface="Microsoft JhengHei"/>
                        </a:defRPr>
                      </a:pPr>
                      <a:r>
                        <a:t>Creatinine</a:t>
                      </a:r>
                    </a:p>
                  </a:txBody>
                  <a:tcPr>
                    <a:solidFill>
                      <a:srgbClr val="EBF5FB"/>
                    </a:solidFill>
                  </a:tcPr>
                </a:tc>
                <a:tc>
                  <a:txBody>
                    <a:bodyPr/>
                    <a:lstStyle/>
                    <a:p>
                      <a:pPr>
                        <a:defRPr sz="1300">
                          <a:solidFill>
                            <a:srgbClr val="1C2833"/>
                          </a:solidFill>
                          <a:latin typeface="Microsoft JhengHei"/>
                        </a:defRPr>
                      </a:pPr>
                      <a:r>
                        <a:t>SVR</a:t>
                      </a:r>
                    </a:p>
                  </a:txBody>
                  <a:tcPr>
                    <a:solidFill>
                      <a:srgbClr val="EBF5FB"/>
                    </a:solidFill>
                  </a:tcPr>
                </a:tc>
                <a:tc>
                  <a:txBody>
                    <a:bodyPr/>
                    <a:lstStyle/>
                    <a:p>
                      <a:pPr>
                        <a:defRPr sz="1300">
                          <a:solidFill>
                            <a:srgbClr val="1C2833"/>
                          </a:solidFill>
                          <a:latin typeface="Microsoft JhengHei"/>
                        </a:defRPr>
                      </a:pPr>
                      <a:r>
                        <a:t>Full (19 feat.)</a:t>
                      </a:r>
                    </a:p>
                  </a:txBody>
                  <a:tcPr>
                    <a:solidFill>
                      <a:srgbClr val="EBF5FB"/>
                    </a:solidFill>
                  </a:tcPr>
                </a:tc>
                <a:tc>
                  <a:txBody>
                    <a:bodyPr/>
                    <a:lstStyle/>
                    <a:p>
                      <a:pPr>
                        <a:defRPr sz="1300">
                          <a:solidFill>
                            <a:srgbClr val="1C2833"/>
                          </a:solidFill>
                          <a:latin typeface="Microsoft JhengHei"/>
                        </a:defRPr>
                      </a:pPr>
                      <a:r>
                        <a:t>0.903</a:t>
                      </a:r>
                    </a:p>
                  </a:txBody>
                  <a:tcPr>
                    <a:solidFill>
                      <a:srgbClr val="EBF5FB"/>
                    </a:solidFill>
                  </a:tcPr>
                </a:tc>
                <a:extLst>
                  <a:ext uri="{0D108BD9-81ED-4DB2-BD59-A6C34878D82A}">
                    <a16:rowId xmlns:a16="http://schemas.microsoft.com/office/drawing/2014/main" val="10002"/>
                  </a:ext>
                </a:extLst>
              </a:tr>
              <a:tr h="457200">
                <a:tc>
                  <a:txBody>
                    <a:bodyPr/>
                    <a:lstStyle/>
                    <a:p>
                      <a:pPr>
                        <a:defRPr sz="1300">
                          <a:solidFill>
                            <a:srgbClr val="1C2833"/>
                          </a:solidFill>
                          <a:latin typeface="Microsoft JhengHei"/>
                        </a:defRPr>
                      </a:pPr>
                      <a:r>
                        <a:t>Uric Acid (inferred)</a:t>
                      </a:r>
                    </a:p>
                  </a:txBody>
                  <a:tcPr>
                    <a:solidFill>
                      <a:srgbClr val="FFFFFF"/>
                    </a:solidFill>
                  </a:tcPr>
                </a:tc>
                <a:tc>
                  <a:txBody>
                    <a:bodyPr/>
                    <a:lstStyle/>
                    <a:p>
                      <a:pPr>
                        <a:defRPr sz="1300">
                          <a:solidFill>
                            <a:srgbClr val="1C2833"/>
                          </a:solidFill>
                          <a:latin typeface="Microsoft JhengHei"/>
                        </a:defRPr>
                      </a:pPr>
                      <a:r>
                        <a:t>SVR</a:t>
                      </a:r>
                    </a:p>
                  </a:txBody>
                  <a:tcPr>
                    <a:solidFill>
                      <a:srgbClr val="FFFFFF"/>
                    </a:solidFill>
                  </a:tcPr>
                </a:tc>
                <a:tc>
                  <a:txBody>
                    <a:bodyPr/>
                    <a:lstStyle/>
                    <a:p>
                      <a:pPr>
                        <a:defRPr sz="1300">
                          <a:solidFill>
                            <a:srgbClr val="1C2833"/>
                          </a:solidFill>
                          <a:latin typeface="Microsoft JhengHei"/>
                        </a:defRPr>
                      </a:pPr>
                      <a:r>
                        <a:t>Full (19 feat.)</a:t>
                      </a:r>
                    </a:p>
                  </a:txBody>
                  <a:tcPr>
                    <a:solidFill>
                      <a:srgbClr val="FFFFFF"/>
                    </a:solidFill>
                  </a:tcPr>
                </a:tc>
                <a:tc>
                  <a:txBody>
                    <a:bodyPr/>
                    <a:lstStyle/>
                    <a:p>
                      <a:pPr>
                        <a:defRPr sz="1300">
                          <a:solidFill>
                            <a:srgbClr val="1C2833"/>
                          </a:solidFill>
                          <a:latin typeface="Microsoft JhengHei"/>
                        </a:defRPr>
                      </a:pPr>
                      <a:r>
                        <a:t>0.914</a:t>
                      </a:r>
                    </a:p>
                  </a:txBody>
                  <a:tcPr>
                    <a:solidFill>
                      <a:srgbClr val="FFFFFF"/>
                    </a:solidFill>
                  </a:tcPr>
                </a:tc>
                <a:extLst>
                  <a:ext uri="{0D108BD9-81ED-4DB2-BD59-A6C34878D82A}">
                    <a16:rowId xmlns:a16="http://schemas.microsoft.com/office/drawing/2014/main" val="10003"/>
                  </a:ext>
                </a:extLst>
              </a:tr>
              <a:tr h="457200">
                <a:tc>
                  <a:txBody>
                    <a:bodyPr/>
                    <a:lstStyle/>
                    <a:p>
                      <a:pPr>
                        <a:defRPr sz="1300">
                          <a:solidFill>
                            <a:srgbClr val="1C2833"/>
                          </a:solidFill>
                          <a:latin typeface="Microsoft JhengHei"/>
                        </a:defRPr>
                      </a:pPr>
                      <a:r>
                        <a:t>Phosphorus</a:t>
                      </a:r>
                    </a:p>
                  </a:txBody>
                  <a:tcPr>
                    <a:solidFill>
                      <a:srgbClr val="EBF5FB"/>
                    </a:solidFill>
                  </a:tcPr>
                </a:tc>
                <a:tc>
                  <a:txBody>
                    <a:bodyPr/>
                    <a:lstStyle/>
                    <a:p>
                      <a:pPr>
                        <a:defRPr sz="1300">
                          <a:solidFill>
                            <a:srgbClr val="1C2833"/>
                          </a:solidFill>
                          <a:latin typeface="Microsoft JhengHei"/>
                        </a:defRPr>
                      </a:pPr>
                      <a:r>
                        <a:t>SVR</a:t>
                      </a:r>
                    </a:p>
                  </a:txBody>
                  <a:tcPr>
                    <a:solidFill>
                      <a:srgbClr val="EBF5FB"/>
                    </a:solidFill>
                  </a:tcPr>
                </a:tc>
                <a:tc>
                  <a:txBody>
                    <a:bodyPr/>
                    <a:lstStyle/>
                    <a:p>
                      <a:pPr>
                        <a:defRPr sz="1300">
                          <a:solidFill>
                            <a:srgbClr val="1C2833"/>
                          </a:solidFill>
                          <a:latin typeface="Microsoft JhengHei"/>
                        </a:defRPr>
                      </a:pPr>
                      <a:r>
                        <a:t>Full (19 feat.)</a:t>
                      </a:r>
                    </a:p>
                  </a:txBody>
                  <a:tcPr>
                    <a:solidFill>
                      <a:srgbClr val="EBF5FB"/>
                    </a:solidFill>
                  </a:tcPr>
                </a:tc>
                <a:tc>
                  <a:txBody>
                    <a:bodyPr/>
                    <a:lstStyle/>
                    <a:p>
                      <a:pPr>
                        <a:defRPr sz="1300">
                          <a:solidFill>
                            <a:srgbClr val="1C2833"/>
                          </a:solidFill>
                          <a:latin typeface="Microsoft JhengHei"/>
                        </a:defRPr>
                      </a:pPr>
                      <a:r>
                        <a:t>0.876</a:t>
                      </a:r>
                    </a:p>
                  </a:txBody>
                  <a:tcPr>
                    <a:solidFill>
                      <a:srgbClr val="EBF5FB"/>
                    </a:solidFill>
                  </a:tcPr>
                </a:tc>
                <a:extLst>
                  <a:ext uri="{0D108BD9-81ED-4DB2-BD59-A6C34878D82A}">
                    <a16:rowId xmlns:a16="http://schemas.microsoft.com/office/drawing/2014/main" val="10004"/>
                  </a:ext>
                </a:extLst>
              </a:tr>
              <a:tr h="457200">
                <a:tc>
                  <a:txBody>
                    <a:bodyPr/>
                    <a:lstStyle/>
                    <a:p>
                      <a:pPr>
                        <a:defRPr sz="1300">
                          <a:solidFill>
                            <a:srgbClr val="1C2833"/>
                          </a:solidFill>
                          <a:latin typeface="Microsoft JhengHei"/>
                        </a:defRPr>
                      </a:pPr>
                      <a:r>
                        <a:t>Potassium</a:t>
                      </a:r>
                    </a:p>
                  </a:txBody>
                  <a:tcPr>
                    <a:solidFill>
                      <a:srgbClr val="FFFFFF"/>
                    </a:solidFill>
                  </a:tcPr>
                </a:tc>
                <a:tc>
                  <a:txBody>
                    <a:bodyPr/>
                    <a:lstStyle/>
                    <a:p>
                      <a:pPr>
                        <a:defRPr sz="1300">
                          <a:solidFill>
                            <a:srgbClr val="1C2833"/>
                          </a:solidFill>
                          <a:latin typeface="Microsoft JhengHei"/>
                        </a:defRPr>
                      </a:pPr>
                      <a:r>
                        <a:t>KNN</a:t>
                      </a:r>
                    </a:p>
                  </a:txBody>
                  <a:tcPr>
                    <a:solidFill>
                      <a:srgbClr val="FFFFFF"/>
                    </a:solidFill>
                  </a:tcPr>
                </a:tc>
                <a:tc>
                  <a:txBody>
                    <a:bodyPr/>
                    <a:lstStyle/>
                    <a:p>
                      <a:pPr>
                        <a:defRPr sz="1300">
                          <a:solidFill>
                            <a:srgbClr val="1C2833"/>
                          </a:solidFill>
                          <a:latin typeface="Microsoft JhengHei"/>
                        </a:defRPr>
                      </a:pPr>
                      <a:r>
                        <a:t>Full (19 feat.)</a:t>
                      </a:r>
                    </a:p>
                  </a:txBody>
                  <a:tcPr>
                    <a:solidFill>
                      <a:srgbClr val="FFFFFF"/>
                    </a:solidFill>
                  </a:tcPr>
                </a:tc>
                <a:tc>
                  <a:txBody>
                    <a:bodyPr/>
                    <a:lstStyle/>
                    <a:p>
                      <a:pPr>
                        <a:defRPr sz="1300">
                          <a:solidFill>
                            <a:srgbClr val="1C2833"/>
                          </a:solidFill>
                          <a:latin typeface="Microsoft JhengHei"/>
                        </a:defRPr>
                      </a:pPr>
                      <a:r>
                        <a:t>0.685</a:t>
                      </a:r>
                    </a:p>
                  </a:txBody>
                  <a:tcPr>
                    <a:solidFill>
                      <a:srgbClr val="FFFFFF"/>
                    </a:solidFill>
                  </a:tcPr>
                </a:tc>
                <a:extLst>
                  <a:ext uri="{0D108BD9-81ED-4DB2-BD59-A6C34878D82A}">
                    <a16:rowId xmlns:a16="http://schemas.microsoft.com/office/drawing/2014/main" val="10005"/>
                  </a:ext>
                </a:extLst>
              </a:tr>
              <a:tr h="457200">
                <a:tc>
                  <a:txBody>
                    <a:bodyPr/>
                    <a:lstStyle/>
                    <a:p>
                      <a:pPr>
                        <a:defRPr sz="1300">
                          <a:solidFill>
                            <a:srgbClr val="1C2833"/>
                          </a:solidFill>
                          <a:latin typeface="Microsoft JhengHei"/>
                        </a:defRPr>
                      </a:pPr>
                      <a:r>
                        <a:t>β2-Microglobulin</a:t>
                      </a:r>
                    </a:p>
                  </a:txBody>
                  <a:tcPr>
                    <a:solidFill>
                      <a:srgbClr val="EBF5FB"/>
                    </a:solidFill>
                  </a:tcPr>
                </a:tc>
                <a:tc>
                  <a:txBody>
                    <a:bodyPr/>
                    <a:lstStyle/>
                    <a:p>
                      <a:pPr>
                        <a:defRPr sz="1300">
                          <a:solidFill>
                            <a:srgbClr val="1C2833"/>
                          </a:solidFill>
                          <a:latin typeface="Microsoft JhengHei"/>
                        </a:defRPr>
                      </a:pPr>
                      <a:r>
                        <a:t>KNN</a:t>
                      </a:r>
                    </a:p>
                  </a:txBody>
                  <a:tcPr>
                    <a:solidFill>
                      <a:srgbClr val="EBF5FB"/>
                    </a:solidFill>
                  </a:tcPr>
                </a:tc>
                <a:tc>
                  <a:txBody>
                    <a:bodyPr/>
                    <a:lstStyle/>
                    <a:p>
                      <a:pPr>
                        <a:defRPr sz="1300">
                          <a:solidFill>
                            <a:srgbClr val="1C2833"/>
                          </a:solidFill>
                          <a:latin typeface="Microsoft JhengHei"/>
                        </a:defRPr>
                      </a:pPr>
                      <a:r>
                        <a:t>Selected (8 feat.)</a:t>
                      </a:r>
                    </a:p>
                  </a:txBody>
                  <a:tcPr>
                    <a:solidFill>
                      <a:srgbClr val="EBF5FB"/>
                    </a:solidFill>
                  </a:tcPr>
                </a:tc>
                <a:tc>
                  <a:txBody>
                    <a:bodyPr/>
                    <a:lstStyle/>
                    <a:p>
                      <a:pPr>
                        <a:defRPr sz="1300">
                          <a:solidFill>
                            <a:srgbClr val="1C2833"/>
                          </a:solidFill>
                          <a:latin typeface="Microsoft JhengHei"/>
                        </a:defRPr>
                      </a:pPr>
                      <a:r>
                        <a:t>0.872</a:t>
                      </a:r>
                    </a:p>
                  </a:txBody>
                  <a:tcPr>
                    <a:solidFill>
                      <a:srgbClr val="EBF5FB"/>
                    </a:solidFill>
                  </a:tcPr>
                </a:tc>
                <a:extLst>
                  <a:ext uri="{0D108BD9-81ED-4DB2-BD59-A6C34878D82A}">
                    <a16:rowId xmlns:a16="http://schemas.microsoft.com/office/drawing/2014/main" val="10006"/>
                  </a:ext>
                </a:extLst>
              </a:tr>
            </a:tbl>
          </a:graphicData>
        </a:graphic>
      </p:graphicFrame>
      <p:sp>
        <p:nvSpPr>
          <p:cNvPr id="8" name="Rectangle 7"/>
          <p:cNvSpPr/>
          <p:nvPr/>
        </p:nvSpPr>
        <p:spPr>
          <a:xfrm>
            <a:off x="6583680" y="1280160"/>
            <a:ext cx="5120640" cy="4800600"/>
          </a:xfrm>
          <a:prstGeom prst="rect">
            <a:avLst/>
          </a:prstGeom>
          <a:solidFill>
            <a:srgbClr val="FD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583680" y="1280160"/>
            <a:ext cx="64008" cy="480060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903720" y="1417319"/>
            <a:ext cx="4663440" cy="457200"/>
          </a:xfrm>
          <a:prstGeom prst="rect">
            <a:avLst/>
          </a:prstGeom>
          <a:noFill/>
        </p:spPr>
        <p:txBody>
          <a:bodyPr wrap="square" anchor="t">
            <a:spAutoFit/>
          </a:bodyPr>
          <a:lstStyle/>
          <a:p>
            <a:pPr algn="l">
              <a:defRPr sz="1800" b="1">
                <a:solidFill>
                  <a:srgbClr val="E74C3C"/>
                </a:solidFill>
                <a:latin typeface="Microsoft JhengHei"/>
              </a:defRPr>
            </a:pPr>
            <a:r>
              <a:t>Why These Results Were Not Final</a:t>
            </a:r>
          </a:p>
        </p:txBody>
      </p:sp>
      <p:sp>
        <p:nvSpPr>
          <p:cNvPr id="11" name="TextBox 10"/>
          <p:cNvSpPr txBox="1"/>
          <p:nvPr/>
        </p:nvSpPr>
        <p:spPr>
          <a:xfrm>
            <a:off x="6903720" y="1965960"/>
            <a:ext cx="4663440" cy="2821285"/>
          </a:xfrm>
          <a:prstGeom prst="rect">
            <a:avLst/>
          </a:prstGeom>
          <a:noFill/>
        </p:spPr>
        <p:txBody>
          <a:bodyPr wrap="square">
            <a:spAutoFit/>
          </a:bodyPr>
          <a:lstStyle/>
          <a:p>
            <a:pPr marL="285750" indent="-285750">
              <a:spcAft>
                <a:spcPts val="1000"/>
              </a:spcAft>
              <a:buFont typeface="Arial" panose="020B0604020202020204" pitchFamily="34" charset="0"/>
              <a:buChar char="•"/>
              <a:defRPr sz="1600">
                <a:solidFill>
                  <a:srgbClr val="1C2833"/>
                </a:solidFill>
                <a:latin typeface="Microsoft JhengHei"/>
              </a:defRPr>
            </a:pPr>
            <a:r>
              <a:t>Row-level CV ignores session structure — correlated measurements leak across folds</a:t>
            </a:r>
          </a:p>
          <a:p>
            <a:pPr marL="285750" indent="-285750">
              <a:spcAft>
                <a:spcPts val="1000"/>
              </a:spcAft>
              <a:buFont typeface="Arial" panose="020B0604020202020204" pitchFamily="34" charset="0"/>
              <a:buChar char="•"/>
              <a:defRPr sz="1600">
                <a:solidFill>
                  <a:srgbClr val="1C2833"/>
                </a:solidFill>
                <a:latin typeface="Microsoft JhengHei"/>
              </a:defRPr>
            </a:pPr>
            <a:r>
              <a:t>All initial R² values are likely inflated</a:t>
            </a:r>
          </a:p>
          <a:p>
            <a:pPr marL="285750" indent="-285750">
              <a:spcAft>
                <a:spcPts val="1000"/>
              </a:spcAft>
              <a:buFont typeface="Arial" panose="020B0604020202020204" pitchFamily="34" charset="0"/>
              <a:buChar char="•"/>
              <a:defRPr sz="1600">
                <a:solidFill>
                  <a:srgbClr val="1C2833"/>
                </a:solidFill>
                <a:latin typeface="Microsoft JhengHei"/>
              </a:defRPr>
            </a:pPr>
            <a:r>
              <a:t>Model selection on the same folds used for reporting → selection bias</a:t>
            </a:r>
          </a:p>
          <a:p>
            <a:pPr marL="285750" indent="-285750">
              <a:spcAft>
                <a:spcPts val="1000"/>
              </a:spcAft>
              <a:buFont typeface="Arial" panose="020B0604020202020204" pitchFamily="34" charset="0"/>
              <a:buChar char="•"/>
              <a:defRPr sz="1600">
                <a:solidFill>
                  <a:srgbClr val="1C2833"/>
                </a:solidFill>
                <a:latin typeface="Microsoft JhengHei"/>
              </a:defRPr>
            </a:pPr>
            <a:r>
              <a:t>Scatter-plot R² ≠ CV R² — easily misread in figures</a:t>
            </a:r>
          </a:p>
          <a:p>
            <a:pPr marL="285750" indent="-285750">
              <a:spcAft>
                <a:spcPts val="1000"/>
              </a:spcAft>
              <a:buFont typeface="Arial" panose="020B0604020202020204" pitchFamily="34" charset="0"/>
              <a:buChar char="•"/>
              <a:defRPr sz="1600">
                <a:solidFill>
                  <a:srgbClr val="1C2833"/>
                </a:solidFill>
                <a:latin typeface="Microsoft JhengHei"/>
              </a:defRPr>
            </a:pPr>
            <a:r>
              <a:t>Retained as exploratory benchmarks only — not final evidence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1064240" cy="621792"/>
          </a:xfrm>
          <a:prstGeom prst="rect">
            <a:avLst/>
          </a:prstGeom>
          <a:noFill/>
        </p:spPr>
        <p:txBody>
          <a:bodyPr wrap="square" anchor="t">
            <a:spAutoFit/>
          </a:bodyPr>
          <a:lstStyle/>
          <a:p>
            <a:pPr algn="l">
              <a:defRPr sz="2800" b="1">
                <a:solidFill>
                  <a:srgbClr val="1C2833"/>
                </a:solidFill>
                <a:latin typeface="Microsoft JhengHei"/>
              </a:defRPr>
            </a:pPr>
            <a:r>
              <a:t>Key Issue: Session-Level Data Leakage</a:t>
            </a:r>
          </a:p>
        </p:txBody>
      </p:sp>
      <p:sp>
        <p:nvSpPr>
          <p:cNvPr id="4" name="TextBox 3"/>
          <p:cNvSpPr txBox="1"/>
          <p:nvPr/>
        </p:nvSpPr>
        <p:spPr>
          <a:xfrm>
            <a:off x="548640" y="795528"/>
            <a:ext cx="11064240" cy="329184"/>
          </a:xfrm>
          <a:prstGeom prst="rect">
            <a:avLst/>
          </a:prstGeom>
          <a:noFill/>
        </p:spPr>
        <p:txBody>
          <a:bodyPr wrap="square" anchor="t">
            <a:spAutoFit/>
          </a:bodyPr>
          <a:lstStyle/>
          <a:p>
            <a:pPr algn="l">
              <a:defRPr sz="1300" b="0">
                <a:solidFill>
                  <a:srgbClr val="566573"/>
                </a:solidFill>
                <a:latin typeface="Microsoft JhengHei"/>
              </a:defRPr>
            </a:pPr>
            <a:r>
              <a:t>Why row-level splitting is unsafe for repeated HD measurements</a:t>
            </a:r>
          </a:p>
        </p:txBody>
      </p:sp>
      <p:sp>
        <p:nvSpPr>
          <p:cNvPr id="5" name="Rectangle 4"/>
          <p:cNvSpPr/>
          <p:nvPr/>
        </p:nvSpPr>
        <p:spPr>
          <a:xfrm>
            <a:off x="548640" y="1143000"/>
            <a:ext cx="11064240" cy="1371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280160"/>
            <a:ext cx="5394960" cy="4983480"/>
          </a:xfrm>
          <a:prstGeom prst="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371600"/>
            <a:ext cx="4846320" cy="457200"/>
          </a:xfrm>
          <a:prstGeom prst="rect">
            <a:avLst/>
          </a:prstGeom>
          <a:noFill/>
        </p:spPr>
        <p:txBody>
          <a:bodyPr wrap="square" anchor="t">
            <a:spAutoFit/>
          </a:bodyPr>
          <a:lstStyle/>
          <a:p>
            <a:pPr algn="l">
              <a:defRPr sz="1800" b="1">
                <a:solidFill>
                  <a:srgbClr val="E74C3C"/>
                </a:solidFill>
                <a:latin typeface="Microsoft JhengHei"/>
              </a:defRPr>
            </a:pPr>
            <a:r>
              <a:t>WRONG: Row-Level Splitting</a:t>
            </a:r>
          </a:p>
        </p:txBody>
      </p:sp>
      <p:sp>
        <p:nvSpPr>
          <p:cNvPr id="8" name="TextBox 7"/>
          <p:cNvSpPr txBox="1"/>
          <p:nvPr/>
        </p:nvSpPr>
        <p:spPr>
          <a:xfrm>
            <a:off x="640080" y="1920239"/>
            <a:ext cx="4846320" cy="2923877"/>
          </a:xfrm>
          <a:prstGeom prst="rect">
            <a:avLst/>
          </a:prstGeom>
          <a:noFill/>
        </p:spPr>
        <p:txBody>
          <a:bodyPr wrap="square">
            <a:spAutoFit/>
          </a:bodyPr>
          <a:lstStyle/>
          <a:p>
            <a:pPr marL="285750" indent="-285750">
              <a:spcAft>
                <a:spcPts val="1200"/>
              </a:spcAft>
              <a:buFont typeface="Arial" panose="020B0604020202020204" pitchFamily="34" charset="0"/>
              <a:buChar char="•"/>
              <a:defRPr sz="1600">
                <a:solidFill>
                  <a:srgbClr val="1C2833"/>
                </a:solidFill>
                <a:latin typeface="Microsoft JhengHei"/>
              </a:defRPr>
            </a:pPr>
            <a:r>
              <a:rPr dirty="0"/>
              <a:t>Session A: rows 1–5, measured every 15 min</a:t>
            </a:r>
          </a:p>
          <a:p>
            <a:pPr marL="285750" indent="-285750">
              <a:spcAft>
                <a:spcPts val="1200"/>
              </a:spcAft>
              <a:buFont typeface="Arial" panose="020B0604020202020204" pitchFamily="34" charset="0"/>
              <a:buChar char="•"/>
              <a:defRPr sz="1600">
                <a:solidFill>
                  <a:srgbClr val="1C2833"/>
                </a:solidFill>
                <a:latin typeface="Microsoft JhengHei"/>
              </a:defRPr>
            </a:pPr>
            <a:r>
              <a:rPr dirty="0"/>
              <a:t>Row-level CV puts rows 1,3,5 in train; rows 2,4 in test</a:t>
            </a:r>
          </a:p>
          <a:p>
            <a:pPr marL="285750" indent="-285750">
              <a:spcAft>
                <a:spcPts val="1200"/>
              </a:spcAft>
              <a:buFont typeface="Arial" panose="020B0604020202020204" pitchFamily="34" charset="0"/>
              <a:buChar char="•"/>
              <a:defRPr sz="1600">
                <a:solidFill>
                  <a:srgbClr val="1C2833"/>
                </a:solidFill>
                <a:latin typeface="Microsoft JhengHei"/>
              </a:defRPr>
            </a:pPr>
            <a:r>
              <a:rPr dirty="0"/>
              <a:t>Same-session rows are highly correlated — same patient, same day</a:t>
            </a:r>
          </a:p>
          <a:p>
            <a:pPr marL="285750" indent="-285750">
              <a:spcAft>
                <a:spcPts val="1200"/>
              </a:spcAft>
              <a:buFont typeface="Arial" panose="020B0604020202020204" pitchFamily="34" charset="0"/>
              <a:buChar char="•"/>
              <a:defRPr sz="1600">
                <a:solidFill>
                  <a:srgbClr val="1C2833"/>
                </a:solidFill>
                <a:latin typeface="Microsoft JhengHei"/>
              </a:defRPr>
            </a:pPr>
            <a:r>
              <a:rPr dirty="0"/>
              <a:t>Correlated data leaks into test fold → inflated performance</a:t>
            </a:r>
          </a:p>
          <a:p>
            <a:pPr marL="285750" indent="-285750">
              <a:spcAft>
                <a:spcPts val="1200"/>
              </a:spcAft>
              <a:buFont typeface="Arial" panose="020B0604020202020204" pitchFamily="34" charset="0"/>
              <a:buChar char="•"/>
              <a:defRPr sz="1600">
                <a:solidFill>
                  <a:srgbClr val="1C2833"/>
                </a:solidFill>
                <a:latin typeface="Microsoft JhengHei"/>
              </a:defRPr>
            </a:pPr>
            <a:r>
              <a:rPr dirty="0"/>
              <a:t>This is the approach used in the senior’s paper</a:t>
            </a:r>
          </a:p>
        </p:txBody>
      </p:sp>
      <p:sp>
        <p:nvSpPr>
          <p:cNvPr id="9" name="Rectangle 8"/>
          <p:cNvSpPr/>
          <p:nvPr/>
        </p:nvSpPr>
        <p:spPr>
          <a:xfrm>
            <a:off x="6400800" y="1280160"/>
            <a:ext cx="5394960" cy="4983480"/>
          </a:xfrm>
          <a:prstGeom prst="rect">
            <a:avLst/>
          </a:prstGeom>
          <a:solidFill>
            <a:srgbClr val="EAFA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75120" y="1371600"/>
            <a:ext cx="4846320" cy="457200"/>
          </a:xfrm>
          <a:prstGeom prst="rect">
            <a:avLst/>
          </a:prstGeom>
          <a:noFill/>
        </p:spPr>
        <p:txBody>
          <a:bodyPr wrap="square" anchor="t">
            <a:spAutoFit/>
          </a:bodyPr>
          <a:lstStyle/>
          <a:p>
            <a:pPr algn="l">
              <a:defRPr sz="1800" b="1">
                <a:solidFill>
                  <a:srgbClr val="27AE60"/>
                </a:solidFill>
                <a:latin typeface="Microsoft JhengHei"/>
              </a:defRPr>
            </a:pPr>
            <a:r>
              <a:t>CORRECT: Session-Level Splitting</a:t>
            </a:r>
          </a:p>
        </p:txBody>
      </p:sp>
      <p:sp>
        <p:nvSpPr>
          <p:cNvPr id="11" name="TextBox 10"/>
          <p:cNvSpPr txBox="1"/>
          <p:nvPr/>
        </p:nvSpPr>
        <p:spPr>
          <a:xfrm>
            <a:off x="6675120" y="1920239"/>
            <a:ext cx="4846320" cy="2923877"/>
          </a:xfrm>
          <a:prstGeom prst="rect">
            <a:avLst/>
          </a:prstGeom>
          <a:noFill/>
        </p:spPr>
        <p:txBody>
          <a:bodyPr wrap="square">
            <a:spAutoFit/>
          </a:bodyPr>
          <a:lstStyle/>
          <a:p>
            <a:pPr marL="285750" indent="-285750">
              <a:spcAft>
                <a:spcPts val="1200"/>
              </a:spcAft>
              <a:buFont typeface="Arial" panose="020B0604020202020204" pitchFamily="34" charset="0"/>
              <a:buChar char="•"/>
              <a:defRPr sz="1600">
                <a:solidFill>
                  <a:srgbClr val="1C2833"/>
                </a:solidFill>
                <a:latin typeface="Microsoft JhengHei"/>
              </a:defRPr>
            </a:pPr>
            <a:r>
              <a:t>All rows from one session stay together in the same fold</a:t>
            </a:r>
          </a:p>
          <a:p>
            <a:pPr marL="285750" indent="-285750">
              <a:spcAft>
                <a:spcPts val="1200"/>
              </a:spcAft>
              <a:buFont typeface="Arial" panose="020B0604020202020204" pitchFamily="34" charset="0"/>
              <a:buChar char="•"/>
              <a:defRPr sz="1600">
                <a:solidFill>
                  <a:srgbClr val="1C2833"/>
                </a:solidFill>
                <a:latin typeface="Microsoft JhengHei"/>
              </a:defRPr>
            </a:pPr>
            <a:r>
              <a:t>GroupKFold with session_id as grouping variable</a:t>
            </a:r>
          </a:p>
          <a:p>
            <a:pPr marL="285750" indent="-285750">
              <a:spcAft>
                <a:spcPts val="1200"/>
              </a:spcAft>
              <a:buFont typeface="Arial" panose="020B0604020202020204" pitchFamily="34" charset="0"/>
              <a:buChar char="•"/>
              <a:defRPr sz="1600">
                <a:solidFill>
                  <a:srgbClr val="1C2833"/>
                </a:solidFill>
                <a:latin typeface="Microsoft JhengHei"/>
              </a:defRPr>
            </a:pPr>
            <a:r>
              <a:t>Train sessions never appear in test folds</a:t>
            </a:r>
          </a:p>
          <a:p>
            <a:pPr marL="285750" indent="-285750">
              <a:spcAft>
                <a:spcPts val="1200"/>
              </a:spcAft>
              <a:buFont typeface="Arial" panose="020B0604020202020204" pitchFamily="34" charset="0"/>
              <a:buChar char="•"/>
              <a:defRPr sz="1600">
                <a:solidFill>
                  <a:srgbClr val="1C2833"/>
                </a:solidFill>
                <a:latin typeface="Microsoft JhengHei"/>
              </a:defRPr>
            </a:pPr>
            <a:r>
              <a:t>More conservative — but honest — performance estimates</a:t>
            </a:r>
          </a:p>
          <a:p>
            <a:pPr marL="285750" indent="-285750">
              <a:spcAft>
                <a:spcPts val="1200"/>
              </a:spcAft>
              <a:buFont typeface="Arial" panose="020B0604020202020204" pitchFamily="34" charset="0"/>
              <a:buChar char="•"/>
              <a:defRPr sz="1600">
                <a:solidFill>
                  <a:srgbClr val="1C2833"/>
                </a:solidFill>
                <a:latin typeface="Microsoft JhengHei"/>
              </a:defRPr>
            </a:pPr>
            <a:r>
              <a:t>This is what my corrected pipeline implements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1064240" cy="621792"/>
          </a:xfrm>
          <a:prstGeom prst="rect">
            <a:avLst/>
          </a:prstGeom>
          <a:noFill/>
        </p:spPr>
        <p:txBody>
          <a:bodyPr wrap="square" anchor="t">
            <a:spAutoFit/>
          </a:bodyPr>
          <a:lstStyle/>
          <a:p>
            <a:pPr algn="l">
              <a:defRPr sz="2800" b="1">
                <a:solidFill>
                  <a:srgbClr val="1C2833"/>
                </a:solidFill>
                <a:latin typeface="Microsoft JhengHei"/>
              </a:defRPr>
            </a:pPr>
            <a:r>
              <a:t>Corrected Evaluation Protocol: GroupKFold Cross-Validation</a:t>
            </a:r>
          </a:p>
        </p:txBody>
      </p:sp>
      <p:sp>
        <p:nvSpPr>
          <p:cNvPr id="4" name="TextBox 3"/>
          <p:cNvSpPr txBox="1"/>
          <p:nvPr/>
        </p:nvSpPr>
        <p:spPr>
          <a:xfrm>
            <a:off x="548640" y="795528"/>
            <a:ext cx="11064240" cy="329184"/>
          </a:xfrm>
          <a:prstGeom prst="rect">
            <a:avLst/>
          </a:prstGeom>
          <a:noFill/>
        </p:spPr>
        <p:txBody>
          <a:bodyPr wrap="square" anchor="t">
            <a:spAutoFit/>
          </a:bodyPr>
          <a:lstStyle/>
          <a:p>
            <a:pPr algn="l">
              <a:defRPr sz="1300" b="0">
                <a:solidFill>
                  <a:srgbClr val="566573"/>
                </a:solidFill>
                <a:latin typeface="Microsoft JhengHei"/>
              </a:defRPr>
            </a:pPr>
            <a:r>
              <a:t>Session-level grouped CV — every session participates as test once</a:t>
            </a:r>
          </a:p>
        </p:txBody>
      </p:sp>
      <p:sp>
        <p:nvSpPr>
          <p:cNvPr id="5" name="Rectangle 4"/>
          <p:cNvSpPr/>
          <p:nvPr/>
        </p:nvSpPr>
        <p:spPr>
          <a:xfrm>
            <a:off x="548640" y="1143000"/>
            <a:ext cx="11064240" cy="1371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280160"/>
            <a:ext cx="3611880" cy="379476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389888"/>
            <a:ext cx="3611880" cy="365760"/>
          </a:xfrm>
          <a:prstGeom prst="rect">
            <a:avLst/>
          </a:prstGeom>
          <a:noFill/>
        </p:spPr>
        <p:txBody>
          <a:bodyPr wrap="square" anchor="t">
            <a:spAutoFit/>
          </a:bodyPr>
          <a:lstStyle/>
          <a:p>
            <a:pPr algn="ctr">
              <a:defRPr sz="1600" b="1">
                <a:solidFill>
                  <a:srgbClr val="FFFFFF"/>
                </a:solidFill>
                <a:latin typeface="Microsoft JhengHei"/>
              </a:defRPr>
            </a:pPr>
            <a:r>
              <a:t>STEP 1</a:t>
            </a:r>
          </a:p>
        </p:txBody>
      </p:sp>
      <p:sp>
        <p:nvSpPr>
          <p:cNvPr id="8" name="TextBox 7"/>
          <p:cNvSpPr txBox="1"/>
          <p:nvPr/>
        </p:nvSpPr>
        <p:spPr>
          <a:xfrm>
            <a:off x="457200" y="1792224"/>
            <a:ext cx="3611880" cy="658368"/>
          </a:xfrm>
          <a:prstGeom prst="rect">
            <a:avLst/>
          </a:prstGeom>
          <a:noFill/>
        </p:spPr>
        <p:txBody>
          <a:bodyPr wrap="square" anchor="t">
            <a:spAutoFit/>
          </a:bodyPr>
          <a:lstStyle/>
          <a:p>
            <a:pPr algn="ctr">
              <a:defRPr sz="2000" b="1">
                <a:solidFill>
                  <a:srgbClr val="FFFFFF"/>
                </a:solidFill>
                <a:latin typeface="Microsoft JhengHei"/>
              </a:defRPr>
            </a:pPr>
            <a:r>
              <a:t>Group Sessions</a:t>
            </a:r>
            <a:br/>
            <a:r>
              <a:t>by Session ID</a:t>
            </a:r>
          </a:p>
        </p:txBody>
      </p:sp>
      <p:sp>
        <p:nvSpPr>
          <p:cNvPr id="9" name="Rectangle 8"/>
          <p:cNvSpPr/>
          <p:nvPr/>
        </p:nvSpPr>
        <p:spPr>
          <a:xfrm>
            <a:off x="777240" y="2514600"/>
            <a:ext cx="2971800" cy="182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670048"/>
            <a:ext cx="3246120" cy="2240280"/>
          </a:xfrm>
          <a:prstGeom prst="rect">
            <a:avLst/>
          </a:prstGeom>
          <a:noFill/>
        </p:spPr>
        <p:txBody>
          <a:bodyPr wrap="square" anchor="t">
            <a:spAutoFit/>
          </a:bodyPr>
          <a:lstStyle/>
          <a:p>
            <a:pPr algn="ctr">
              <a:defRPr sz="1500" b="0">
                <a:solidFill>
                  <a:srgbClr val="FFFFFF"/>
                </a:solidFill>
                <a:latin typeface="Microsoft JhengHei"/>
              </a:defRPr>
            </a:pPr>
            <a:r>
              <a:t>30 sessions assigned unique IDs</a:t>
            </a:r>
            <a:br/>
            <a:r>
              <a:t>All rows from same session</a:t>
            </a:r>
            <a:br/>
            <a:r>
              <a:t>kept in the same fold</a:t>
            </a:r>
            <a:br/>
            <a:r>
              <a:t>Prevents within-session leakage</a:t>
            </a:r>
          </a:p>
        </p:txBody>
      </p:sp>
      <p:sp>
        <p:nvSpPr>
          <p:cNvPr id="11" name="Right Arrow 10"/>
          <p:cNvSpPr/>
          <p:nvPr/>
        </p:nvSpPr>
        <p:spPr>
          <a:xfrm>
            <a:off x="4069080" y="2944368"/>
            <a:ext cx="274320" cy="274320"/>
          </a:xfrm>
          <a:prstGeom prst="rightArrow">
            <a:avLst/>
          </a:prstGeom>
          <a:solidFill>
            <a:srgbClr val="5665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43400" y="1280160"/>
            <a:ext cx="3611880" cy="37947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43400" y="1389888"/>
            <a:ext cx="3611880" cy="365760"/>
          </a:xfrm>
          <a:prstGeom prst="rect">
            <a:avLst/>
          </a:prstGeom>
          <a:noFill/>
        </p:spPr>
        <p:txBody>
          <a:bodyPr wrap="square" anchor="t">
            <a:spAutoFit/>
          </a:bodyPr>
          <a:lstStyle/>
          <a:p>
            <a:pPr algn="ctr">
              <a:defRPr sz="1600" b="1">
                <a:solidFill>
                  <a:srgbClr val="FFFFFF"/>
                </a:solidFill>
                <a:latin typeface="Microsoft JhengHei"/>
              </a:defRPr>
            </a:pPr>
            <a:r>
              <a:t>STEP 2</a:t>
            </a:r>
          </a:p>
        </p:txBody>
      </p:sp>
      <p:sp>
        <p:nvSpPr>
          <p:cNvPr id="14" name="TextBox 13"/>
          <p:cNvSpPr txBox="1"/>
          <p:nvPr/>
        </p:nvSpPr>
        <p:spPr>
          <a:xfrm>
            <a:off x="4343400" y="1792224"/>
            <a:ext cx="3611880" cy="658368"/>
          </a:xfrm>
          <a:prstGeom prst="rect">
            <a:avLst/>
          </a:prstGeom>
          <a:noFill/>
        </p:spPr>
        <p:txBody>
          <a:bodyPr wrap="square" anchor="t">
            <a:spAutoFit/>
          </a:bodyPr>
          <a:lstStyle/>
          <a:p>
            <a:pPr algn="ctr">
              <a:defRPr sz="2000" b="1">
                <a:solidFill>
                  <a:srgbClr val="FFFFFF"/>
                </a:solidFill>
                <a:latin typeface="Microsoft JhengHei"/>
              </a:defRPr>
            </a:pPr>
            <a:r>
              <a:t>5-Fold</a:t>
            </a:r>
            <a:br/>
            <a:r>
              <a:t>GroupKFold</a:t>
            </a:r>
          </a:p>
        </p:txBody>
      </p:sp>
      <p:sp>
        <p:nvSpPr>
          <p:cNvPr id="15" name="Rectangle 14"/>
          <p:cNvSpPr/>
          <p:nvPr/>
        </p:nvSpPr>
        <p:spPr>
          <a:xfrm>
            <a:off x="4663440" y="2514600"/>
            <a:ext cx="2971800" cy="182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26280" y="2670048"/>
            <a:ext cx="3246120" cy="2240280"/>
          </a:xfrm>
          <a:prstGeom prst="rect">
            <a:avLst/>
          </a:prstGeom>
          <a:noFill/>
        </p:spPr>
        <p:txBody>
          <a:bodyPr wrap="square" anchor="t">
            <a:spAutoFit/>
          </a:bodyPr>
          <a:lstStyle/>
          <a:p>
            <a:pPr algn="ctr">
              <a:defRPr sz="1500" b="0">
                <a:solidFill>
                  <a:srgbClr val="FFFFFF"/>
                </a:solidFill>
                <a:latin typeface="Microsoft JhengHei"/>
              </a:defRPr>
            </a:pPr>
            <a:r>
              <a:t>~24 sessions train / ~6 sessions test</a:t>
            </a:r>
            <a:br/>
            <a:r>
              <a:t>Each session appears as test</a:t>
            </a:r>
            <a:br/>
            <a:r>
              <a:t>exactly once across 5 folds</a:t>
            </a:r>
            <a:br/>
            <a:r>
              <a:t>All sessions evaluated fairly</a:t>
            </a:r>
          </a:p>
        </p:txBody>
      </p:sp>
      <p:sp>
        <p:nvSpPr>
          <p:cNvPr id="17" name="Right Arrow 16"/>
          <p:cNvSpPr/>
          <p:nvPr/>
        </p:nvSpPr>
        <p:spPr>
          <a:xfrm>
            <a:off x="7955279" y="2944368"/>
            <a:ext cx="274320" cy="274320"/>
          </a:xfrm>
          <a:prstGeom prst="rightArrow">
            <a:avLst/>
          </a:prstGeom>
          <a:solidFill>
            <a:srgbClr val="5665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29600" y="1280160"/>
            <a:ext cx="3611880" cy="379476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0" y="1389888"/>
            <a:ext cx="3611880" cy="365760"/>
          </a:xfrm>
          <a:prstGeom prst="rect">
            <a:avLst/>
          </a:prstGeom>
          <a:noFill/>
        </p:spPr>
        <p:txBody>
          <a:bodyPr wrap="square" anchor="t">
            <a:spAutoFit/>
          </a:bodyPr>
          <a:lstStyle/>
          <a:p>
            <a:pPr algn="ctr">
              <a:defRPr sz="1600" b="1">
                <a:solidFill>
                  <a:srgbClr val="1C2833"/>
                </a:solidFill>
                <a:latin typeface="Microsoft JhengHei"/>
              </a:defRPr>
            </a:pPr>
            <a:r>
              <a:t>STEP 3</a:t>
            </a:r>
          </a:p>
        </p:txBody>
      </p:sp>
      <p:sp>
        <p:nvSpPr>
          <p:cNvPr id="20" name="TextBox 19"/>
          <p:cNvSpPr txBox="1"/>
          <p:nvPr/>
        </p:nvSpPr>
        <p:spPr>
          <a:xfrm>
            <a:off x="8229600" y="1792224"/>
            <a:ext cx="3611880" cy="658368"/>
          </a:xfrm>
          <a:prstGeom prst="rect">
            <a:avLst/>
          </a:prstGeom>
          <a:noFill/>
        </p:spPr>
        <p:txBody>
          <a:bodyPr wrap="square" anchor="t">
            <a:spAutoFit/>
          </a:bodyPr>
          <a:lstStyle/>
          <a:p>
            <a:pPr algn="ctr">
              <a:defRPr sz="2000" b="1">
                <a:solidFill>
                  <a:srgbClr val="1C2833"/>
                </a:solidFill>
                <a:latin typeface="Microsoft JhengHei"/>
              </a:defRPr>
            </a:pPr>
            <a:r>
              <a:t>Consistent</a:t>
            </a:r>
            <a:br/>
            <a:r>
              <a:t>Best-Model Selection</a:t>
            </a:r>
          </a:p>
        </p:txBody>
      </p:sp>
      <p:sp>
        <p:nvSpPr>
          <p:cNvPr id="21" name="Rectangle 20"/>
          <p:cNvSpPr/>
          <p:nvPr/>
        </p:nvSpPr>
        <p:spPr>
          <a:xfrm>
            <a:off x="8549640" y="2514600"/>
            <a:ext cx="2971800" cy="18288"/>
          </a:xfrm>
          <a:prstGeom prst="rect">
            <a:avLst/>
          </a:prstGeom>
          <a:solidFill>
            <a:srgbClr val="1C2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80" y="2670048"/>
            <a:ext cx="3246120" cy="2240280"/>
          </a:xfrm>
          <a:prstGeom prst="rect">
            <a:avLst/>
          </a:prstGeom>
          <a:noFill/>
        </p:spPr>
        <p:txBody>
          <a:bodyPr wrap="square" anchor="t">
            <a:spAutoFit/>
          </a:bodyPr>
          <a:lstStyle/>
          <a:p>
            <a:pPr algn="ctr">
              <a:defRPr sz="1500" b="0">
                <a:solidFill>
                  <a:srgbClr val="1C2833"/>
                </a:solidFill>
                <a:latin typeface="Microsoft JhengHei"/>
              </a:defRPr>
            </a:pPr>
            <a:r>
              <a:t>Best model per toxin selected</a:t>
            </a:r>
            <a:br/>
            <a:r>
              <a:t>by maximum mean R² across folds</a:t>
            </a:r>
            <a:br/>
            <a:r>
              <a:t>Same model used for all folds</a:t>
            </a:r>
            <a:br/>
            <a:r>
              <a:t>No per-fold cherry-picking</a:t>
            </a:r>
          </a:p>
        </p:txBody>
      </p:sp>
      <p:sp>
        <p:nvSpPr>
          <p:cNvPr id="23" name="Rectangle 22"/>
          <p:cNvSpPr/>
          <p:nvPr/>
        </p:nvSpPr>
        <p:spPr>
          <a:xfrm>
            <a:off x="457200" y="5257800"/>
            <a:ext cx="11247120" cy="1234440"/>
          </a:xfrm>
          <a:prstGeom prst="rect">
            <a:avLst/>
          </a:prstGeom>
          <a:solidFill>
            <a:srgbClr val="0A2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 y="5349240"/>
            <a:ext cx="10515600" cy="365760"/>
          </a:xfrm>
          <a:prstGeom prst="rect">
            <a:avLst/>
          </a:prstGeom>
          <a:noFill/>
        </p:spPr>
        <p:txBody>
          <a:bodyPr wrap="square" anchor="t">
            <a:spAutoFit/>
          </a:bodyPr>
          <a:lstStyle/>
          <a:p>
            <a:pPr algn="l">
              <a:defRPr sz="1800" b="1">
                <a:solidFill>
                  <a:srgbClr val="2E86C1"/>
                </a:solidFill>
                <a:latin typeface="Microsoft JhengHei"/>
              </a:defRPr>
            </a:pPr>
            <a:r>
              <a:t>Key Principle</a:t>
            </a:r>
          </a:p>
        </p:txBody>
      </p:sp>
      <p:sp>
        <p:nvSpPr>
          <p:cNvPr id="25" name="TextBox 24"/>
          <p:cNvSpPr txBox="1"/>
          <p:nvPr/>
        </p:nvSpPr>
        <p:spPr>
          <a:xfrm>
            <a:off x="822960" y="5760720"/>
            <a:ext cx="10515600" cy="621792"/>
          </a:xfrm>
          <a:prstGeom prst="rect">
            <a:avLst/>
          </a:prstGeom>
          <a:noFill/>
        </p:spPr>
        <p:txBody>
          <a:bodyPr wrap="square" anchor="t">
            <a:spAutoFit/>
          </a:bodyPr>
          <a:lstStyle/>
          <a:p>
            <a:pPr algn="l">
              <a:defRPr sz="1600" b="0">
                <a:solidFill>
                  <a:srgbClr val="FFFFFF"/>
                </a:solidFill>
                <a:latin typeface="Microsoft JhengHei"/>
              </a:defRPr>
            </a:pPr>
            <a:r>
              <a:t>GroupKFold ensures each unseen session is predicted by a model that never saw it during training — honest generalization evidence.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1064240" cy="621792"/>
          </a:xfrm>
          <a:prstGeom prst="rect">
            <a:avLst/>
          </a:prstGeom>
          <a:noFill/>
        </p:spPr>
        <p:txBody>
          <a:bodyPr wrap="square" anchor="t">
            <a:spAutoFit/>
          </a:bodyPr>
          <a:lstStyle/>
          <a:p>
            <a:pPr algn="l">
              <a:defRPr sz="2800" b="1">
                <a:solidFill>
                  <a:srgbClr val="1C2833"/>
                </a:solidFill>
                <a:latin typeface="Microsoft JhengHei"/>
              </a:defRPr>
            </a:pPr>
            <a:r>
              <a:t>Model Selection: Grouped CV Best Results</a:t>
            </a:r>
          </a:p>
        </p:txBody>
      </p:sp>
      <p:sp>
        <p:nvSpPr>
          <p:cNvPr id="4" name="TextBox 3"/>
          <p:cNvSpPr txBox="1"/>
          <p:nvPr/>
        </p:nvSpPr>
        <p:spPr>
          <a:xfrm>
            <a:off x="548640" y="795528"/>
            <a:ext cx="11064240" cy="329184"/>
          </a:xfrm>
          <a:prstGeom prst="rect">
            <a:avLst/>
          </a:prstGeom>
          <a:noFill/>
        </p:spPr>
        <p:txBody>
          <a:bodyPr wrap="square" anchor="t">
            <a:spAutoFit/>
          </a:bodyPr>
          <a:lstStyle/>
          <a:p>
            <a:pPr algn="l">
              <a:defRPr sz="1300" b="0">
                <a:solidFill>
                  <a:srgbClr val="566573"/>
                </a:solidFill>
                <a:latin typeface="Microsoft JhengHei"/>
              </a:defRPr>
            </a:pPr>
            <a:r>
              <a:t>Best model per toxin selected by maximum mean R² across GroupKFold folds</a:t>
            </a:r>
          </a:p>
        </p:txBody>
      </p:sp>
      <p:sp>
        <p:nvSpPr>
          <p:cNvPr id="5" name="Rectangle 4"/>
          <p:cNvSpPr/>
          <p:nvPr/>
        </p:nvSpPr>
        <p:spPr>
          <a:xfrm>
            <a:off x="548640" y="1143000"/>
            <a:ext cx="11064240" cy="1371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548640" y="1280160"/>
          <a:ext cx="11064240" cy="32004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tblGrid>
              <a:tr h="457200">
                <a:tc>
                  <a:txBody>
                    <a:bodyPr/>
                    <a:lstStyle/>
                    <a:p>
                      <a:pPr>
                        <a:defRPr sz="1400" b="1">
                          <a:solidFill>
                            <a:srgbClr val="FFFFFF"/>
                          </a:solidFill>
                          <a:latin typeface="Microsoft JhengHei"/>
                        </a:defRPr>
                      </a:pPr>
                      <a:r>
                        <a:t>Target</a:t>
                      </a:r>
                    </a:p>
                  </a:txBody>
                  <a:tcPr>
                    <a:solidFill>
                      <a:srgbClr val="0A2342"/>
                    </a:solidFill>
                  </a:tcPr>
                </a:tc>
                <a:tc>
                  <a:txBody>
                    <a:bodyPr/>
                    <a:lstStyle/>
                    <a:p>
                      <a:pPr>
                        <a:defRPr sz="1400" b="1">
                          <a:solidFill>
                            <a:srgbClr val="FFFFFF"/>
                          </a:solidFill>
                          <a:latin typeface="Microsoft JhengHei"/>
                        </a:defRPr>
                      </a:pPr>
                      <a:r>
                        <a:t>Best Model</a:t>
                      </a:r>
                    </a:p>
                  </a:txBody>
                  <a:tcPr>
                    <a:solidFill>
                      <a:srgbClr val="0A2342"/>
                    </a:solidFill>
                  </a:tcPr>
                </a:tc>
                <a:tc>
                  <a:txBody>
                    <a:bodyPr/>
                    <a:lstStyle/>
                    <a:p>
                      <a:pPr>
                        <a:defRPr sz="1400" b="1">
                          <a:solidFill>
                            <a:srgbClr val="FFFFFF"/>
                          </a:solidFill>
                          <a:latin typeface="Microsoft JhengHei"/>
                        </a:defRPr>
                      </a:pPr>
                      <a:r>
                        <a:t>Feature Set</a:t>
                      </a:r>
                    </a:p>
                  </a:txBody>
                  <a:tcPr>
                    <a:solidFill>
                      <a:srgbClr val="0A2342"/>
                    </a:solidFill>
                  </a:tcPr>
                </a:tc>
                <a:tc>
                  <a:txBody>
                    <a:bodyPr/>
                    <a:lstStyle/>
                    <a:p>
                      <a:pPr>
                        <a:defRPr sz="1400" b="1">
                          <a:solidFill>
                            <a:srgbClr val="FFFFFF"/>
                          </a:solidFill>
                          <a:latin typeface="Microsoft JhengHei"/>
                        </a:defRPr>
                      </a:pPr>
                      <a:r>
                        <a:t>Grouped CV R²</a:t>
                      </a:r>
                    </a:p>
                  </a:txBody>
                  <a:tcPr>
                    <a:solidFill>
                      <a:srgbClr val="0A2342"/>
                    </a:solidFill>
                  </a:tcPr>
                </a:tc>
                <a:extLst>
                  <a:ext uri="{0D108BD9-81ED-4DB2-BD59-A6C34878D82A}">
                    <a16:rowId xmlns:a16="http://schemas.microsoft.com/office/drawing/2014/main" val="10000"/>
                  </a:ext>
                </a:extLst>
              </a:tr>
              <a:tr h="457200">
                <a:tc>
                  <a:txBody>
                    <a:bodyPr/>
                    <a:lstStyle/>
                    <a:p>
                      <a:pPr>
                        <a:defRPr sz="1400">
                          <a:solidFill>
                            <a:srgbClr val="1C2833"/>
                          </a:solidFill>
                          <a:latin typeface="Microsoft JhengHei"/>
                        </a:defRPr>
                      </a:pPr>
                      <a:r>
                        <a:t>Urea</a:t>
                      </a:r>
                    </a:p>
                  </a:txBody>
                  <a:tcPr>
                    <a:solidFill>
                      <a:srgbClr val="FFFFFF"/>
                    </a:solidFill>
                  </a:tcPr>
                </a:tc>
                <a:tc>
                  <a:txBody>
                    <a:bodyPr/>
                    <a:lstStyle/>
                    <a:p>
                      <a:pPr>
                        <a:defRPr sz="1400">
                          <a:solidFill>
                            <a:srgbClr val="1C2833"/>
                          </a:solidFill>
                          <a:latin typeface="Microsoft JhengHei"/>
                        </a:defRPr>
                      </a:pPr>
                      <a:r>
                        <a:t>SVR (rbf)</a:t>
                      </a:r>
                    </a:p>
                  </a:txBody>
                  <a:tcPr>
                    <a:solidFill>
                      <a:srgbClr val="FFFFFF"/>
                    </a:solidFill>
                  </a:tcPr>
                </a:tc>
                <a:tc>
                  <a:txBody>
                    <a:bodyPr/>
                    <a:lstStyle/>
                    <a:p>
                      <a:pPr>
                        <a:defRPr sz="1400">
                          <a:solidFill>
                            <a:srgbClr val="1C2833"/>
                          </a:solidFill>
                          <a:latin typeface="Microsoft JhengHei"/>
                        </a:defRPr>
                      </a:pPr>
                      <a:r>
                        <a:t>Abs + Machine + Personal</a:t>
                      </a:r>
                    </a:p>
                  </a:txBody>
                  <a:tcPr>
                    <a:solidFill>
                      <a:srgbClr val="FFFFFF"/>
                    </a:solidFill>
                  </a:tcPr>
                </a:tc>
                <a:tc>
                  <a:txBody>
                    <a:bodyPr/>
                    <a:lstStyle/>
                    <a:p>
                      <a:pPr algn="ctr">
                        <a:defRPr sz="1400" b="1">
                          <a:solidFill>
                            <a:srgbClr val="1C2833"/>
                          </a:solidFill>
                          <a:latin typeface="Microsoft JhengHei"/>
                        </a:defRPr>
                      </a:pPr>
                      <a:r>
                        <a:t>0.745</a:t>
                      </a:r>
                    </a:p>
                  </a:txBody>
                  <a:tcPr>
                    <a:solidFill>
                      <a:srgbClr val="FFFFFF"/>
                    </a:solidFill>
                  </a:tcPr>
                </a:tc>
                <a:extLst>
                  <a:ext uri="{0D108BD9-81ED-4DB2-BD59-A6C34878D82A}">
                    <a16:rowId xmlns:a16="http://schemas.microsoft.com/office/drawing/2014/main" val="10001"/>
                  </a:ext>
                </a:extLst>
              </a:tr>
              <a:tr h="457200">
                <a:tc>
                  <a:txBody>
                    <a:bodyPr/>
                    <a:lstStyle/>
                    <a:p>
                      <a:pPr>
                        <a:defRPr sz="1400">
                          <a:solidFill>
                            <a:srgbClr val="1C2833"/>
                          </a:solidFill>
                          <a:latin typeface="Microsoft JhengHei"/>
                        </a:defRPr>
                      </a:pPr>
                      <a:r>
                        <a:t>Creatinine</a:t>
                      </a:r>
                    </a:p>
                  </a:txBody>
                  <a:tcPr>
                    <a:solidFill>
                      <a:srgbClr val="EBF5FB"/>
                    </a:solidFill>
                  </a:tcPr>
                </a:tc>
                <a:tc>
                  <a:txBody>
                    <a:bodyPr/>
                    <a:lstStyle/>
                    <a:p>
                      <a:pPr>
                        <a:defRPr sz="1400">
                          <a:solidFill>
                            <a:srgbClr val="1C2833"/>
                          </a:solidFill>
                          <a:latin typeface="Microsoft JhengHei"/>
                        </a:defRPr>
                      </a:pPr>
                      <a:r>
                        <a:t>SVR (rbf)</a:t>
                      </a:r>
                    </a:p>
                  </a:txBody>
                  <a:tcPr>
                    <a:solidFill>
                      <a:srgbClr val="EBF5FB"/>
                    </a:solidFill>
                  </a:tcPr>
                </a:tc>
                <a:tc>
                  <a:txBody>
                    <a:bodyPr/>
                    <a:lstStyle/>
                    <a:p>
                      <a:pPr>
                        <a:defRPr sz="1400">
                          <a:solidFill>
                            <a:srgbClr val="1C2833"/>
                          </a:solidFill>
                          <a:latin typeface="Microsoft JhengHei"/>
                        </a:defRPr>
                      </a:pPr>
                      <a:r>
                        <a:t>Abs + Machine + Personal</a:t>
                      </a:r>
                    </a:p>
                  </a:txBody>
                  <a:tcPr>
                    <a:solidFill>
                      <a:srgbClr val="EBF5FB"/>
                    </a:solidFill>
                  </a:tcPr>
                </a:tc>
                <a:tc>
                  <a:txBody>
                    <a:bodyPr/>
                    <a:lstStyle/>
                    <a:p>
                      <a:pPr algn="ctr">
                        <a:defRPr sz="1400" b="1">
                          <a:solidFill>
                            <a:srgbClr val="1C2833"/>
                          </a:solidFill>
                          <a:latin typeface="Microsoft JhengHei"/>
                        </a:defRPr>
                      </a:pPr>
                      <a:r>
                        <a:t>0.757</a:t>
                      </a:r>
                    </a:p>
                  </a:txBody>
                  <a:tcPr>
                    <a:solidFill>
                      <a:srgbClr val="EBF5FB"/>
                    </a:solidFill>
                  </a:tcPr>
                </a:tc>
                <a:extLst>
                  <a:ext uri="{0D108BD9-81ED-4DB2-BD59-A6C34878D82A}">
                    <a16:rowId xmlns:a16="http://schemas.microsoft.com/office/drawing/2014/main" val="10002"/>
                  </a:ext>
                </a:extLst>
              </a:tr>
              <a:tr h="457200">
                <a:tc>
                  <a:txBody>
                    <a:bodyPr/>
                    <a:lstStyle/>
                    <a:p>
                      <a:pPr>
                        <a:defRPr sz="1400">
                          <a:solidFill>
                            <a:srgbClr val="1C2833"/>
                          </a:solidFill>
                          <a:latin typeface="Microsoft JhengHei"/>
                        </a:defRPr>
                      </a:pPr>
                      <a:r>
                        <a:t>Uric Acid (inferred)</a:t>
                      </a:r>
                    </a:p>
                  </a:txBody>
                  <a:tcPr>
                    <a:solidFill>
                      <a:srgbClr val="FFFFFF"/>
                    </a:solidFill>
                  </a:tcPr>
                </a:tc>
                <a:tc>
                  <a:txBody>
                    <a:bodyPr/>
                    <a:lstStyle/>
                    <a:p>
                      <a:pPr>
                        <a:defRPr sz="1400">
                          <a:solidFill>
                            <a:srgbClr val="1C2833"/>
                          </a:solidFill>
                          <a:latin typeface="Microsoft JhengHei"/>
                        </a:defRPr>
                      </a:pPr>
                      <a:r>
                        <a:t>Linear Regression</a:t>
                      </a:r>
                    </a:p>
                  </a:txBody>
                  <a:tcPr>
                    <a:solidFill>
                      <a:srgbClr val="FFFFFF"/>
                    </a:solidFill>
                  </a:tcPr>
                </a:tc>
                <a:tc>
                  <a:txBody>
                    <a:bodyPr/>
                    <a:lstStyle/>
                    <a:p>
                      <a:pPr>
                        <a:defRPr sz="1400">
                          <a:solidFill>
                            <a:srgbClr val="1C2833"/>
                          </a:solidFill>
                          <a:latin typeface="Microsoft JhengHei"/>
                        </a:defRPr>
                      </a:pPr>
                      <a:r>
                        <a:t>Absorbance Only</a:t>
                      </a:r>
                    </a:p>
                  </a:txBody>
                  <a:tcPr>
                    <a:solidFill>
                      <a:srgbClr val="FFFFFF"/>
                    </a:solidFill>
                  </a:tcPr>
                </a:tc>
                <a:tc>
                  <a:txBody>
                    <a:bodyPr/>
                    <a:lstStyle/>
                    <a:p>
                      <a:pPr algn="ctr">
                        <a:defRPr sz="1400" b="1">
                          <a:solidFill>
                            <a:srgbClr val="1C2833"/>
                          </a:solidFill>
                          <a:latin typeface="Microsoft JhengHei"/>
                        </a:defRPr>
                      </a:pPr>
                      <a:r>
                        <a:t>0.773</a:t>
                      </a:r>
                    </a:p>
                  </a:txBody>
                  <a:tcPr>
                    <a:solidFill>
                      <a:srgbClr val="FFFFFF"/>
                    </a:solidFill>
                  </a:tcPr>
                </a:tc>
                <a:extLst>
                  <a:ext uri="{0D108BD9-81ED-4DB2-BD59-A6C34878D82A}">
                    <a16:rowId xmlns:a16="http://schemas.microsoft.com/office/drawing/2014/main" val="10003"/>
                  </a:ext>
                </a:extLst>
              </a:tr>
              <a:tr h="457200">
                <a:tc>
                  <a:txBody>
                    <a:bodyPr/>
                    <a:lstStyle/>
                    <a:p>
                      <a:pPr>
                        <a:defRPr sz="1400">
                          <a:solidFill>
                            <a:srgbClr val="1C2833"/>
                          </a:solidFill>
                          <a:latin typeface="Microsoft JhengHei"/>
                        </a:defRPr>
                      </a:pPr>
                      <a:r>
                        <a:t>Phosphorus</a:t>
                      </a:r>
                    </a:p>
                  </a:txBody>
                  <a:tcPr>
                    <a:solidFill>
                      <a:srgbClr val="EBF5FB"/>
                    </a:solidFill>
                  </a:tcPr>
                </a:tc>
                <a:tc>
                  <a:txBody>
                    <a:bodyPr/>
                    <a:lstStyle/>
                    <a:p>
                      <a:pPr>
                        <a:defRPr sz="1400">
                          <a:solidFill>
                            <a:srgbClr val="1C2833"/>
                          </a:solidFill>
                          <a:latin typeface="Microsoft JhengHei"/>
                        </a:defRPr>
                      </a:pPr>
                      <a:r>
                        <a:t>Random Forest</a:t>
                      </a:r>
                    </a:p>
                  </a:txBody>
                  <a:tcPr>
                    <a:solidFill>
                      <a:srgbClr val="EBF5FB"/>
                    </a:solidFill>
                  </a:tcPr>
                </a:tc>
                <a:tc>
                  <a:txBody>
                    <a:bodyPr/>
                    <a:lstStyle/>
                    <a:p>
                      <a:pPr>
                        <a:defRPr sz="1400">
                          <a:solidFill>
                            <a:srgbClr val="1C2833"/>
                          </a:solidFill>
                          <a:latin typeface="Microsoft JhengHei"/>
                        </a:defRPr>
                      </a:pPr>
                      <a:r>
                        <a:t>Absorbance Only</a:t>
                      </a:r>
                    </a:p>
                  </a:txBody>
                  <a:tcPr>
                    <a:solidFill>
                      <a:srgbClr val="EBF5FB"/>
                    </a:solidFill>
                  </a:tcPr>
                </a:tc>
                <a:tc>
                  <a:txBody>
                    <a:bodyPr/>
                    <a:lstStyle/>
                    <a:p>
                      <a:pPr algn="ctr">
                        <a:defRPr sz="1400" b="1">
                          <a:solidFill>
                            <a:srgbClr val="1C2833"/>
                          </a:solidFill>
                          <a:latin typeface="Microsoft JhengHei"/>
                        </a:defRPr>
                      </a:pPr>
                      <a:r>
                        <a:t>0.697</a:t>
                      </a:r>
                    </a:p>
                  </a:txBody>
                  <a:tcPr>
                    <a:solidFill>
                      <a:srgbClr val="EBF5FB"/>
                    </a:solidFill>
                  </a:tcPr>
                </a:tc>
                <a:extLst>
                  <a:ext uri="{0D108BD9-81ED-4DB2-BD59-A6C34878D82A}">
                    <a16:rowId xmlns:a16="http://schemas.microsoft.com/office/drawing/2014/main" val="10004"/>
                  </a:ext>
                </a:extLst>
              </a:tr>
              <a:tr h="457200">
                <a:tc>
                  <a:txBody>
                    <a:bodyPr/>
                    <a:lstStyle/>
                    <a:p>
                      <a:pPr>
                        <a:defRPr sz="1400">
                          <a:solidFill>
                            <a:srgbClr val="1C2833"/>
                          </a:solidFill>
                          <a:latin typeface="Microsoft JhengHei"/>
                        </a:defRPr>
                      </a:pPr>
                      <a:r>
                        <a:t>Potassium</a:t>
                      </a:r>
                    </a:p>
                  </a:txBody>
                  <a:tcPr>
                    <a:solidFill>
                      <a:srgbClr val="FFFFFF"/>
                    </a:solidFill>
                  </a:tcPr>
                </a:tc>
                <a:tc>
                  <a:txBody>
                    <a:bodyPr/>
                    <a:lstStyle/>
                    <a:p>
                      <a:pPr>
                        <a:defRPr sz="1400">
                          <a:solidFill>
                            <a:srgbClr val="1C2833"/>
                          </a:solidFill>
                          <a:latin typeface="Microsoft JhengHei"/>
                        </a:defRPr>
                      </a:pPr>
                      <a:r>
                        <a:t>Random Forest</a:t>
                      </a:r>
                    </a:p>
                  </a:txBody>
                  <a:tcPr>
                    <a:solidFill>
                      <a:srgbClr val="FFFFFF"/>
                    </a:solidFill>
                  </a:tcPr>
                </a:tc>
                <a:tc>
                  <a:txBody>
                    <a:bodyPr/>
                    <a:lstStyle/>
                    <a:p>
                      <a:pPr>
                        <a:defRPr sz="1400">
                          <a:solidFill>
                            <a:srgbClr val="1C2833"/>
                          </a:solidFill>
                          <a:latin typeface="Microsoft JhengHei"/>
                        </a:defRPr>
                      </a:pPr>
                      <a:r>
                        <a:t>Absorbance Only</a:t>
                      </a:r>
                    </a:p>
                  </a:txBody>
                  <a:tcPr>
                    <a:solidFill>
                      <a:srgbClr val="FFFFFF"/>
                    </a:solidFill>
                  </a:tcPr>
                </a:tc>
                <a:tc>
                  <a:txBody>
                    <a:bodyPr/>
                    <a:lstStyle/>
                    <a:p>
                      <a:pPr algn="ctr">
                        <a:defRPr sz="1400" b="1">
                          <a:solidFill>
                            <a:srgbClr val="1C2833"/>
                          </a:solidFill>
                          <a:latin typeface="Microsoft JhengHei"/>
                        </a:defRPr>
                      </a:pPr>
                      <a:r>
                        <a:t>0.295</a:t>
                      </a:r>
                    </a:p>
                  </a:txBody>
                  <a:tcPr>
                    <a:solidFill>
                      <a:srgbClr val="FFFFFF"/>
                    </a:solidFill>
                  </a:tcPr>
                </a:tc>
                <a:extLst>
                  <a:ext uri="{0D108BD9-81ED-4DB2-BD59-A6C34878D82A}">
                    <a16:rowId xmlns:a16="http://schemas.microsoft.com/office/drawing/2014/main" val="10005"/>
                  </a:ext>
                </a:extLst>
              </a:tr>
              <a:tr h="457200">
                <a:tc>
                  <a:txBody>
                    <a:bodyPr/>
                    <a:lstStyle/>
                    <a:p>
                      <a:pPr>
                        <a:defRPr sz="1400">
                          <a:solidFill>
                            <a:srgbClr val="1C2833"/>
                          </a:solidFill>
                          <a:latin typeface="Microsoft JhengHei"/>
                        </a:defRPr>
                      </a:pPr>
                      <a:r>
                        <a:t>β2-Microglobulin</a:t>
                      </a:r>
                    </a:p>
                  </a:txBody>
                  <a:tcPr>
                    <a:solidFill>
                      <a:srgbClr val="EBF5FB"/>
                    </a:solidFill>
                  </a:tcPr>
                </a:tc>
                <a:tc>
                  <a:txBody>
                    <a:bodyPr/>
                    <a:lstStyle/>
                    <a:p>
                      <a:pPr>
                        <a:defRPr sz="1400">
                          <a:solidFill>
                            <a:srgbClr val="1C2833"/>
                          </a:solidFill>
                          <a:latin typeface="Microsoft JhengHei"/>
                        </a:defRPr>
                      </a:pPr>
                      <a:r>
                        <a:t>Random Forest</a:t>
                      </a:r>
                    </a:p>
                  </a:txBody>
                  <a:tcPr>
                    <a:solidFill>
                      <a:srgbClr val="EBF5FB"/>
                    </a:solidFill>
                  </a:tcPr>
                </a:tc>
                <a:tc>
                  <a:txBody>
                    <a:bodyPr/>
                    <a:lstStyle/>
                    <a:p>
                      <a:pPr>
                        <a:defRPr sz="1400">
                          <a:solidFill>
                            <a:srgbClr val="1C2833"/>
                          </a:solidFill>
                          <a:latin typeface="Microsoft JhengHei"/>
                        </a:defRPr>
                      </a:pPr>
                      <a:r>
                        <a:t>Abs + Machine + Personal</a:t>
                      </a:r>
                    </a:p>
                  </a:txBody>
                  <a:tcPr>
                    <a:solidFill>
                      <a:srgbClr val="EBF5FB"/>
                    </a:solidFill>
                  </a:tcPr>
                </a:tc>
                <a:tc>
                  <a:txBody>
                    <a:bodyPr/>
                    <a:lstStyle/>
                    <a:p>
                      <a:pPr algn="ctr">
                        <a:defRPr sz="1400" b="1">
                          <a:solidFill>
                            <a:srgbClr val="1C2833"/>
                          </a:solidFill>
                          <a:latin typeface="Microsoft JhengHei"/>
                        </a:defRPr>
                      </a:pPr>
                      <a:r>
                        <a:t>0.769</a:t>
                      </a:r>
                    </a:p>
                  </a:txBody>
                  <a:tcPr>
                    <a:solidFill>
                      <a:srgbClr val="EBF5FB"/>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548640" y="4681728"/>
            <a:ext cx="11064240" cy="411480"/>
          </a:xfrm>
          <a:prstGeom prst="rect">
            <a:avLst/>
          </a:prstGeom>
          <a:noFill/>
        </p:spPr>
        <p:txBody>
          <a:bodyPr wrap="square" anchor="t">
            <a:spAutoFit/>
          </a:bodyPr>
          <a:lstStyle/>
          <a:p>
            <a:pPr algn="l">
              <a:defRPr sz="1900" b="1">
                <a:solidFill>
                  <a:srgbClr val="0A2342"/>
                </a:solidFill>
                <a:latin typeface="Microsoft JhengHei"/>
              </a:defRPr>
            </a:pPr>
            <a:r>
              <a:t>Key Observations</a:t>
            </a:r>
          </a:p>
        </p:txBody>
      </p:sp>
      <p:sp>
        <p:nvSpPr>
          <p:cNvPr id="8" name="TextBox 7"/>
          <p:cNvSpPr txBox="1"/>
          <p:nvPr/>
        </p:nvSpPr>
        <p:spPr>
          <a:xfrm>
            <a:off x="548640" y="5166360"/>
            <a:ext cx="11064240" cy="1600200"/>
          </a:xfrm>
          <a:prstGeom prst="rect">
            <a:avLst/>
          </a:prstGeom>
          <a:noFill/>
        </p:spPr>
        <p:txBody>
          <a:bodyPr wrap="square">
            <a:spAutoFit/>
          </a:bodyPr>
          <a:lstStyle/>
          <a:p>
            <a:pPr>
              <a:spcAft>
                <a:spcPts val="600"/>
              </a:spcAft>
              <a:defRPr sz="1600">
                <a:solidFill>
                  <a:srgbClr val="1C2833"/>
                </a:solidFill>
                <a:latin typeface="Microsoft JhengHei"/>
              </a:defRPr>
            </a:pPr>
            <a:r>
              <a:t>SVR (rbf) wins for Urea and Creatinine; Random Forest wins for Phosphorus, Potassium, B2M</a:t>
            </a:r>
          </a:p>
          <a:p>
            <a:pPr>
              <a:spcAft>
                <a:spcPts val="600"/>
              </a:spcAft>
              <a:defRPr sz="1600">
                <a:solidFill>
                  <a:srgbClr val="1C2833"/>
                </a:solidFill>
                <a:latin typeface="Microsoft JhengHei"/>
              </a:defRPr>
            </a:pPr>
            <a:r>
              <a:t>Linear Regression achieves the best R² (0.773) for Uric Acid using absorbance-only features</a:t>
            </a:r>
          </a:p>
          <a:p>
            <a:pPr>
              <a:spcAft>
                <a:spcPts val="600"/>
              </a:spcAft>
              <a:defRPr sz="1600">
                <a:solidFill>
                  <a:srgbClr val="1C2833"/>
                </a:solidFill>
                <a:latin typeface="Microsoft JhengHei"/>
              </a:defRPr>
            </a:pPr>
            <a:r>
              <a:t>Potassium remains hardest (R²=0.295) — consistent with the senior’s findings</a:t>
            </a:r>
          </a:p>
          <a:p>
            <a:pPr>
              <a:spcAft>
                <a:spcPts val="600"/>
              </a:spcAft>
              <a:defRPr sz="1600">
                <a:solidFill>
                  <a:srgbClr val="1C2833"/>
                </a:solidFill>
                <a:latin typeface="Microsoft JhengHei"/>
              </a:defRPr>
            </a:pPr>
            <a:r>
              <a:t>All R² values are means over 5 GroupKFold folds — no within-session leakage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1064240" cy="621792"/>
          </a:xfrm>
          <a:prstGeom prst="rect">
            <a:avLst/>
          </a:prstGeom>
          <a:noFill/>
        </p:spPr>
        <p:txBody>
          <a:bodyPr wrap="square" anchor="t">
            <a:spAutoFit/>
          </a:bodyPr>
          <a:lstStyle/>
          <a:p>
            <a:pPr algn="l">
              <a:defRPr sz="2800" b="1">
                <a:solidFill>
                  <a:srgbClr val="1C2833"/>
                </a:solidFill>
                <a:latin typeface="Microsoft JhengHei"/>
              </a:defRPr>
            </a:pPr>
            <a:r>
              <a:t>Grouped Cross-Validation Results</a:t>
            </a:r>
          </a:p>
        </p:txBody>
      </p:sp>
      <p:sp>
        <p:nvSpPr>
          <p:cNvPr id="4" name="TextBox 3"/>
          <p:cNvSpPr txBox="1"/>
          <p:nvPr/>
        </p:nvSpPr>
        <p:spPr>
          <a:xfrm>
            <a:off x="548640" y="795528"/>
            <a:ext cx="11064240" cy="329184"/>
          </a:xfrm>
          <a:prstGeom prst="rect">
            <a:avLst/>
          </a:prstGeom>
          <a:noFill/>
        </p:spPr>
        <p:txBody>
          <a:bodyPr wrap="square" anchor="t">
            <a:spAutoFit/>
          </a:bodyPr>
          <a:lstStyle/>
          <a:p>
            <a:pPr algn="l">
              <a:defRPr sz="1300" b="0">
                <a:solidFill>
                  <a:srgbClr val="566573"/>
                </a:solidFill>
                <a:latin typeface="Microsoft JhengHei"/>
              </a:defRPr>
            </a:pPr>
            <a:r>
              <a:t>GroupKFold evaluation across all 30 sessions — unseen sessions as test per fold</a:t>
            </a:r>
          </a:p>
        </p:txBody>
      </p:sp>
      <p:sp>
        <p:nvSpPr>
          <p:cNvPr id="5" name="Rectangle 4"/>
          <p:cNvSpPr/>
          <p:nvPr/>
        </p:nvSpPr>
        <p:spPr>
          <a:xfrm>
            <a:off x="548640" y="1143000"/>
            <a:ext cx="11064240" cy="1371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365760" y="1280160"/>
          <a:ext cx="11430000" cy="320040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737360">
                  <a:extLst>
                    <a:ext uri="{9D8B030D-6E8A-4147-A177-3AD203B41FA5}">
                      <a16:colId xmlns:a16="http://schemas.microsoft.com/office/drawing/2014/main" val="20005"/>
                    </a:ext>
                  </a:extLst>
                </a:gridCol>
              </a:tblGrid>
              <a:tr h="457200">
                <a:tc>
                  <a:txBody>
                    <a:bodyPr/>
                    <a:lstStyle/>
                    <a:p>
                      <a:pPr>
                        <a:defRPr sz="1300" b="1">
                          <a:solidFill>
                            <a:srgbClr val="FFFFFF"/>
                          </a:solidFill>
                          <a:latin typeface="Microsoft JhengHei"/>
                        </a:defRPr>
                      </a:pPr>
                      <a:r>
                        <a:t>Target</a:t>
                      </a:r>
                    </a:p>
                  </a:txBody>
                  <a:tcPr>
                    <a:solidFill>
                      <a:srgbClr val="0A2342"/>
                    </a:solidFill>
                  </a:tcPr>
                </a:tc>
                <a:tc>
                  <a:txBody>
                    <a:bodyPr/>
                    <a:lstStyle/>
                    <a:p>
                      <a:pPr>
                        <a:defRPr sz="1300" b="1">
                          <a:solidFill>
                            <a:srgbClr val="FFFFFF"/>
                          </a:solidFill>
                          <a:latin typeface="Microsoft JhengHei"/>
                        </a:defRPr>
                      </a:pPr>
                      <a:r>
                        <a:t>Model</a:t>
                      </a:r>
                    </a:p>
                  </a:txBody>
                  <a:tcPr>
                    <a:solidFill>
                      <a:srgbClr val="0A2342"/>
                    </a:solidFill>
                  </a:tcPr>
                </a:tc>
                <a:tc>
                  <a:txBody>
                    <a:bodyPr/>
                    <a:lstStyle/>
                    <a:p>
                      <a:pPr>
                        <a:defRPr sz="1300" b="1">
                          <a:solidFill>
                            <a:srgbClr val="FFFFFF"/>
                          </a:solidFill>
                          <a:latin typeface="Microsoft JhengHei"/>
                        </a:defRPr>
                      </a:pPr>
                      <a:r>
                        <a:t>Feature Set</a:t>
                      </a:r>
                    </a:p>
                  </a:txBody>
                  <a:tcPr>
                    <a:solidFill>
                      <a:srgbClr val="0A2342"/>
                    </a:solidFill>
                  </a:tcPr>
                </a:tc>
                <a:tc>
                  <a:txBody>
                    <a:bodyPr/>
                    <a:lstStyle/>
                    <a:p>
                      <a:pPr>
                        <a:defRPr sz="1300" b="1">
                          <a:solidFill>
                            <a:srgbClr val="FFFFFF"/>
                          </a:solidFill>
                          <a:latin typeface="Microsoft JhengHei"/>
                        </a:defRPr>
                      </a:pPr>
                      <a:r>
                        <a:t>Grouped CV R²</a:t>
                      </a:r>
                    </a:p>
                  </a:txBody>
                  <a:tcPr>
                    <a:solidFill>
                      <a:srgbClr val="0A2342"/>
                    </a:solidFill>
                  </a:tcPr>
                </a:tc>
                <a:tc>
                  <a:txBody>
                    <a:bodyPr/>
                    <a:lstStyle/>
                    <a:p>
                      <a:pPr>
                        <a:defRPr sz="1300" b="1">
                          <a:solidFill>
                            <a:srgbClr val="FFFFFF"/>
                          </a:solidFill>
                          <a:latin typeface="Microsoft JhengHei"/>
                        </a:defRPr>
                      </a:pPr>
                      <a:r>
                        <a:t>RMSE</a:t>
                      </a:r>
                    </a:p>
                  </a:txBody>
                  <a:tcPr>
                    <a:solidFill>
                      <a:srgbClr val="0A2342"/>
                    </a:solidFill>
                  </a:tcPr>
                </a:tc>
                <a:tc>
                  <a:txBody>
                    <a:bodyPr/>
                    <a:lstStyle/>
                    <a:p>
                      <a:pPr>
                        <a:defRPr sz="1300" b="1">
                          <a:solidFill>
                            <a:srgbClr val="FFFFFF"/>
                          </a:solidFill>
                          <a:latin typeface="Microsoft JhengHei"/>
                        </a:defRPr>
                      </a:pPr>
                      <a:r>
                        <a:t>MAE</a:t>
                      </a:r>
                    </a:p>
                  </a:txBody>
                  <a:tcPr>
                    <a:solidFill>
                      <a:srgbClr val="0A2342"/>
                    </a:solidFill>
                  </a:tcPr>
                </a:tc>
                <a:extLst>
                  <a:ext uri="{0D108BD9-81ED-4DB2-BD59-A6C34878D82A}">
                    <a16:rowId xmlns:a16="http://schemas.microsoft.com/office/drawing/2014/main" val="10000"/>
                  </a:ext>
                </a:extLst>
              </a:tr>
              <a:tr h="457200">
                <a:tc>
                  <a:txBody>
                    <a:bodyPr/>
                    <a:lstStyle/>
                    <a:p>
                      <a:pPr>
                        <a:defRPr sz="1300">
                          <a:solidFill>
                            <a:srgbClr val="1C2833"/>
                          </a:solidFill>
                          <a:latin typeface="Microsoft JhengHei"/>
                        </a:defRPr>
                      </a:pPr>
                      <a:r>
                        <a:t>Urea</a:t>
                      </a:r>
                    </a:p>
                  </a:txBody>
                  <a:tcPr>
                    <a:solidFill>
                      <a:srgbClr val="FFFFFF"/>
                    </a:solidFill>
                  </a:tcPr>
                </a:tc>
                <a:tc>
                  <a:txBody>
                    <a:bodyPr/>
                    <a:lstStyle/>
                    <a:p>
                      <a:pPr>
                        <a:defRPr sz="1300">
                          <a:solidFill>
                            <a:srgbClr val="1C2833"/>
                          </a:solidFill>
                          <a:latin typeface="Microsoft JhengHei"/>
                        </a:defRPr>
                      </a:pPr>
                      <a:r>
                        <a:t>SVR (rbf)</a:t>
                      </a:r>
                    </a:p>
                  </a:txBody>
                  <a:tcPr>
                    <a:solidFill>
                      <a:srgbClr val="FFFFFF"/>
                    </a:solidFill>
                  </a:tcPr>
                </a:tc>
                <a:tc>
                  <a:txBody>
                    <a:bodyPr/>
                    <a:lstStyle/>
                    <a:p>
                      <a:pPr>
                        <a:defRPr sz="1300">
                          <a:solidFill>
                            <a:srgbClr val="1C2833"/>
                          </a:solidFill>
                          <a:latin typeface="Microsoft JhengHei"/>
                        </a:defRPr>
                      </a:pPr>
                      <a:r>
                        <a:t>Abs + Mach + Personal</a:t>
                      </a:r>
                    </a:p>
                  </a:txBody>
                  <a:tcPr>
                    <a:solidFill>
                      <a:srgbClr val="FFFFFF"/>
                    </a:solidFill>
                  </a:tcPr>
                </a:tc>
                <a:tc>
                  <a:txBody>
                    <a:bodyPr/>
                    <a:lstStyle/>
                    <a:p>
                      <a:pPr algn="ctr">
                        <a:defRPr sz="1300" b="1">
                          <a:solidFill>
                            <a:srgbClr val="1C2833"/>
                          </a:solidFill>
                          <a:latin typeface="Microsoft JhengHei"/>
                        </a:defRPr>
                      </a:pPr>
                      <a:r>
                        <a:t>0.745</a:t>
                      </a:r>
                    </a:p>
                  </a:txBody>
                  <a:tcPr>
                    <a:solidFill>
                      <a:srgbClr val="FFFFFF"/>
                    </a:solidFill>
                  </a:tcPr>
                </a:tc>
                <a:tc>
                  <a:txBody>
                    <a:bodyPr/>
                    <a:lstStyle/>
                    <a:p>
                      <a:pPr>
                        <a:defRPr sz="1300">
                          <a:solidFill>
                            <a:srgbClr val="1C2833"/>
                          </a:solidFill>
                          <a:latin typeface="Microsoft JhengHei"/>
                        </a:defRPr>
                      </a:pPr>
                      <a:r>
                        <a:t>4.130</a:t>
                      </a:r>
                    </a:p>
                  </a:txBody>
                  <a:tcPr>
                    <a:solidFill>
                      <a:srgbClr val="FFFFFF"/>
                    </a:solidFill>
                  </a:tcPr>
                </a:tc>
                <a:tc>
                  <a:txBody>
                    <a:bodyPr/>
                    <a:lstStyle/>
                    <a:p>
                      <a:pPr>
                        <a:defRPr sz="1300">
                          <a:solidFill>
                            <a:srgbClr val="1C2833"/>
                          </a:solidFill>
                          <a:latin typeface="Microsoft JhengHei"/>
                        </a:defRPr>
                      </a:pPr>
                      <a:r>
                        <a:t>—</a:t>
                      </a:r>
                    </a:p>
                  </a:txBody>
                  <a:tcPr>
                    <a:solidFill>
                      <a:srgbClr val="FFFFFF"/>
                    </a:solidFill>
                  </a:tcPr>
                </a:tc>
                <a:extLst>
                  <a:ext uri="{0D108BD9-81ED-4DB2-BD59-A6C34878D82A}">
                    <a16:rowId xmlns:a16="http://schemas.microsoft.com/office/drawing/2014/main" val="10001"/>
                  </a:ext>
                </a:extLst>
              </a:tr>
              <a:tr h="457200">
                <a:tc>
                  <a:txBody>
                    <a:bodyPr/>
                    <a:lstStyle/>
                    <a:p>
                      <a:pPr>
                        <a:defRPr sz="1300">
                          <a:solidFill>
                            <a:srgbClr val="1C2833"/>
                          </a:solidFill>
                          <a:latin typeface="Microsoft JhengHei"/>
                        </a:defRPr>
                      </a:pPr>
                      <a:r>
                        <a:t>Creatinine</a:t>
                      </a:r>
                    </a:p>
                  </a:txBody>
                  <a:tcPr>
                    <a:solidFill>
                      <a:srgbClr val="EBF5FB"/>
                    </a:solidFill>
                  </a:tcPr>
                </a:tc>
                <a:tc>
                  <a:txBody>
                    <a:bodyPr/>
                    <a:lstStyle/>
                    <a:p>
                      <a:pPr>
                        <a:defRPr sz="1300">
                          <a:solidFill>
                            <a:srgbClr val="1C2833"/>
                          </a:solidFill>
                          <a:latin typeface="Microsoft JhengHei"/>
                        </a:defRPr>
                      </a:pPr>
                      <a:r>
                        <a:t>SVR (rbf)</a:t>
                      </a:r>
                    </a:p>
                  </a:txBody>
                  <a:tcPr>
                    <a:solidFill>
                      <a:srgbClr val="EBF5FB"/>
                    </a:solidFill>
                  </a:tcPr>
                </a:tc>
                <a:tc>
                  <a:txBody>
                    <a:bodyPr/>
                    <a:lstStyle/>
                    <a:p>
                      <a:pPr>
                        <a:defRPr sz="1300">
                          <a:solidFill>
                            <a:srgbClr val="1C2833"/>
                          </a:solidFill>
                          <a:latin typeface="Microsoft JhengHei"/>
                        </a:defRPr>
                      </a:pPr>
                      <a:r>
                        <a:t>Abs + Mach + Personal</a:t>
                      </a:r>
                    </a:p>
                  </a:txBody>
                  <a:tcPr>
                    <a:solidFill>
                      <a:srgbClr val="EBF5FB"/>
                    </a:solidFill>
                  </a:tcPr>
                </a:tc>
                <a:tc>
                  <a:txBody>
                    <a:bodyPr/>
                    <a:lstStyle/>
                    <a:p>
                      <a:pPr algn="ctr">
                        <a:defRPr sz="1300" b="1">
                          <a:solidFill>
                            <a:srgbClr val="1C2833"/>
                          </a:solidFill>
                          <a:latin typeface="Microsoft JhengHei"/>
                        </a:defRPr>
                      </a:pPr>
                      <a:r>
                        <a:t>0.757</a:t>
                      </a:r>
                    </a:p>
                  </a:txBody>
                  <a:tcPr>
                    <a:solidFill>
                      <a:srgbClr val="EBF5FB"/>
                    </a:solidFill>
                  </a:tcPr>
                </a:tc>
                <a:tc>
                  <a:txBody>
                    <a:bodyPr/>
                    <a:lstStyle/>
                    <a:p>
                      <a:pPr>
                        <a:defRPr sz="1300">
                          <a:solidFill>
                            <a:srgbClr val="1C2833"/>
                          </a:solidFill>
                          <a:latin typeface="Microsoft JhengHei"/>
                        </a:defRPr>
                      </a:pPr>
                      <a:r>
                        <a:t>0.624</a:t>
                      </a:r>
                    </a:p>
                  </a:txBody>
                  <a:tcPr>
                    <a:solidFill>
                      <a:srgbClr val="EBF5FB"/>
                    </a:solidFill>
                  </a:tcPr>
                </a:tc>
                <a:tc>
                  <a:txBody>
                    <a:bodyPr/>
                    <a:lstStyle/>
                    <a:p>
                      <a:pPr>
                        <a:defRPr sz="1300">
                          <a:solidFill>
                            <a:srgbClr val="1C2833"/>
                          </a:solidFill>
                          <a:latin typeface="Microsoft JhengHei"/>
                        </a:defRPr>
                      </a:pPr>
                      <a:r>
                        <a:t>—</a:t>
                      </a:r>
                    </a:p>
                  </a:txBody>
                  <a:tcPr>
                    <a:solidFill>
                      <a:srgbClr val="EBF5FB"/>
                    </a:solidFill>
                  </a:tcPr>
                </a:tc>
                <a:extLst>
                  <a:ext uri="{0D108BD9-81ED-4DB2-BD59-A6C34878D82A}">
                    <a16:rowId xmlns:a16="http://schemas.microsoft.com/office/drawing/2014/main" val="10002"/>
                  </a:ext>
                </a:extLst>
              </a:tr>
              <a:tr h="457200">
                <a:tc>
                  <a:txBody>
                    <a:bodyPr/>
                    <a:lstStyle/>
                    <a:p>
                      <a:pPr>
                        <a:defRPr sz="1300">
                          <a:solidFill>
                            <a:srgbClr val="1C2833"/>
                          </a:solidFill>
                          <a:latin typeface="Microsoft JhengHei"/>
                        </a:defRPr>
                      </a:pPr>
                      <a:r>
                        <a:t>Uric Acid (inferred)</a:t>
                      </a:r>
                    </a:p>
                  </a:txBody>
                  <a:tcPr>
                    <a:solidFill>
                      <a:srgbClr val="FFFFFF"/>
                    </a:solidFill>
                  </a:tcPr>
                </a:tc>
                <a:tc>
                  <a:txBody>
                    <a:bodyPr/>
                    <a:lstStyle/>
                    <a:p>
                      <a:pPr>
                        <a:defRPr sz="1300">
                          <a:solidFill>
                            <a:srgbClr val="1C2833"/>
                          </a:solidFill>
                          <a:latin typeface="Microsoft JhengHei"/>
                        </a:defRPr>
                      </a:pPr>
                      <a:r>
                        <a:t>Linear Regression</a:t>
                      </a:r>
                    </a:p>
                  </a:txBody>
                  <a:tcPr>
                    <a:solidFill>
                      <a:srgbClr val="FFFFFF"/>
                    </a:solidFill>
                  </a:tcPr>
                </a:tc>
                <a:tc>
                  <a:txBody>
                    <a:bodyPr/>
                    <a:lstStyle/>
                    <a:p>
                      <a:pPr>
                        <a:defRPr sz="1300">
                          <a:solidFill>
                            <a:srgbClr val="1C2833"/>
                          </a:solidFill>
                          <a:latin typeface="Microsoft JhengHei"/>
                        </a:defRPr>
                      </a:pPr>
                      <a:r>
                        <a:t>Absorbance Only</a:t>
                      </a:r>
                    </a:p>
                  </a:txBody>
                  <a:tcPr>
                    <a:solidFill>
                      <a:srgbClr val="FFFFFF"/>
                    </a:solidFill>
                  </a:tcPr>
                </a:tc>
                <a:tc>
                  <a:txBody>
                    <a:bodyPr/>
                    <a:lstStyle/>
                    <a:p>
                      <a:pPr algn="ctr">
                        <a:defRPr sz="1300" b="1">
                          <a:solidFill>
                            <a:srgbClr val="1C2833"/>
                          </a:solidFill>
                          <a:latin typeface="Microsoft JhengHei"/>
                        </a:defRPr>
                      </a:pPr>
                      <a:r>
                        <a:t>0.773</a:t>
                      </a:r>
                    </a:p>
                  </a:txBody>
                  <a:tcPr>
                    <a:solidFill>
                      <a:srgbClr val="FFFFFF"/>
                    </a:solidFill>
                  </a:tcPr>
                </a:tc>
                <a:tc>
                  <a:txBody>
                    <a:bodyPr/>
                    <a:lstStyle/>
                    <a:p>
                      <a:pPr>
                        <a:defRPr sz="1300">
                          <a:solidFill>
                            <a:srgbClr val="1C2833"/>
                          </a:solidFill>
                          <a:latin typeface="Microsoft JhengHei"/>
                        </a:defRPr>
                      </a:pPr>
                      <a:r>
                        <a:t>0.293</a:t>
                      </a:r>
                    </a:p>
                  </a:txBody>
                  <a:tcPr>
                    <a:solidFill>
                      <a:srgbClr val="FFFFFF"/>
                    </a:solidFill>
                  </a:tcPr>
                </a:tc>
                <a:tc>
                  <a:txBody>
                    <a:bodyPr/>
                    <a:lstStyle/>
                    <a:p>
                      <a:pPr>
                        <a:defRPr sz="1300">
                          <a:solidFill>
                            <a:srgbClr val="1C2833"/>
                          </a:solidFill>
                          <a:latin typeface="Microsoft JhengHei"/>
                        </a:defRPr>
                      </a:pPr>
                      <a:r>
                        <a:t>—</a:t>
                      </a:r>
                    </a:p>
                  </a:txBody>
                  <a:tcPr>
                    <a:solidFill>
                      <a:srgbClr val="FFFFFF"/>
                    </a:solidFill>
                  </a:tcPr>
                </a:tc>
                <a:extLst>
                  <a:ext uri="{0D108BD9-81ED-4DB2-BD59-A6C34878D82A}">
                    <a16:rowId xmlns:a16="http://schemas.microsoft.com/office/drawing/2014/main" val="10003"/>
                  </a:ext>
                </a:extLst>
              </a:tr>
              <a:tr h="457200">
                <a:tc>
                  <a:txBody>
                    <a:bodyPr/>
                    <a:lstStyle/>
                    <a:p>
                      <a:pPr>
                        <a:defRPr sz="1300">
                          <a:solidFill>
                            <a:srgbClr val="1C2833"/>
                          </a:solidFill>
                          <a:latin typeface="Microsoft JhengHei"/>
                        </a:defRPr>
                      </a:pPr>
                      <a:r>
                        <a:t>Phosphorus</a:t>
                      </a:r>
                    </a:p>
                  </a:txBody>
                  <a:tcPr>
                    <a:solidFill>
                      <a:srgbClr val="EBF5FB"/>
                    </a:solidFill>
                  </a:tcPr>
                </a:tc>
                <a:tc>
                  <a:txBody>
                    <a:bodyPr/>
                    <a:lstStyle/>
                    <a:p>
                      <a:pPr>
                        <a:defRPr sz="1300">
                          <a:solidFill>
                            <a:srgbClr val="1C2833"/>
                          </a:solidFill>
                          <a:latin typeface="Microsoft JhengHei"/>
                        </a:defRPr>
                      </a:pPr>
                      <a:r>
                        <a:t>Random Forest</a:t>
                      </a:r>
                    </a:p>
                  </a:txBody>
                  <a:tcPr>
                    <a:solidFill>
                      <a:srgbClr val="EBF5FB"/>
                    </a:solidFill>
                  </a:tcPr>
                </a:tc>
                <a:tc>
                  <a:txBody>
                    <a:bodyPr/>
                    <a:lstStyle/>
                    <a:p>
                      <a:pPr>
                        <a:defRPr sz="1300">
                          <a:solidFill>
                            <a:srgbClr val="1C2833"/>
                          </a:solidFill>
                          <a:latin typeface="Microsoft JhengHei"/>
                        </a:defRPr>
                      </a:pPr>
                      <a:r>
                        <a:t>Absorbance Only</a:t>
                      </a:r>
                    </a:p>
                  </a:txBody>
                  <a:tcPr>
                    <a:solidFill>
                      <a:srgbClr val="EBF5FB"/>
                    </a:solidFill>
                  </a:tcPr>
                </a:tc>
                <a:tc>
                  <a:txBody>
                    <a:bodyPr/>
                    <a:lstStyle/>
                    <a:p>
                      <a:pPr algn="ctr">
                        <a:defRPr sz="1300" b="1">
                          <a:solidFill>
                            <a:srgbClr val="1C2833"/>
                          </a:solidFill>
                          <a:latin typeface="Microsoft JhengHei"/>
                        </a:defRPr>
                      </a:pPr>
                      <a:r>
                        <a:t>0.697</a:t>
                      </a:r>
                    </a:p>
                  </a:txBody>
                  <a:tcPr>
                    <a:solidFill>
                      <a:srgbClr val="EBF5FB"/>
                    </a:solidFill>
                  </a:tcPr>
                </a:tc>
                <a:tc>
                  <a:txBody>
                    <a:bodyPr/>
                    <a:lstStyle/>
                    <a:p>
                      <a:pPr>
                        <a:defRPr sz="1300">
                          <a:solidFill>
                            <a:srgbClr val="1C2833"/>
                          </a:solidFill>
                          <a:latin typeface="Microsoft JhengHei"/>
                        </a:defRPr>
                      </a:pPr>
                      <a:r>
                        <a:t>0.161</a:t>
                      </a:r>
                    </a:p>
                  </a:txBody>
                  <a:tcPr>
                    <a:solidFill>
                      <a:srgbClr val="EBF5FB"/>
                    </a:solidFill>
                  </a:tcPr>
                </a:tc>
                <a:tc>
                  <a:txBody>
                    <a:bodyPr/>
                    <a:lstStyle/>
                    <a:p>
                      <a:pPr>
                        <a:defRPr sz="1300">
                          <a:solidFill>
                            <a:srgbClr val="1C2833"/>
                          </a:solidFill>
                          <a:latin typeface="Microsoft JhengHei"/>
                        </a:defRPr>
                      </a:pPr>
                      <a:r>
                        <a:t>—</a:t>
                      </a:r>
                    </a:p>
                  </a:txBody>
                  <a:tcPr>
                    <a:solidFill>
                      <a:srgbClr val="EBF5FB"/>
                    </a:solidFill>
                  </a:tcPr>
                </a:tc>
                <a:extLst>
                  <a:ext uri="{0D108BD9-81ED-4DB2-BD59-A6C34878D82A}">
                    <a16:rowId xmlns:a16="http://schemas.microsoft.com/office/drawing/2014/main" val="10004"/>
                  </a:ext>
                </a:extLst>
              </a:tr>
              <a:tr h="457200">
                <a:tc>
                  <a:txBody>
                    <a:bodyPr/>
                    <a:lstStyle/>
                    <a:p>
                      <a:pPr>
                        <a:defRPr sz="1300">
                          <a:solidFill>
                            <a:srgbClr val="1C2833"/>
                          </a:solidFill>
                          <a:latin typeface="Microsoft JhengHei"/>
                        </a:defRPr>
                      </a:pPr>
                      <a:r>
                        <a:t>Potassium</a:t>
                      </a:r>
                    </a:p>
                  </a:txBody>
                  <a:tcPr>
                    <a:solidFill>
                      <a:srgbClr val="FFFFFF"/>
                    </a:solidFill>
                  </a:tcPr>
                </a:tc>
                <a:tc>
                  <a:txBody>
                    <a:bodyPr/>
                    <a:lstStyle/>
                    <a:p>
                      <a:pPr>
                        <a:defRPr sz="1300">
                          <a:solidFill>
                            <a:srgbClr val="1C2833"/>
                          </a:solidFill>
                          <a:latin typeface="Microsoft JhengHei"/>
                        </a:defRPr>
                      </a:pPr>
                      <a:r>
                        <a:t>Random Forest</a:t>
                      </a:r>
                    </a:p>
                  </a:txBody>
                  <a:tcPr>
                    <a:solidFill>
                      <a:srgbClr val="FFFFFF"/>
                    </a:solidFill>
                  </a:tcPr>
                </a:tc>
                <a:tc>
                  <a:txBody>
                    <a:bodyPr/>
                    <a:lstStyle/>
                    <a:p>
                      <a:pPr>
                        <a:defRPr sz="1300">
                          <a:solidFill>
                            <a:srgbClr val="1C2833"/>
                          </a:solidFill>
                          <a:latin typeface="Microsoft JhengHei"/>
                        </a:defRPr>
                      </a:pPr>
                      <a:r>
                        <a:t>Absorbance Only</a:t>
                      </a:r>
                    </a:p>
                  </a:txBody>
                  <a:tcPr>
                    <a:solidFill>
                      <a:srgbClr val="FFFFFF"/>
                    </a:solidFill>
                  </a:tcPr>
                </a:tc>
                <a:tc>
                  <a:txBody>
                    <a:bodyPr/>
                    <a:lstStyle/>
                    <a:p>
                      <a:pPr algn="ctr">
                        <a:defRPr sz="1300" b="1">
                          <a:solidFill>
                            <a:srgbClr val="1C2833"/>
                          </a:solidFill>
                          <a:latin typeface="Microsoft JhengHei"/>
                        </a:defRPr>
                      </a:pPr>
                      <a:r>
                        <a:t>0.295</a:t>
                      </a:r>
                    </a:p>
                  </a:txBody>
                  <a:tcPr>
                    <a:solidFill>
                      <a:srgbClr val="FFFFFF"/>
                    </a:solidFill>
                  </a:tcPr>
                </a:tc>
                <a:tc>
                  <a:txBody>
                    <a:bodyPr/>
                    <a:lstStyle/>
                    <a:p>
                      <a:pPr>
                        <a:defRPr sz="1300">
                          <a:solidFill>
                            <a:srgbClr val="1C2833"/>
                          </a:solidFill>
                          <a:latin typeface="Microsoft JhengHei"/>
                        </a:defRPr>
                      </a:pPr>
                      <a:r>
                        <a:t>0.113</a:t>
                      </a:r>
                    </a:p>
                  </a:txBody>
                  <a:tcPr>
                    <a:solidFill>
                      <a:srgbClr val="FFFFFF"/>
                    </a:solidFill>
                  </a:tcPr>
                </a:tc>
                <a:tc>
                  <a:txBody>
                    <a:bodyPr/>
                    <a:lstStyle/>
                    <a:p>
                      <a:pPr>
                        <a:defRPr sz="1300">
                          <a:solidFill>
                            <a:srgbClr val="1C2833"/>
                          </a:solidFill>
                          <a:latin typeface="Microsoft JhengHei"/>
                        </a:defRPr>
                      </a:pPr>
                      <a:r>
                        <a:t>—</a:t>
                      </a:r>
                    </a:p>
                  </a:txBody>
                  <a:tcPr>
                    <a:solidFill>
                      <a:srgbClr val="FFFFFF"/>
                    </a:solidFill>
                  </a:tcPr>
                </a:tc>
                <a:extLst>
                  <a:ext uri="{0D108BD9-81ED-4DB2-BD59-A6C34878D82A}">
                    <a16:rowId xmlns:a16="http://schemas.microsoft.com/office/drawing/2014/main" val="10005"/>
                  </a:ext>
                </a:extLst>
              </a:tr>
              <a:tr h="457200">
                <a:tc>
                  <a:txBody>
                    <a:bodyPr/>
                    <a:lstStyle/>
                    <a:p>
                      <a:pPr>
                        <a:defRPr sz="1300">
                          <a:solidFill>
                            <a:srgbClr val="1C2833"/>
                          </a:solidFill>
                          <a:latin typeface="Microsoft JhengHei"/>
                        </a:defRPr>
                      </a:pPr>
                      <a:r>
                        <a:t>β2-Microglobulin</a:t>
                      </a:r>
                    </a:p>
                  </a:txBody>
                  <a:tcPr>
                    <a:solidFill>
                      <a:srgbClr val="EBF5FB"/>
                    </a:solidFill>
                  </a:tcPr>
                </a:tc>
                <a:tc>
                  <a:txBody>
                    <a:bodyPr/>
                    <a:lstStyle/>
                    <a:p>
                      <a:pPr>
                        <a:defRPr sz="1300">
                          <a:solidFill>
                            <a:srgbClr val="1C2833"/>
                          </a:solidFill>
                          <a:latin typeface="Microsoft JhengHei"/>
                        </a:defRPr>
                      </a:pPr>
                      <a:r>
                        <a:t>Random Forest</a:t>
                      </a:r>
                    </a:p>
                  </a:txBody>
                  <a:tcPr>
                    <a:solidFill>
                      <a:srgbClr val="EBF5FB"/>
                    </a:solidFill>
                  </a:tcPr>
                </a:tc>
                <a:tc>
                  <a:txBody>
                    <a:bodyPr/>
                    <a:lstStyle/>
                    <a:p>
                      <a:pPr>
                        <a:defRPr sz="1300">
                          <a:solidFill>
                            <a:srgbClr val="1C2833"/>
                          </a:solidFill>
                          <a:latin typeface="Microsoft JhengHei"/>
                        </a:defRPr>
                      </a:pPr>
                      <a:r>
                        <a:t>Abs + Mach + Personal</a:t>
                      </a:r>
                    </a:p>
                  </a:txBody>
                  <a:tcPr>
                    <a:solidFill>
                      <a:srgbClr val="EBF5FB"/>
                    </a:solidFill>
                  </a:tcPr>
                </a:tc>
                <a:tc>
                  <a:txBody>
                    <a:bodyPr/>
                    <a:lstStyle/>
                    <a:p>
                      <a:pPr algn="ctr">
                        <a:defRPr sz="1300" b="1">
                          <a:solidFill>
                            <a:srgbClr val="1C2833"/>
                          </a:solidFill>
                          <a:latin typeface="Microsoft JhengHei"/>
                        </a:defRPr>
                      </a:pPr>
                      <a:r>
                        <a:t>0.769</a:t>
                      </a:r>
                    </a:p>
                  </a:txBody>
                  <a:tcPr>
                    <a:solidFill>
                      <a:srgbClr val="EBF5FB"/>
                    </a:solidFill>
                  </a:tcPr>
                </a:tc>
                <a:tc>
                  <a:txBody>
                    <a:bodyPr/>
                    <a:lstStyle/>
                    <a:p>
                      <a:pPr>
                        <a:defRPr sz="1300">
                          <a:solidFill>
                            <a:srgbClr val="1C2833"/>
                          </a:solidFill>
                          <a:latin typeface="Microsoft JhengHei"/>
                        </a:defRPr>
                      </a:pPr>
                      <a:r>
                        <a:t>205.56</a:t>
                      </a:r>
                    </a:p>
                  </a:txBody>
                  <a:tcPr>
                    <a:solidFill>
                      <a:srgbClr val="EBF5FB"/>
                    </a:solidFill>
                  </a:tcPr>
                </a:tc>
                <a:tc>
                  <a:txBody>
                    <a:bodyPr/>
                    <a:lstStyle/>
                    <a:p>
                      <a:pPr>
                        <a:defRPr sz="1300">
                          <a:solidFill>
                            <a:srgbClr val="1C2833"/>
                          </a:solidFill>
                          <a:latin typeface="Microsoft JhengHei"/>
                        </a:defRPr>
                      </a:pPr>
                      <a:r>
                        <a:t>—</a:t>
                      </a:r>
                    </a:p>
                  </a:txBody>
                  <a:tcPr>
                    <a:solidFill>
                      <a:srgbClr val="EBF5FB"/>
                    </a:solidFill>
                  </a:tcPr>
                </a:tc>
                <a:extLst>
                  <a:ext uri="{0D108BD9-81ED-4DB2-BD59-A6C34878D82A}">
                    <a16:rowId xmlns:a16="http://schemas.microsoft.com/office/drawing/2014/main" val="10006"/>
                  </a:ext>
                </a:extLst>
              </a:tr>
            </a:tbl>
          </a:graphicData>
        </a:graphic>
      </p:graphicFrame>
      <p:sp>
        <p:nvSpPr>
          <p:cNvPr id="7" name="Rectangle 6"/>
          <p:cNvSpPr/>
          <p:nvPr/>
        </p:nvSpPr>
        <p:spPr>
          <a:xfrm>
            <a:off x="365760" y="4736592"/>
            <a:ext cx="11430000" cy="193852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4736592"/>
            <a:ext cx="64008" cy="193852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4828032"/>
            <a:ext cx="10972800" cy="457200"/>
          </a:xfrm>
          <a:prstGeom prst="rect">
            <a:avLst/>
          </a:prstGeom>
          <a:noFill/>
        </p:spPr>
        <p:txBody>
          <a:bodyPr wrap="square" anchor="t">
            <a:spAutoFit/>
          </a:bodyPr>
          <a:lstStyle/>
          <a:p>
            <a:pPr algn="l">
              <a:defRPr sz="1800" b="1">
                <a:solidFill>
                  <a:srgbClr val="27AE60"/>
                </a:solidFill>
                <a:latin typeface="Microsoft JhengHei"/>
              </a:defRPr>
            </a:pPr>
            <a:r>
              <a:t>These are the trustworthy GroupKFold cross-validation results</a:t>
            </a:r>
          </a:p>
        </p:txBody>
      </p:sp>
      <p:sp>
        <p:nvSpPr>
          <p:cNvPr id="10" name="TextBox 9"/>
          <p:cNvSpPr txBox="1"/>
          <p:nvPr/>
        </p:nvSpPr>
        <p:spPr>
          <a:xfrm>
            <a:off x="658368" y="5349240"/>
            <a:ext cx="10972800" cy="1280160"/>
          </a:xfrm>
          <a:prstGeom prst="rect">
            <a:avLst/>
          </a:prstGeom>
          <a:noFill/>
        </p:spPr>
        <p:txBody>
          <a:bodyPr wrap="square">
            <a:spAutoFit/>
          </a:bodyPr>
          <a:lstStyle/>
          <a:p>
            <a:pPr>
              <a:spcAft>
                <a:spcPts val="500"/>
              </a:spcAft>
              <a:defRPr sz="1500">
                <a:solidFill>
                  <a:srgbClr val="1C2833"/>
                </a:solidFill>
                <a:latin typeface="Microsoft JhengHei"/>
              </a:defRPr>
            </a:pPr>
            <a:r>
              <a:t>Each R² is the mean across 5 folds where test sessions are completely held out from training</a:t>
            </a:r>
          </a:p>
          <a:p>
            <a:pPr>
              <a:spcAft>
                <a:spcPts val="500"/>
              </a:spcAft>
              <a:defRPr sz="1500">
                <a:solidFill>
                  <a:srgbClr val="1C2833"/>
                </a:solidFill>
                <a:latin typeface="Microsoft JhengHei"/>
              </a:defRPr>
            </a:pPr>
            <a:r>
              <a:t>Uric Acid R²=0.773 (best); B2M=0.769; Creatinine=0.757; Urea=0.745</a:t>
            </a:r>
          </a:p>
          <a:p>
            <a:pPr>
              <a:spcAft>
                <a:spcPts val="500"/>
              </a:spcAft>
              <a:defRPr sz="1500">
                <a:solidFill>
                  <a:srgbClr val="1C2833"/>
                </a:solidFill>
                <a:latin typeface="Microsoft JhengHei"/>
              </a:defRPr>
            </a:pPr>
            <a:r>
              <a:t>Lower than row-level CV early results — expected and correct; more honest estimates</a:t>
            </a:r>
          </a:p>
          <a:p>
            <a:pPr>
              <a:spcAft>
                <a:spcPts val="500"/>
              </a:spcAft>
              <a:defRPr sz="1500">
                <a:solidFill>
                  <a:srgbClr val="1C2833"/>
                </a:solidFill>
                <a:latin typeface="Microsoft JhengHei"/>
              </a:defRPr>
            </a:pPr>
            <a:r>
              <a:t>Potassium (R²=0.295) remains hardest — consistent with literature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1064240" cy="621792"/>
          </a:xfrm>
          <a:prstGeom prst="rect">
            <a:avLst/>
          </a:prstGeom>
          <a:noFill/>
        </p:spPr>
        <p:txBody>
          <a:bodyPr wrap="square" anchor="t">
            <a:spAutoFit/>
          </a:bodyPr>
          <a:lstStyle/>
          <a:p>
            <a:pPr algn="l">
              <a:defRPr sz="2800" b="1">
                <a:solidFill>
                  <a:srgbClr val="1C2833"/>
                </a:solidFill>
                <a:latin typeface="Microsoft JhengHei"/>
              </a:defRPr>
            </a:pPr>
            <a:r>
              <a:t>Grouped CV Evidence: R² Model Comparison by Target</a:t>
            </a:r>
          </a:p>
        </p:txBody>
      </p:sp>
      <p:sp>
        <p:nvSpPr>
          <p:cNvPr id="4" name="TextBox 3"/>
          <p:cNvSpPr txBox="1"/>
          <p:nvPr/>
        </p:nvSpPr>
        <p:spPr>
          <a:xfrm>
            <a:off x="548640" y="795528"/>
            <a:ext cx="11064240" cy="329184"/>
          </a:xfrm>
          <a:prstGeom prst="rect">
            <a:avLst/>
          </a:prstGeom>
          <a:noFill/>
        </p:spPr>
        <p:txBody>
          <a:bodyPr wrap="square" anchor="t">
            <a:spAutoFit/>
          </a:bodyPr>
          <a:lstStyle/>
          <a:p>
            <a:pPr algn="l">
              <a:defRPr sz="1300" b="0">
                <a:solidFill>
                  <a:srgbClr val="566573"/>
                </a:solidFill>
                <a:latin typeface="Microsoft JhengHei"/>
              </a:defRPr>
            </a:pPr>
            <a:r>
              <a:t>4 models compared per toxin across all GroupKFold folds — grouped unseen sessions</a:t>
            </a:r>
          </a:p>
        </p:txBody>
      </p:sp>
      <p:sp>
        <p:nvSpPr>
          <p:cNvPr id="5" name="Rectangle 4"/>
          <p:cNvSpPr/>
          <p:nvPr/>
        </p:nvSpPr>
        <p:spPr>
          <a:xfrm>
            <a:off x="548640" y="1143000"/>
            <a:ext cx="11064240" cy="1371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model_comparison_r2_grouped_unseen_sessions_v2.png"/>
          <p:cNvPicPr>
            <a:picLocks noChangeAspect="1"/>
          </p:cNvPicPr>
          <p:nvPr/>
        </p:nvPicPr>
        <p:blipFill>
          <a:blip r:embed="rId3"/>
          <a:stretch>
            <a:fillRect/>
          </a:stretch>
        </p:blipFill>
        <p:spPr>
          <a:xfrm>
            <a:off x="1161288" y="1325880"/>
            <a:ext cx="9875520" cy="454407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1064240" cy="621792"/>
          </a:xfrm>
          <a:prstGeom prst="rect">
            <a:avLst/>
          </a:prstGeom>
          <a:noFill/>
        </p:spPr>
        <p:txBody>
          <a:bodyPr wrap="square" anchor="t">
            <a:spAutoFit/>
          </a:bodyPr>
          <a:lstStyle/>
          <a:p>
            <a:pPr algn="l">
              <a:defRPr sz="2800" b="1">
                <a:solidFill>
                  <a:srgbClr val="1C2833"/>
                </a:solidFill>
                <a:latin typeface="Microsoft JhengHei"/>
              </a:defRPr>
            </a:pPr>
            <a:r>
              <a:t>Grouped CV Evidence: Predicted vs. Actual</a:t>
            </a:r>
          </a:p>
        </p:txBody>
      </p:sp>
      <p:sp>
        <p:nvSpPr>
          <p:cNvPr id="4" name="TextBox 3"/>
          <p:cNvSpPr txBox="1"/>
          <p:nvPr/>
        </p:nvSpPr>
        <p:spPr>
          <a:xfrm>
            <a:off x="548640" y="795528"/>
            <a:ext cx="11064240" cy="329184"/>
          </a:xfrm>
          <a:prstGeom prst="rect">
            <a:avLst/>
          </a:prstGeom>
          <a:noFill/>
        </p:spPr>
        <p:txBody>
          <a:bodyPr wrap="square" anchor="t">
            <a:spAutoFit/>
          </a:bodyPr>
          <a:lstStyle/>
          <a:p>
            <a:pPr algn="l">
              <a:defRPr sz="1300" b="0">
                <a:solidFill>
                  <a:srgbClr val="566573"/>
                </a:solidFill>
                <a:latin typeface="Microsoft JhengHei"/>
              </a:defRPr>
            </a:pPr>
            <a:r>
              <a:t>Each panel shows one toxin target — best model on grouped unseen sessions</a:t>
            </a:r>
          </a:p>
        </p:txBody>
      </p:sp>
      <p:sp>
        <p:nvSpPr>
          <p:cNvPr id="5" name="Rectangle 4"/>
          <p:cNvSpPr/>
          <p:nvPr/>
        </p:nvSpPr>
        <p:spPr>
          <a:xfrm>
            <a:off x="548640" y="1143000"/>
            <a:ext cx="11064240" cy="1371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predicted_vs_actual_panels_grouped_unseen_sessions_v2.png"/>
          <p:cNvPicPr>
            <a:picLocks noChangeAspect="1"/>
          </p:cNvPicPr>
          <p:nvPr/>
        </p:nvPicPr>
        <p:blipFill>
          <a:blip r:embed="rId3"/>
          <a:stretch>
            <a:fillRect/>
          </a:stretch>
        </p:blipFill>
        <p:spPr>
          <a:xfrm>
            <a:off x="1856231" y="1325880"/>
            <a:ext cx="8462754" cy="52578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1064240" cy="621792"/>
          </a:xfrm>
          <a:prstGeom prst="rect">
            <a:avLst/>
          </a:prstGeom>
          <a:noFill/>
        </p:spPr>
        <p:txBody>
          <a:bodyPr wrap="square" anchor="t">
            <a:spAutoFit/>
          </a:bodyPr>
          <a:lstStyle/>
          <a:p>
            <a:pPr algn="l">
              <a:defRPr sz="2800" b="1">
                <a:solidFill>
                  <a:srgbClr val="1C2833"/>
                </a:solidFill>
                <a:latin typeface="Microsoft JhengHei"/>
              </a:defRPr>
            </a:pPr>
            <a:r>
              <a:t>Grouped CV Evidence: Session Prediction Curves</a:t>
            </a:r>
          </a:p>
        </p:txBody>
      </p:sp>
      <p:sp>
        <p:nvSpPr>
          <p:cNvPr id="4" name="TextBox 3"/>
          <p:cNvSpPr txBox="1"/>
          <p:nvPr/>
        </p:nvSpPr>
        <p:spPr>
          <a:xfrm>
            <a:off x="548640" y="795528"/>
            <a:ext cx="11064240" cy="329184"/>
          </a:xfrm>
          <a:prstGeom prst="rect">
            <a:avLst/>
          </a:prstGeom>
          <a:noFill/>
        </p:spPr>
        <p:txBody>
          <a:bodyPr wrap="square" anchor="t">
            <a:spAutoFit/>
          </a:bodyPr>
          <a:lstStyle/>
          <a:p>
            <a:pPr algn="l">
              <a:defRPr sz="1300" b="0">
                <a:solidFill>
                  <a:srgbClr val="566573"/>
                </a:solidFill>
                <a:latin typeface="Microsoft JhengHei"/>
              </a:defRPr>
            </a:pPr>
            <a:r>
              <a:t>Time-series predictions on unseen sessions from GroupKFold cross-validation</a:t>
            </a:r>
          </a:p>
        </p:txBody>
      </p:sp>
      <p:sp>
        <p:nvSpPr>
          <p:cNvPr id="5" name="Rectangle 4"/>
          <p:cNvSpPr/>
          <p:nvPr/>
        </p:nvSpPr>
        <p:spPr>
          <a:xfrm>
            <a:off x="548640" y="1143000"/>
            <a:ext cx="11064240" cy="1371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session_prediction_curves_test_sessions_v1.png"/>
          <p:cNvPicPr>
            <a:picLocks noChangeAspect="1"/>
          </p:cNvPicPr>
          <p:nvPr/>
        </p:nvPicPr>
        <p:blipFill>
          <a:blip r:embed="rId3"/>
          <a:stretch>
            <a:fillRect/>
          </a:stretch>
        </p:blipFill>
        <p:spPr>
          <a:xfrm>
            <a:off x="1920240" y="1325880"/>
            <a:ext cx="8354433" cy="52578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1064240" cy="621792"/>
          </a:xfrm>
          <a:prstGeom prst="rect">
            <a:avLst/>
          </a:prstGeom>
          <a:noFill/>
        </p:spPr>
        <p:txBody>
          <a:bodyPr wrap="square" anchor="t">
            <a:spAutoFit/>
          </a:bodyPr>
          <a:lstStyle/>
          <a:p>
            <a:pPr algn="l">
              <a:defRPr sz="2800" b="1">
                <a:solidFill>
                  <a:srgbClr val="1C2833"/>
                </a:solidFill>
                <a:latin typeface="Microsoft JhengHei"/>
              </a:defRPr>
            </a:pPr>
            <a:r>
              <a:t>Feature Importance Analysis</a:t>
            </a:r>
          </a:p>
        </p:txBody>
      </p:sp>
      <p:sp>
        <p:nvSpPr>
          <p:cNvPr id="4" name="TextBox 3"/>
          <p:cNvSpPr txBox="1"/>
          <p:nvPr/>
        </p:nvSpPr>
        <p:spPr>
          <a:xfrm>
            <a:off x="548640" y="795528"/>
            <a:ext cx="11064240" cy="329184"/>
          </a:xfrm>
          <a:prstGeom prst="rect">
            <a:avLst/>
          </a:prstGeom>
          <a:noFill/>
        </p:spPr>
        <p:txBody>
          <a:bodyPr wrap="square" anchor="t">
            <a:spAutoFit/>
          </a:bodyPr>
          <a:lstStyle/>
          <a:p>
            <a:pPr algn="l">
              <a:defRPr sz="1300" b="0">
                <a:solidFill>
                  <a:srgbClr val="566573"/>
                </a:solidFill>
                <a:latin typeface="Microsoft JhengHei"/>
              </a:defRPr>
            </a:pPr>
            <a:r>
              <a:t>Which features matter most for toxin prediction?</a:t>
            </a:r>
          </a:p>
        </p:txBody>
      </p:sp>
      <p:sp>
        <p:nvSpPr>
          <p:cNvPr id="5" name="Rectangle 4"/>
          <p:cNvSpPr/>
          <p:nvPr/>
        </p:nvSpPr>
        <p:spPr>
          <a:xfrm>
            <a:off x="548640" y="1143000"/>
            <a:ext cx="11064240" cy="1371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eature_importance_by_target.png"/>
          <p:cNvPicPr>
            <a:picLocks noChangeAspect="1"/>
          </p:cNvPicPr>
          <p:nvPr/>
        </p:nvPicPr>
        <p:blipFill>
          <a:blip r:embed="rId3"/>
          <a:stretch>
            <a:fillRect/>
          </a:stretch>
        </p:blipFill>
        <p:spPr>
          <a:xfrm>
            <a:off x="365760" y="1325880"/>
            <a:ext cx="7132320" cy="4457700"/>
          </a:xfrm>
          <a:prstGeom prst="rect">
            <a:avLst/>
          </a:prstGeom>
        </p:spPr>
      </p:pic>
      <p:sp>
        <p:nvSpPr>
          <p:cNvPr id="7" name="TextBox 6"/>
          <p:cNvSpPr txBox="1"/>
          <p:nvPr/>
        </p:nvSpPr>
        <p:spPr>
          <a:xfrm>
            <a:off x="7955279" y="1280160"/>
            <a:ext cx="3931920" cy="411480"/>
          </a:xfrm>
          <a:prstGeom prst="rect">
            <a:avLst/>
          </a:prstGeom>
          <a:noFill/>
        </p:spPr>
        <p:txBody>
          <a:bodyPr wrap="square" anchor="t">
            <a:spAutoFit/>
          </a:bodyPr>
          <a:lstStyle/>
          <a:p>
            <a:pPr algn="l">
              <a:defRPr sz="2000" b="1">
                <a:solidFill>
                  <a:srgbClr val="0A2342"/>
                </a:solidFill>
                <a:latin typeface="Microsoft JhengHei"/>
              </a:defRPr>
            </a:pPr>
            <a:r>
              <a:t>Key Findings</a:t>
            </a:r>
          </a:p>
        </p:txBody>
      </p:sp>
      <p:sp>
        <p:nvSpPr>
          <p:cNvPr id="8" name="TextBox 7"/>
          <p:cNvSpPr txBox="1"/>
          <p:nvPr/>
        </p:nvSpPr>
        <p:spPr>
          <a:xfrm>
            <a:off x="7955279" y="1783080"/>
            <a:ext cx="3931920" cy="3840480"/>
          </a:xfrm>
          <a:prstGeom prst="rect">
            <a:avLst/>
          </a:prstGeom>
          <a:noFill/>
        </p:spPr>
        <p:txBody>
          <a:bodyPr wrap="square">
            <a:spAutoFit/>
          </a:bodyPr>
          <a:lstStyle/>
          <a:p>
            <a:pPr>
              <a:spcAft>
                <a:spcPts val="1400"/>
              </a:spcAft>
              <a:defRPr sz="1700">
                <a:solidFill>
                  <a:srgbClr val="1C2833"/>
                </a:solidFill>
                <a:latin typeface="Microsoft JhengHei"/>
              </a:defRPr>
            </a:pPr>
            <a:r>
              <a:t>285 nm absorbance = top feature — not in the senior’s system</a:t>
            </a:r>
          </a:p>
          <a:p>
            <a:pPr>
              <a:spcAft>
                <a:spcPts val="1400"/>
              </a:spcAft>
              <a:defRPr sz="1700">
                <a:solidFill>
                  <a:srgbClr val="1C2833"/>
                </a:solidFill>
                <a:latin typeface="Microsoft JhengHei"/>
              </a:defRPr>
            </a:pPr>
            <a:r>
              <a:t>Machine parameters (UF volume, TMP) add meaningful signal</a:t>
            </a:r>
          </a:p>
          <a:p>
            <a:pPr>
              <a:spcAft>
                <a:spcPts val="1400"/>
              </a:spcAft>
              <a:defRPr sz="1700">
                <a:solidFill>
                  <a:srgbClr val="1C2833"/>
                </a:solidFill>
                <a:latin typeface="Microsoft JhengHei"/>
              </a:defRPr>
            </a:pPr>
            <a:r>
              <a:t>Feature selection improves interpretability, not always performance</a:t>
            </a:r>
          </a:p>
          <a:p>
            <a:pPr>
              <a:spcAft>
                <a:spcPts val="1400"/>
              </a:spcAft>
              <a:defRPr sz="1700">
                <a:solidFill>
                  <a:srgbClr val="1C2833"/>
                </a:solidFill>
                <a:latin typeface="Microsoft JhengHei"/>
              </a:defRPr>
            </a:pPr>
            <a:r>
              <a:t>Contrasts with senior’s claim that selection always helps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1064240" cy="621792"/>
          </a:xfrm>
          <a:prstGeom prst="rect">
            <a:avLst/>
          </a:prstGeom>
          <a:noFill/>
        </p:spPr>
        <p:txBody>
          <a:bodyPr wrap="square" anchor="t">
            <a:spAutoFit/>
          </a:bodyPr>
          <a:lstStyle/>
          <a:p>
            <a:pPr algn="l">
              <a:defRPr sz="2800" b="1">
                <a:solidFill>
                  <a:srgbClr val="1C2833"/>
                </a:solidFill>
                <a:latin typeface="Microsoft JhengHei"/>
              </a:defRPr>
            </a:pPr>
            <a:r>
              <a:t>Feature Selection: Full vs. Selected Performance</a:t>
            </a:r>
          </a:p>
        </p:txBody>
      </p:sp>
      <p:sp>
        <p:nvSpPr>
          <p:cNvPr id="4" name="TextBox 3"/>
          <p:cNvSpPr txBox="1"/>
          <p:nvPr/>
        </p:nvSpPr>
        <p:spPr>
          <a:xfrm>
            <a:off x="548640" y="795528"/>
            <a:ext cx="11064240" cy="329184"/>
          </a:xfrm>
          <a:prstGeom prst="rect">
            <a:avLst/>
          </a:prstGeom>
          <a:noFill/>
        </p:spPr>
        <p:txBody>
          <a:bodyPr wrap="square" anchor="t">
            <a:spAutoFit/>
          </a:bodyPr>
          <a:lstStyle/>
          <a:p>
            <a:pPr algn="l">
              <a:defRPr sz="1300" b="0">
                <a:solidFill>
                  <a:srgbClr val="566573"/>
                </a:solidFill>
                <a:latin typeface="Microsoft JhengHei"/>
              </a:defRPr>
            </a:pPr>
            <a:r>
              <a:t>Does selecting fewer features actually improve prediction?</a:t>
            </a:r>
          </a:p>
        </p:txBody>
      </p:sp>
      <p:sp>
        <p:nvSpPr>
          <p:cNvPr id="5" name="Rectangle 4"/>
          <p:cNvSpPr/>
          <p:nvPr/>
        </p:nvSpPr>
        <p:spPr>
          <a:xfrm>
            <a:off x="548640" y="1143000"/>
            <a:ext cx="11064240" cy="1371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eature_selection_comparison.png"/>
          <p:cNvPicPr>
            <a:picLocks noChangeAspect="1"/>
          </p:cNvPicPr>
          <p:nvPr/>
        </p:nvPicPr>
        <p:blipFill>
          <a:blip r:embed="rId3"/>
          <a:stretch>
            <a:fillRect/>
          </a:stretch>
        </p:blipFill>
        <p:spPr>
          <a:xfrm>
            <a:off x="1161288" y="1353312"/>
            <a:ext cx="9875520" cy="4232366"/>
          </a:xfrm>
          <a:prstGeom prst="rect">
            <a:avLst/>
          </a:prstGeom>
        </p:spPr>
      </p:pic>
      <p:sp>
        <p:nvSpPr>
          <p:cNvPr id="7" name="TextBox 6"/>
          <p:cNvSpPr txBox="1"/>
          <p:nvPr/>
        </p:nvSpPr>
        <p:spPr>
          <a:xfrm>
            <a:off x="548640" y="5742432"/>
            <a:ext cx="11064240" cy="594360"/>
          </a:xfrm>
          <a:prstGeom prst="rect">
            <a:avLst/>
          </a:prstGeom>
          <a:noFill/>
        </p:spPr>
        <p:txBody>
          <a:bodyPr wrap="square" anchor="t">
            <a:spAutoFit/>
          </a:bodyPr>
          <a:lstStyle/>
          <a:p>
            <a:pPr algn="l">
              <a:defRPr sz="1400" b="0">
                <a:solidFill>
                  <a:srgbClr val="566573"/>
                </a:solidFill>
                <a:latin typeface="Microsoft JhengHei"/>
              </a:defRPr>
            </a:pPr>
            <a:r>
              <a:t>Key insight: Feature selection improves interpretability but does not consistently outperform full features — unlike the senior’s clean narrative.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1064240" cy="621792"/>
          </a:xfrm>
          <a:prstGeom prst="rect">
            <a:avLst/>
          </a:prstGeom>
          <a:noFill/>
        </p:spPr>
        <p:txBody>
          <a:bodyPr wrap="square" anchor="t">
            <a:spAutoFit/>
          </a:bodyPr>
          <a:lstStyle/>
          <a:p>
            <a:pPr algn="l">
              <a:defRPr sz="2800" b="1">
                <a:solidFill>
                  <a:srgbClr val="1C2833"/>
                </a:solidFill>
                <a:latin typeface="Microsoft JhengHei"/>
              </a:defRPr>
            </a:pPr>
            <a:r>
              <a:t>Systematic Comparison: My Work vs. Senior’s Paper</a:t>
            </a:r>
          </a:p>
        </p:txBody>
      </p:sp>
      <p:sp>
        <p:nvSpPr>
          <p:cNvPr id="4" name="Rectangle 3"/>
          <p:cNvSpPr/>
          <p:nvPr/>
        </p:nvSpPr>
        <p:spPr>
          <a:xfrm>
            <a:off x="548640" y="1143000"/>
            <a:ext cx="11064240" cy="1371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365760" y="1280160"/>
          <a:ext cx="11430000" cy="5230368"/>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475488">
                <a:tc>
                  <a:txBody>
                    <a:bodyPr/>
                    <a:lstStyle/>
                    <a:p>
                      <a:pPr>
                        <a:defRPr sz="1200" b="1">
                          <a:solidFill>
                            <a:srgbClr val="FFFFFF"/>
                          </a:solidFill>
                          <a:latin typeface="Microsoft JhengHei"/>
                        </a:defRPr>
                      </a:pPr>
                      <a:r>
                        <a:t>Dimension</a:t>
                      </a:r>
                    </a:p>
                  </a:txBody>
                  <a:tcPr>
                    <a:solidFill>
                      <a:srgbClr val="0A2342"/>
                    </a:solidFill>
                  </a:tcPr>
                </a:tc>
                <a:tc>
                  <a:txBody>
                    <a:bodyPr/>
                    <a:lstStyle/>
                    <a:p>
                      <a:pPr>
                        <a:defRPr sz="1200" b="1">
                          <a:solidFill>
                            <a:srgbClr val="FFFFFF"/>
                          </a:solidFill>
                          <a:latin typeface="Microsoft JhengHei"/>
                        </a:defRPr>
                      </a:pPr>
                      <a:r>
                        <a:t>Senior’s Paper</a:t>
                      </a:r>
                    </a:p>
                  </a:txBody>
                  <a:tcPr>
                    <a:solidFill>
                      <a:srgbClr val="0A2342"/>
                    </a:solidFill>
                  </a:tcPr>
                </a:tc>
                <a:tc>
                  <a:txBody>
                    <a:bodyPr/>
                    <a:lstStyle/>
                    <a:p>
                      <a:pPr>
                        <a:defRPr sz="1200" b="1">
                          <a:solidFill>
                            <a:srgbClr val="FFFFFF"/>
                          </a:solidFill>
                          <a:latin typeface="Microsoft JhengHei"/>
                        </a:defRPr>
                      </a:pPr>
                      <a:r>
                        <a:t>My Project</a:t>
                      </a:r>
                    </a:p>
                  </a:txBody>
                  <a:tcPr>
                    <a:solidFill>
                      <a:srgbClr val="0A2342"/>
                    </a:solidFill>
                  </a:tcPr>
                </a:tc>
                <a:extLst>
                  <a:ext uri="{0D108BD9-81ED-4DB2-BD59-A6C34878D82A}">
                    <a16:rowId xmlns:a16="http://schemas.microsoft.com/office/drawing/2014/main" val="10000"/>
                  </a:ext>
                </a:extLst>
              </a:tr>
              <a:tr h="475488">
                <a:tc>
                  <a:txBody>
                    <a:bodyPr/>
                    <a:lstStyle/>
                    <a:p>
                      <a:pPr>
                        <a:defRPr sz="1200" b="1">
                          <a:solidFill>
                            <a:srgbClr val="0A2342"/>
                          </a:solidFill>
                          <a:latin typeface="Microsoft JhengHei"/>
                        </a:defRPr>
                      </a:pPr>
                      <a:r>
                        <a:t>Wavelengths</a:t>
                      </a:r>
                    </a:p>
                  </a:txBody>
                  <a:tcPr>
                    <a:solidFill>
                      <a:srgbClr val="EBF5FB"/>
                    </a:solidFill>
                  </a:tcPr>
                </a:tc>
                <a:tc>
                  <a:txBody>
                    <a:bodyPr/>
                    <a:lstStyle/>
                    <a:p>
                      <a:pPr>
                        <a:defRPr sz="1200">
                          <a:solidFill>
                            <a:srgbClr val="566573"/>
                          </a:solidFill>
                          <a:latin typeface="Microsoft JhengHei"/>
                        </a:defRPr>
                      </a:pPr>
                      <a:r>
                        <a:t>3 (255, 275, 310 nm)</a:t>
                      </a:r>
                    </a:p>
                  </a:txBody>
                  <a:tcPr>
                    <a:solidFill>
                      <a:srgbClr val="FFFFFF"/>
                    </a:solidFill>
                  </a:tcPr>
                </a:tc>
                <a:tc>
                  <a:txBody>
                    <a:bodyPr/>
                    <a:lstStyle/>
                    <a:p>
                      <a:pPr>
                        <a:defRPr sz="1200">
                          <a:solidFill>
                            <a:srgbClr val="1C2833"/>
                          </a:solidFill>
                          <a:latin typeface="Microsoft JhengHei"/>
                        </a:defRPr>
                      </a:pPr>
                      <a:r>
                        <a:t>5 (added 285, 295 nm)</a:t>
                      </a:r>
                    </a:p>
                  </a:txBody>
                  <a:tcPr>
                    <a:solidFill>
                      <a:srgbClr val="E8F8F5"/>
                    </a:solidFill>
                  </a:tcPr>
                </a:tc>
                <a:extLst>
                  <a:ext uri="{0D108BD9-81ED-4DB2-BD59-A6C34878D82A}">
                    <a16:rowId xmlns:a16="http://schemas.microsoft.com/office/drawing/2014/main" val="10001"/>
                  </a:ext>
                </a:extLst>
              </a:tr>
              <a:tr h="475488">
                <a:tc>
                  <a:txBody>
                    <a:bodyPr/>
                    <a:lstStyle/>
                    <a:p>
                      <a:pPr>
                        <a:defRPr sz="1200" b="1">
                          <a:solidFill>
                            <a:srgbClr val="0A2342"/>
                          </a:solidFill>
                          <a:latin typeface="Microsoft JhengHei"/>
                        </a:defRPr>
                      </a:pPr>
                      <a:r>
                        <a:t>Models tested</a:t>
                      </a:r>
                    </a:p>
                  </a:txBody>
                  <a:tcPr>
                    <a:solidFill>
                      <a:srgbClr val="EBF5FB"/>
                    </a:solidFill>
                  </a:tcPr>
                </a:tc>
                <a:tc>
                  <a:txBody>
                    <a:bodyPr/>
                    <a:lstStyle/>
                    <a:p>
                      <a:pPr>
                        <a:defRPr sz="1200">
                          <a:solidFill>
                            <a:srgbClr val="566573"/>
                          </a:solidFill>
                          <a:latin typeface="Microsoft JhengHei"/>
                        </a:defRPr>
                      </a:pPr>
                      <a:r>
                        <a:t>SVR only</a:t>
                      </a:r>
                    </a:p>
                  </a:txBody>
                  <a:tcPr>
                    <a:solidFill>
                      <a:srgbClr val="FFFFFF"/>
                    </a:solidFill>
                  </a:tcPr>
                </a:tc>
                <a:tc>
                  <a:txBody>
                    <a:bodyPr/>
                    <a:lstStyle/>
                    <a:p>
                      <a:pPr>
                        <a:defRPr sz="1200">
                          <a:solidFill>
                            <a:srgbClr val="1C2833"/>
                          </a:solidFill>
                          <a:latin typeface="Microsoft JhengHei"/>
                        </a:defRPr>
                      </a:pPr>
                      <a:r>
                        <a:t>SVR, Linear Reg., Random Forest, KNN</a:t>
                      </a:r>
                    </a:p>
                  </a:txBody>
                  <a:tcPr>
                    <a:solidFill>
                      <a:srgbClr val="E8F8F5"/>
                    </a:solidFill>
                  </a:tcPr>
                </a:tc>
                <a:extLst>
                  <a:ext uri="{0D108BD9-81ED-4DB2-BD59-A6C34878D82A}">
                    <a16:rowId xmlns:a16="http://schemas.microsoft.com/office/drawing/2014/main" val="10002"/>
                  </a:ext>
                </a:extLst>
              </a:tr>
              <a:tr h="475488">
                <a:tc>
                  <a:txBody>
                    <a:bodyPr/>
                    <a:lstStyle/>
                    <a:p>
                      <a:pPr>
                        <a:defRPr sz="1200" b="1">
                          <a:solidFill>
                            <a:srgbClr val="0A2342"/>
                          </a:solidFill>
                          <a:latin typeface="Microsoft JhengHei"/>
                        </a:defRPr>
                      </a:pPr>
                      <a:r>
                        <a:t>CV strategy</a:t>
                      </a:r>
                    </a:p>
                  </a:txBody>
                  <a:tcPr>
                    <a:solidFill>
                      <a:srgbClr val="EBF5FB"/>
                    </a:solidFill>
                  </a:tcPr>
                </a:tc>
                <a:tc>
                  <a:txBody>
                    <a:bodyPr/>
                    <a:lstStyle/>
                    <a:p>
                      <a:pPr>
                        <a:defRPr sz="1200">
                          <a:solidFill>
                            <a:srgbClr val="566573"/>
                          </a:solidFill>
                          <a:latin typeface="Microsoft JhengHei"/>
                        </a:defRPr>
                      </a:pPr>
                      <a:r>
                        <a:t>Row-level 5-fold CV (leakage)</a:t>
                      </a:r>
                    </a:p>
                  </a:txBody>
                  <a:tcPr>
                    <a:solidFill>
                      <a:srgbClr val="FFFFFF"/>
                    </a:solidFill>
                  </a:tcPr>
                </a:tc>
                <a:tc>
                  <a:txBody>
                    <a:bodyPr/>
                    <a:lstStyle/>
                    <a:p>
                      <a:pPr>
                        <a:defRPr sz="1200">
                          <a:solidFill>
                            <a:srgbClr val="1C2833"/>
                          </a:solidFill>
                          <a:latin typeface="Microsoft JhengHei"/>
                        </a:defRPr>
                      </a:pPr>
                      <a:r>
                        <a:t>Session-level 5-fold GroupKFold (no leakage)</a:t>
                      </a:r>
                    </a:p>
                  </a:txBody>
                  <a:tcPr>
                    <a:solidFill>
                      <a:srgbClr val="E8F8F5"/>
                    </a:solidFill>
                  </a:tcPr>
                </a:tc>
                <a:extLst>
                  <a:ext uri="{0D108BD9-81ED-4DB2-BD59-A6C34878D82A}">
                    <a16:rowId xmlns:a16="http://schemas.microsoft.com/office/drawing/2014/main" val="10003"/>
                  </a:ext>
                </a:extLst>
              </a:tr>
              <a:tr h="475488">
                <a:tc>
                  <a:txBody>
                    <a:bodyPr/>
                    <a:lstStyle/>
                    <a:p>
                      <a:pPr>
                        <a:defRPr sz="1200" b="1">
                          <a:solidFill>
                            <a:srgbClr val="0A2342"/>
                          </a:solidFill>
                          <a:latin typeface="Microsoft JhengHei"/>
                        </a:defRPr>
                      </a:pPr>
                      <a:r>
                        <a:t>Leakage control</a:t>
                      </a:r>
                    </a:p>
                  </a:txBody>
                  <a:tcPr>
                    <a:solidFill>
                      <a:srgbClr val="EBF5FB"/>
                    </a:solidFill>
                  </a:tcPr>
                </a:tc>
                <a:tc>
                  <a:txBody>
                    <a:bodyPr/>
                    <a:lstStyle/>
                    <a:p>
                      <a:pPr>
                        <a:defRPr sz="1200">
                          <a:solidFill>
                            <a:srgbClr val="566573"/>
                          </a:solidFill>
                          <a:latin typeface="Microsoft JhengHei"/>
                        </a:defRPr>
                      </a:pPr>
                      <a:r>
                        <a:t>Not addressed</a:t>
                      </a:r>
                    </a:p>
                  </a:txBody>
                  <a:tcPr>
                    <a:solidFill>
                      <a:srgbClr val="FFFFFF"/>
                    </a:solidFill>
                  </a:tcPr>
                </a:tc>
                <a:tc>
                  <a:txBody>
                    <a:bodyPr/>
                    <a:lstStyle/>
                    <a:p>
                      <a:pPr>
                        <a:defRPr sz="1200">
                          <a:solidFill>
                            <a:srgbClr val="1C2833"/>
                          </a:solidFill>
                          <a:latin typeface="Microsoft JhengHei"/>
                        </a:defRPr>
                      </a:pPr>
                      <a:r>
                        <a:t>Strict session-level splitting throughout</a:t>
                      </a:r>
                    </a:p>
                  </a:txBody>
                  <a:tcPr>
                    <a:solidFill>
                      <a:srgbClr val="E8F8F5"/>
                    </a:solidFill>
                  </a:tcPr>
                </a:tc>
                <a:extLst>
                  <a:ext uri="{0D108BD9-81ED-4DB2-BD59-A6C34878D82A}">
                    <a16:rowId xmlns:a16="http://schemas.microsoft.com/office/drawing/2014/main" val="10004"/>
                  </a:ext>
                </a:extLst>
              </a:tr>
              <a:tr h="475488">
                <a:tc>
                  <a:txBody>
                    <a:bodyPr/>
                    <a:lstStyle/>
                    <a:p>
                      <a:pPr>
                        <a:defRPr sz="1200" b="1">
                          <a:solidFill>
                            <a:srgbClr val="0A2342"/>
                          </a:solidFill>
                          <a:latin typeface="Microsoft JhengHei"/>
                        </a:defRPr>
                      </a:pPr>
                      <a:r>
                        <a:t>Session grouping</a:t>
                      </a:r>
                    </a:p>
                  </a:txBody>
                  <a:tcPr>
                    <a:solidFill>
                      <a:srgbClr val="EBF5FB"/>
                    </a:solidFill>
                  </a:tcPr>
                </a:tc>
                <a:tc>
                  <a:txBody>
                    <a:bodyPr/>
                    <a:lstStyle/>
                    <a:p>
                      <a:pPr>
                        <a:defRPr sz="1200">
                          <a:solidFill>
                            <a:srgbClr val="566573"/>
                          </a:solidFill>
                          <a:latin typeface="Microsoft JhengHei"/>
                        </a:defRPr>
                      </a:pPr>
                      <a:r>
                        <a:t>Not used</a:t>
                      </a:r>
                    </a:p>
                  </a:txBody>
                  <a:tcPr>
                    <a:solidFill>
                      <a:srgbClr val="FFFFFF"/>
                    </a:solidFill>
                  </a:tcPr>
                </a:tc>
                <a:tc>
                  <a:txBody>
                    <a:bodyPr/>
                    <a:lstStyle/>
                    <a:p>
                      <a:pPr>
                        <a:defRPr sz="1200">
                          <a:solidFill>
                            <a:srgbClr val="1C2833"/>
                          </a:solidFill>
                          <a:latin typeface="Microsoft JhengHei"/>
                        </a:defRPr>
                      </a:pPr>
                      <a:r>
                        <a:t>All 30 sessions rotate as grouped test folds</a:t>
                      </a:r>
                    </a:p>
                  </a:txBody>
                  <a:tcPr>
                    <a:solidFill>
                      <a:srgbClr val="E8F8F5"/>
                    </a:solidFill>
                  </a:tcPr>
                </a:tc>
                <a:extLst>
                  <a:ext uri="{0D108BD9-81ED-4DB2-BD59-A6C34878D82A}">
                    <a16:rowId xmlns:a16="http://schemas.microsoft.com/office/drawing/2014/main" val="10005"/>
                  </a:ext>
                </a:extLst>
              </a:tr>
              <a:tr h="475488">
                <a:tc>
                  <a:txBody>
                    <a:bodyPr/>
                    <a:lstStyle/>
                    <a:p>
                      <a:pPr>
                        <a:defRPr sz="1200" b="1">
                          <a:solidFill>
                            <a:srgbClr val="0A2342"/>
                          </a:solidFill>
                          <a:latin typeface="Microsoft JhengHei"/>
                        </a:defRPr>
                      </a:pPr>
                      <a:r>
                        <a:t>Feature selection</a:t>
                      </a:r>
                    </a:p>
                  </a:txBody>
                  <a:tcPr>
                    <a:solidFill>
                      <a:srgbClr val="EBF5FB"/>
                    </a:solidFill>
                  </a:tcPr>
                </a:tc>
                <a:tc>
                  <a:txBody>
                    <a:bodyPr/>
                    <a:lstStyle/>
                    <a:p>
                      <a:pPr>
                        <a:defRPr sz="1200">
                          <a:solidFill>
                            <a:srgbClr val="566573"/>
                          </a:solidFill>
                          <a:latin typeface="Microsoft JhengHei"/>
                        </a:defRPr>
                      </a:pPr>
                      <a:r>
                        <a:t>ANOVA F-test + wrapper</a:t>
                      </a:r>
                    </a:p>
                  </a:txBody>
                  <a:tcPr>
                    <a:solidFill>
                      <a:srgbClr val="FFFFFF"/>
                    </a:solidFill>
                  </a:tcPr>
                </a:tc>
                <a:tc>
                  <a:txBody>
                    <a:bodyPr/>
                    <a:lstStyle/>
                    <a:p>
                      <a:pPr>
                        <a:defRPr sz="1200">
                          <a:solidFill>
                            <a:srgbClr val="1C2833"/>
                          </a:solidFill>
                          <a:latin typeface="Microsoft JhengHei"/>
                        </a:defRPr>
                      </a:pPr>
                      <a:r>
                        <a:t>Mutual info + permutation importance</a:t>
                      </a:r>
                    </a:p>
                  </a:txBody>
                  <a:tcPr>
                    <a:solidFill>
                      <a:srgbClr val="E8F8F5"/>
                    </a:solidFill>
                  </a:tcPr>
                </a:tc>
                <a:extLst>
                  <a:ext uri="{0D108BD9-81ED-4DB2-BD59-A6C34878D82A}">
                    <a16:rowId xmlns:a16="http://schemas.microsoft.com/office/drawing/2014/main" val="10006"/>
                  </a:ext>
                </a:extLst>
              </a:tr>
              <a:tr h="475488">
                <a:tc>
                  <a:txBody>
                    <a:bodyPr/>
                    <a:lstStyle/>
                    <a:p>
                      <a:pPr>
                        <a:defRPr sz="1200" b="1">
                          <a:solidFill>
                            <a:srgbClr val="0A2342"/>
                          </a:solidFill>
                          <a:latin typeface="Microsoft JhengHei"/>
                        </a:defRPr>
                      </a:pPr>
                      <a:r>
                        <a:t>Model persistence</a:t>
                      </a:r>
                    </a:p>
                  </a:txBody>
                  <a:tcPr>
                    <a:solidFill>
                      <a:srgbClr val="EBF5FB"/>
                    </a:solidFill>
                  </a:tcPr>
                </a:tc>
                <a:tc>
                  <a:txBody>
                    <a:bodyPr/>
                    <a:lstStyle/>
                    <a:p>
                      <a:pPr>
                        <a:defRPr sz="1200">
                          <a:solidFill>
                            <a:srgbClr val="566573"/>
                          </a:solidFill>
                          <a:latin typeface="Microsoft JhengHei"/>
                        </a:defRPr>
                      </a:pPr>
                      <a:r>
                        <a:t>Not described</a:t>
                      </a:r>
                    </a:p>
                  </a:txBody>
                  <a:tcPr>
                    <a:solidFill>
                      <a:srgbClr val="FFFFFF"/>
                    </a:solidFill>
                  </a:tcPr>
                </a:tc>
                <a:tc>
                  <a:txBody>
                    <a:bodyPr/>
                    <a:lstStyle/>
                    <a:p>
                      <a:pPr>
                        <a:defRPr sz="1200">
                          <a:solidFill>
                            <a:srgbClr val="1C2833"/>
                          </a:solidFill>
                          <a:latin typeface="Microsoft JhengHei"/>
                        </a:defRPr>
                      </a:pPr>
                      <a:r>
                        <a:t>Saved .joblib + metadata + manifest</a:t>
                      </a:r>
                    </a:p>
                  </a:txBody>
                  <a:tcPr>
                    <a:solidFill>
                      <a:srgbClr val="E8F8F5"/>
                    </a:solidFill>
                  </a:tcPr>
                </a:tc>
                <a:extLst>
                  <a:ext uri="{0D108BD9-81ED-4DB2-BD59-A6C34878D82A}">
                    <a16:rowId xmlns:a16="http://schemas.microsoft.com/office/drawing/2014/main" val="10007"/>
                  </a:ext>
                </a:extLst>
              </a:tr>
              <a:tr h="475488">
                <a:tc>
                  <a:txBody>
                    <a:bodyPr/>
                    <a:lstStyle/>
                    <a:p>
                      <a:pPr>
                        <a:defRPr sz="1200" b="1">
                          <a:solidFill>
                            <a:srgbClr val="0A2342"/>
                          </a:solidFill>
                          <a:latin typeface="Microsoft JhengHei"/>
                        </a:defRPr>
                      </a:pPr>
                      <a:r>
                        <a:t>Reproducibility</a:t>
                      </a:r>
                    </a:p>
                  </a:txBody>
                  <a:tcPr>
                    <a:solidFill>
                      <a:srgbClr val="EBF5FB"/>
                    </a:solidFill>
                  </a:tcPr>
                </a:tc>
                <a:tc>
                  <a:txBody>
                    <a:bodyPr/>
                    <a:lstStyle/>
                    <a:p>
                      <a:pPr>
                        <a:defRPr sz="1200">
                          <a:solidFill>
                            <a:srgbClr val="566573"/>
                          </a:solidFill>
                          <a:latin typeface="Microsoft JhengHei"/>
                        </a:defRPr>
                      </a:pPr>
                      <a:r>
                        <a:t>MATLAB, limited details</a:t>
                      </a:r>
                    </a:p>
                  </a:txBody>
                  <a:tcPr>
                    <a:solidFill>
                      <a:srgbClr val="FFFFFF"/>
                    </a:solidFill>
                  </a:tcPr>
                </a:tc>
                <a:tc>
                  <a:txBody>
                    <a:bodyPr/>
                    <a:lstStyle/>
                    <a:p>
                      <a:pPr>
                        <a:defRPr sz="1200">
                          <a:solidFill>
                            <a:srgbClr val="1C2833"/>
                          </a:solidFill>
                          <a:latin typeface="Microsoft JhengHei"/>
                        </a:defRPr>
                      </a:pPr>
                      <a:r>
                        <a:t>Full Python pipeline with unit tests</a:t>
                      </a:r>
                    </a:p>
                  </a:txBody>
                  <a:tcPr>
                    <a:solidFill>
                      <a:srgbClr val="E8F8F5"/>
                    </a:solidFill>
                  </a:tcPr>
                </a:tc>
                <a:extLst>
                  <a:ext uri="{0D108BD9-81ED-4DB2-BD59-A6C34878D82A}">
                    <a16:rowId xmlns:a16="http://schemas.microsoft.com/office/drawing/2014/main" val="10008"/>
                  </a:ext>
                </a:extLst>
              </a:tr>
              <a:tr h="475488">
                <a:tc>
                  <a:txBody>
                    <a:bodyPr/>
                    <a:lstStyle/>
                    <a:p>
                      <a:pPr>
                        <a:defRPr sz="1200" b="1">
                          <a:solidFill>
                            <a:srgbClr val="0A2342"/>
                          </a:solidFill>
                          <a:latin typeface="Microsoft JhengHei"/>
                        </a:defRPr>
                      </a:pPr>
                      <a:r>
                        <a:t>Audit &amp; correction</a:t>
                      </a:r>
                    </a:p>
                  </a:txBody>
                  <a:tcPr>
                    <a:solidFill>
                      <a:srgbClr val="EBF5FB"/>
                    </a:solidFill>
                  </a:tcPr>
                </a:tc>
                <a:tc>
                  <a:txBody>
                    <a:bodyPr/>
                    <a:lstStyle/>
                    <a:p>
                      <a:pPr>
                        <a:defRPr sz="1200">
                          <a:solidFill>
                            <a:srgbClr val="566573"/>
                          </a:solidFill>
                          <a:latin typeface="Microsoft JhengHei"/>
                        </a:defRPr>
                      </a:pPr>
                      <a:r>
                        <a:t>Not applicable</a:t>
                      </a:r>
                    </a:p>
                  </a:txBody>
                  <a:tcPr>
                    <a:solidFill>
                      <a:srgbClr val="FFFFFF"/>
                    </a:solidFill>
                  </a:tcPr>
                </a:tc>
                <a:tc>
                  <a:txBody>
                    <a:bodyPr/>
                    <a:lstStyle/>
                    <a:p>
                      <a:pPr>
                        <a:defRPr sz="1200">
                          <a:solidFill>
                            <a:srgbClr val="1C2833"/>
                          </a:solidFill>
                          <a:latin typeface="Microsoft JhengHei"/>
                        </a:defRPr>
                      </a:pPr>
                      <a:r>
                        <a:t>3 major corrections documented</a:t>
                      </a:r>
                    </a:p>
                  </a:txBody>
                  <a:tcPr>
                    <a:solidFill>
                      <a:srgbClr val="E8F8F5"/>
                    </a:solidFill>
                  </a:tcPr>
                </a:tc>
                <a:extLst>
                  <a:ext uri="{0D108BD9-81ED-4DB2-BD59-A6C34878D82A}">
                    <a16:rowId xmlns:a16="http://schemas.microsoft.com/office/drawing/2014/main" val="10009"/>
                  </a:ext>
                </a:extLst>
              </a:tr>
              <a:tr h="475488">
                <a:tc>
                  <a:txBody>
                    <a:bodyPr/>
                    <a:lstStyle/>
                    <a:p>
                      <a:pPr>
                        <a:defRPr sz="1200" b="1">
                          <a:solidFill>
                            <a:srgbClr val="0A2342"/>
                          </a:solidFill>
                          <a:latin typeface="Microsoft JhengHei"/>
                        </a:defRPr>
                      </a:pPr>
                      <a:r>
                        <a:t>Evaluation honesty</a:t>
                      </a:r>
                    </a:p>
                  </a:txBody>
                  <a:tcPr>
                    <a:solidFill>
                      <a:srgbClr val="EBF5FB"/>
                    </a:solidFill>
                  </a:tcPr>
                </a:tc>
                <a:tc>
                  <a:txBody>
                    <a:bodyPr/>
                    <a:lstStyle/>
                    <a:p>
                      <a:pPr>
                        <a:defRPr sz="1200">
                          <a:solidFill>
                            <a:srgbClr val="566573"/>
                          </a:solidFill>
                          <a:latin typeface="Microsoft JhengHei"/>
                        </a:defRPr>
                      </a:pPr>
                      <a:r>
                        <a:t>Single reported R²</a:t>
                      </a:r>
                    </a:p>
                  </a:txBody>
                  <a:tcPr>
                    <a:solidFill>
                      <a:srgbClr val="FFFFFF"/>
                    </a:solidFill>
                  </a:tcPr>
                </a:tc>
                <a:tc>
                  <a:txBody>
                    <a:bodyPr/>
                    <a:lstStyle/>
                    <a:p>
                      <a:pPr>
                        <a:defRPr sz="1200">
                          <a:solidFill>
                            <a:srgbClr val="1C2833"/>
                          </a:solidFill>
                          <a:latin typeface="Microsoft JhengHei"/>
                        </a:defRPr>
                      </a:pPr>
                      <a:r>
                        <a:t>Exploratory vs. grouped CV clearly separated</a:t>
                      </a:r>
                    </a:p>
                  </a:txBody>
                  <a:tcPr>
                    <a:solidFill>
                      <a:srgbClr val="E8F8F5"/>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1064240" cy="621792"/>
          </a:xfrm>
          <a:prstGeom prst="rect">
            <a:avLst/>
          </a:prstGeom>
          <a:noFill/>
        </p:spPr>
        <p:txBody>
          <a:bodyPr wrap="square" anchor="t">
            <a:spAutoFit/>
          </a:bodyPr>
          <a:lstStyle/>
          <a:p>
            <a:pPr algn="l">
              <a:defRPr sz="2800" b="1">
                <a:solidFill>
                  <a:srgbClr val="1C2833"/>
                </a:solidFill>
                <a:latin typeface="Microsoft JhengHei"/>
              </a:defRPr>
            </a:pPr>
            <a:r>
              <a:t>Discussion</a:t>
            </a:r>
          </a:p>
        </p:txBody>
      </p:sp>
      <p:sp>
        <p:nvSpPr>
          <p:cNvPr id="4" name="TextBox 3"/>
          <p:cNvSpPr txBox="1"/>
          <p:nvPr/>
        </p:nvSpPr>
        <p:spPr>
          <a:xfrm>
            <a:off x="548640" y="795528"/>
            <a:ext cx="11064240" cy="329184"/>
          </a:xfrm>
          <a:prstGeom prst="rect">
            <a:avLst/>
          </a:prstGeom>
          <a:noFill/>
        </p:spPr>
        <p:txBody>
          <a:bodyPr wrap="square" anchor="t">
            <a:spAutoFit/>
          </a:bodyPr>
          <a:lstStyle/>
          <a:p>
            <a:pPr algn="l">
              <a:defRPr sz="1300" b="0">
                <a:solidFill>
                  <a:srgbClr val="566573"/>
                </a:solidFill>
                <a:latin typeface="Microsoft JhengHei"/>
              </a:defRPr>
            </a:pPr>
            <a:r>
              <a:t>What was learned from the full implementation process</a:t>
            </a:r>
          </a:p>
        </p:txBody>
      </p:sp>
      <p:sp>
        <p:nvSpPr>
          <p:cNvPr id="5" name="Rectangle 4"/>
          <p:cNvSpPr/>
          <p:nvPr/>
        </p:nvSpPr>
        <p:spPr>
          <a:xfrm>
            <a:off x="548640" y="1143000"/>
            <a:ext cx="11064240" cy="1371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280160"/>
            <a:ext cx="5394960" cy="411480"/>
          </a:xfrm>
          <a:prstGeom prst="rect">
            <a:avLst/>
          </a:prstGeom>
          <a:noFill/>
        </p:spPr>
        <p:txBody>
          <a:bodyPr wrap="square" anchor="t">
            <a:spAutoFit/>
          </a:bodyPr>
          <a:lstStyle/>
          <a:p>
            <a:pPr algn="l">
              <a:defRPr sz="2000" b="1">
                <a:solidFill>
                  <a:srgbClr val="0A2342"/>
                </a:solidFill>
                <a:latin typeface="Microsoft JhengHei"/>
              </a:defRPr>
            </a:pPr>
            <a:r>
              <a:t>What Changed vs. the Senior’s Paper</a:t>
            </a:r>
          </a:p>
        </p:txBody>
      </p:sp>
      <p:sp>
        <p:nvSpPr>
          <p:cNvPr id="7" name="TextBox 6"/>
          <p:cNvSpPr txBox="1"/>
          <p:nvPr/>
        </p:nvSpPr>
        <p:spPr>
          <a:xfrm>
            <a:off x="548640" y="1755648"/>
            <a:ext cx="5394960" cy="3483005"/>
          </a:xfrm>
          <a:prstGeom prst="rect">
            <a:avLst/>
          </a:prstGeom>
          <a:noFill/>
        </p:spPr>
        <p:txBody>
          <a:bodyPr wrap="square">
            <a:spAutoFit/>
          </a:bodyPr>
          <a:lstStyle/>
          <a:p>
            <a:pPr marL="285750" indent="-285750">
              <a:spcAft>
                <a:spcPts val="1000"/>
              </a:spcAft>
              <a:buFont typeface="Arial" panose="020B0604020202020204" pitchFamily="34" charset="0"/>
              <a:buChar char="•"/>
              <a:defRPr sz="1700">
                <a:solidFill>
                  <a:srgbClr val="1C2833"/>
                </a:solidFill>
                <a:latin typeface="Microsoft JhengHei"/>
              </a:defRPr>
            </a:pPr>
            <a:r>
              <a:rPr dirty="0"/>
              <a:t>Expanded to 5 wavelengths — 285 nm is the most important feature</a:t>
            </a:r>
          </a:p>
          <a:p>
            <a:pPr marL="285750" indent="-285750">
              <a:spcAft>
                <a:spcPts val="1000"/>
              </a:spcAft>
              <a:buFont typeface="Arial" panose="020B0604020202020204" pitchFamily="34" charset="0"/>
              <a:buChar char="•"/>
              <a:defRPr sz="1700">
                <a:solidFill>
                  <a:srgbClr val="1C2833"/>
                </a:solidFill>
                <a:latin typeface="Microsoft JhengHei"/>
              </a:defRPr>
            </a:pPr>
            <a:r>
              <a:rPr dirty="0"/>
              <a:t>Multi-model comparison: SVR wins Urea/Creatinine; RF wins Phosphorus/Potassium/B2M; LR wins Uric Acid</a:t>
            </a:r>
          </a:p>
          <a:p>
            <a:pPr marL="285750" indent="-285750">
              <a:spcAft>
                <a:spcPts val="1000"/>
              </a:spcAft>
              <a:buFont typeface="Arial" panose="020B0604020202020204" pitchFamily="34" charset="0"/>
              <a:buChar char="•"/>
              <a:defRPr sz="1700">
                <a:solidFill>
                  <a:srgbClr val="1C2833"/>
                </a:solidFill>
                <a:latin typeface="Microsoft JhengHei"/>
              </a:defRPr>
            </a:pPr>
            <a:r>
              <a:rPr dirty="0"/>
              <a:t>Session-level </a:t>
            </a:r>
            <a:r>
              <a:rPr dirty="0" err="1"/>
              <a:t>GroupKFold</a:t>
            </a:r>
            <a:r>
              <a:rPr dirty="0"/>
              <a:t>: more conservative and honest than row-level splits</a:t>
            </a:r>
          </a:p>
          <a:p>
            <a:pPr marL="285750" indent="-285750">
              <a:spcAft>
                <a:spcPts val="1000"/>
              </a:spcAft>
              <a:buFont typeface="Arial" panose="020B0604020202020204" pitchFamily="34" charset="0"/>
              <a:buChar char="•"/>
              <a:defRPr sz="1700">
                <a:solidFill>
                  <a:srgbClr val="1C2833"/>
                </a:solidFill>
                <a:latin typeface="Microsoft JhengHei"/>
              </a:defRPr>
            </a:pPr>
            <a:r>
              <a:rPr dirty="0"/>
              <a:t>All 30 sessions evaluated as unseen test — no single held-out set needed</a:t>
            </a:r>
          </a:p>
          <a:p>
            <a:pPr marL="285750" indent="-285750">
              <a:spcAft>
                <a:spcPts val="1000"/>
              </a:spcAft>
              <a:buFont typeface="Arial" panose="020B0604020202020204" pitchFamily="34" charset="0"/>
              <a:buChar char="•"/>
              <a:defRPr sz="1700">
                <a:solidFill>
                  <a:srgbClr val="1C2833"/>
                </a:solidFill>
                <a:latin typeface="Microsoft JhengHei"/>
              </a:defRPr>
            </a:pPr>
            <a:r>
              <a:rPr dirty="0"/>
              <a:t>Feature selection improves interpretability, not consistently performance</a:t>
            </a:r>
          </a:p>
        </p:txBody>
      </p:sp>
      <p:sp>
        <p:nvSpPr>
          <p:cNvPr id="8" name="TextBox 7"/>
          <p:cNvSpPr txBox="1"/>
          <p:nvPr/>
        </p:nvSpPr>
        <p:spPr>
          <a:xfrm>
            <a:off x="6492240" y="1280160"/>
            <a:ext cx="5212080" cy="411480"/>
          </a:xfrm>
          <a:prstGeom prst="rect">
            <a:avLst/>
          </a:prstGeom>
          <a:noFill/>
        </p:spPr>
        <p:txBody>
          <a:bodyPr wrap="square" anchor="t">
            <a:spAutoFit/>
          </a:bodyPr>
          <a:lstStyle/>
          <a:p>
            <a:pPr algn="l">
              <a:defRPr sz="2000" b="1">
                <a:solidFill>
                  <a:srgbClr val="0A2342"/>
                </a:solidFill>
                <a:latin typeface="Microsoft JhengHei"/>
              </a:defRPr>
            </a:pPr>
            <a:r>
              <a:t>Issues Encountered &amp; Resolved</a:t>
            </a:r>
          </a:p>
        </p:txBody>
      </p:sp>
      <p:sp>
        <p:nvSpPr>
          <p:cNvPr id="9" name="TextBox 8"/>
          <p:cNvSpPr txBox="1"/>
          <p:nvPr/>
        </p:nvSpPr>
        <p:spPr>
          <a:xfrm>
            <a:off x="6492240" y="1755648"/>
            <a:ext cx="5212080" cy="3221395"/>
          </a:xfrm>
          <a:prstGeom prst="rect">
            <a:avLst/>
          </a:prstGeom>
          <a:noFill/>
        </p:spPr>
        <p:txBody>
          <a:bodyPr wrap="square">
            <a:spAutoFit/>
          </a:bodyPr>
          <a:lstStyle/>
          <a:p>
            <a:pPr marL="285750" indent="-285750">
              <a:spcAft>
                <a:spcPts val="1000"/>
              </a:spcAft>
              <a:buFont typeface="Arial" panose="020B0604020202020204" pitchFamily="34" charset="0"/>
              <a:buChar char="•"/>
              <a:defRPr sz="1700">
                <a:solidFill>
                  <a:srgbClr val="1C2833"/>
                </a:solidFill>
                <a:latin typeface="Microsoft JhengHei"/>
              </a:defRPr>
            </a:pPr>
            <a:r>
              <a:t>Scatter-plot R² ≠ CV R² → redesigned evaluation figures</a:t>
            </a:r>
          </a:p>
          <a:p>
            <a:pPr marL="285750" indent="-285750">
              <a:spcAft>
                <a:spcPts val="1000"/>
              </a:spcAft>
              <a:buFont typeface="Arial" panose="020B0604020202020204" pitchFamily="34" charset="0"/>
              <a:buChar char="•"/>
              <a:defRPr sz="1700">
                <a:solidFill>
                  <a:srgbClr val="1C2833"/>
                </a:solidFill>
                <a:latin typeface="Microsoft JhengHei"/>
              </a:defRPr>
            </a:pPr>
            <a:r>
              <a:t>Session leakage → GroupKFold by session_id throughout</a:t>
            </a:r>
          </a:p>
          <a:p>
            <a:pPr marL="285750" indent="-285750">
              <a:spcAft>
                <a:spcPts val="1000"/>
              </a:spcAft>
              <a:buFont typeface="Arial" panose="020B0604020202020204" pitchFamily="34" charset="0"/>
              <a:buChar char="•"/>
              <a:defRPr sz="1700">
                <a:solidFill>
                  <a:srgbClr val="1C2833"/>
                </a:solidFill>
                <a:latin typeface="Microsoft JhengHei"/>
              </a:defRPr>
            </a:pPr>
            <a:r>
              <a:t>Model selection bias → consistent best-model selected by max mean GroupKFold R²</a:t>
            </a:r>
          </a:p>
          <a:p>
            <a:pPr marL="285750" indent="-285750">
              <a:spcAft>
                <a:spcPts val="1000"/>
              </a:spcAft>
              <a:buFont typeface="Arial" panose="020B0604020202020204" pitchFamily="34" charset="0"/>
              <a:buChar char="•"/>
              <a:defRPr sz="1700">
                <a:solidFill>
                  <a:srgbClr val="1C2833"/>
                </a:solidFill>
                <a:latin typeface="Microsoft JhengHei"/>
              </a:defRPr>
            </a:pPr>
            <a:r>
              <a:t>‘Acid’ column ambiguous → documented as inferred uric acid</a:t>
            </a:r>
          </a:p>
          <a:p>
            <a:pPr marL="285750" indent="-285750">
              <a:spcAft>
                <a:spcPts val="1000"/>
              </a:spcAft>
              <a:buFont typeface="Arial" panose="020B0604020202020204" pitchFamily="34" charset="0"/>
              <a:buChar char="•"/>
              <a:defRPr sz="1700">
                <a:solidFill>
                  <a:srgbClr val="1C2833"/>
                </a:solidFill>
                <a:latin typeface="Microsoft JhengHei"/>
              </a:defRPr>
            </a:pPr>
            <a:r>
              <a:t>Unrealistic early predictions → traced to config error, fixed</a:t>
            </a:r>
          </a:p>
        </p:txBody>
      </p:sp>
      <p:sp>
        <p:nvSpPr>
          <p:cNvPr id="10" name="Rectangle 9"/>
          <p:cNvSpPr/>
          <p:nvPr/>
        </p:nvSpPr>
        <p:spPr>
          <a:xfrm>
            <a:off x="457200" y="5779008"/>
            <a:ext cx="11247120" cy="804672"/>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5833872"/>
            <a:ext cx="3657600" cy="347472"/>
          </a:xfrm>
          <a:prstGeom prst="rect">
            <a:avLst/>
          </a:prstGeom>
          <a:noFill/>
        </p:spPr>
        <p:txBody>
          <a:bodyPr wrap="square" anchor="t">
            <a:spAutoFit/>
          </a:bodyPr>
          <a:lstStyle/>
          <a:p>
            <a:pPr algn="l">
              <a:defRPr sz="1500" b="1">
                <a:solidFill>
                  <a:srgbClr val="F39C12"/>
                </a:solidFill>
                <a:latin typeface="Microsoft JhengHei"/>
              </a:defRPr>
            </a:pPr>
            <a:r>
              <a:t>Remaining Limitations:</a:t>
            </a:r>
          </a:p>
        </p:txBody>
      </p:sp>
      <p:sp>
        <p:nvSpPr>
          <p:cNvPr id="12" name="TextBox 11"/>
          <p:cNvSpPr txBox="1"/>
          <p:nvPr/>
        </p:nvSpPr>
        <p:spPr>
          <a:xfrm>
            <a:off x="685800" y="6144768"/>
            <a:ext cx="10789920" cy="384048"/>
          </a:xfrm>
          <a:prstGeom prst="rect">
            <a:avLst/>
          </a:prstGeom>
          <a:noFill/>
        </p:spPr>
        <p:txBody>
          <a:bodyPr wrap="square" anchor="t">
            <a:spAutoFit/>
          </a:bodyPr>
          <a:lstStyle/>
          <a:p>
            <a:pPr algn="l">
              <a:defRPr sz="1300" b="0">
                <a:solidFill>
                  <a:srgbClr val="566573"/>
                </a:solidFill>
                <a:latin typeface="Microsoft JhengHei"/>
              </a:defRPr>
            </a:pPr>
            <a:r>
              <a:t>Small dataset (9 patients, 30 sessions)  |  GroupKFold folds vary in size  |  ‘Acid’ mapping is inferred  |  Not a clinical product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2342"/>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38912"/>
            <a:ext cx="10515600" cy="685800"/>
          </a:xfrm>
          <a:prstGeom prst="rect">
            <a:avLst/>
          </a:prstGeom>
          <a:noFill/>
        </p:spPr>
        <p:txBody>
          <a:bodyPr wrap="square" anchor="t">
            <a:spAutoFit/>
          </a:bodyPr>
          <a:lstStyle/>
          <a:p>
            <a:pPr algn="l">
              <a:defRPr sz="3600" b="1">
                <a:solidFill>
                  <a:srgbClr val="FFFFFF"/>
                </a:solidFill>
                <a:latin typeface="Microsoft JhengHei"/>
              </a:defRPr>
            </a:pPr>
            <a:r>
              <a:t>Conclusion</a:t>
            </a:r>
          </a:p>
        </p:txBody>
      </p:sp>
      <p:sp>
        <p:nvSpPr>
          <p:cNvPr id="4" name="Rectangle 3"/>
          <p:cNvSpPr/>
          <p:nvPr/>
        </p:nvSpPr>
        <p:spPr>
          <a:xfrm>
            <a:off x="731520" y="1115568"/>
            <a:ext cx="4114800" cy="1828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353312"/>
            <a:ext cx="64008" cy="80467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371600"/>
            <a:ext cx="2194560" cy="438912"/>
          </a:xfrm>
          <a:prstGeom prst="rect">
            <a:avLst/>
          </a:prstGeom>
          <a:noFill/>
        </p:spPr>
        <p:txBody>
          <a:bodyPr wrap="square" anchor="t">
            <a:spAutoFit/>
          </a:bodyPr>
          <a:lstStyle/>
          <a:p>
            <a:pPr algn="l">
              <a:defRPr sz="1800" b="1">
                <a:solidFill>
                  <a:srgbClr val="2E86C1"/>
                </a:solidFill>
                <a:latin typeface="Microsoft JhengHei"/>
              </a:defRPr>
            </a:pPr>
            <a:r>
              <a:t>Problem</a:t>
            </a:r>
          </a:p>
        </p:txBody>
      </p:sp>
      <p:sp>
        <p:nvSpPr>
          <p:cNvPr id="7" name="TextBox 6"/>
          <p:cNvSpPr txBox="1"/>
          <p:nvPr/>
        </p:nvSpPr>
        <p:spPr>
          <a:xfrm>
            <a:off x="3291840" y="1371600"/>
            <a:ext cx="8229600" cy="804672"/>
          </a:xfrm>
          <a:prstGeom prst="rect">
            <a:avLst/>
          </a:prstGeom>
          <a:noFill/>
        </p:spPr>
        <p:txBody>
          <a:bodyPr wrap="square" anchor="t">
            <a:spAutoFit/>
          </a:bodyPr>
          <a:lstStyle/>
          <a:p>
            <a:pPr algn="l">
              <a:defRPr sz="1600" b="0">
                <a:solidFill>
                  <a:srgbClr val="FFFFFF"/>
                </a:solidFill>
                <a:latin typeface="Microsoft JhengHei"/>
              </a:defRPr>
            </a:pPr>
            <a:r>
              <a:t>6 uremic toxin targets from optoelectronic HD data — clinically meaningful multivariate regression</a:t>
            </a:r>
          </a:p>
        </p:txBody>
      </p:sp>
      <p:sp>
        <p:nvSpPr>
          <p:cNvPr id="8" name="Rectangle 7"/>
          <p:cNvSpPr/>
          <p:nvPr/>
        </p:nvSpPr>
        <p:spPr>
          <a:xfrm>
            <a:off x="731520" y="2359152"/>
            <a:ext cx="64008" cy="80467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2377440"/>
            <a:ext cx="2194560" cy="438912"/>
          </a:xfrm>
          <a:prstGeom prst="rect">
            <a:avLst/>
          </a:prstGeom>
          <a:noFill/>
        </p:spPr>
        <p:txBody>
          <a:bodyPr wrap="square" anchor="t">
            <a:spAutoFit/>
          </a:bodyPr>
          <a:lstStyle/>
          <a:p>
            <a:pPr algn="l">
              <a:defRPr sz="1800" b="1">
                <a:solidFill>
                  <a:srgbClr val="2E86C1"/>
                </a:solidFill>
                <a:latin typeface="Microsoft JhengHei"/>
              </a:defRPr>
            </a:pPr>
            <a:r>
              <a:t>Method</a:t>
            </a:r>
          </a:p>
        </p:txBody>
      </p:sp>
      <p:sp>
        <p:nvSpPr>
          <p:cNvPr id="10" name="TextBox 9"/>
          <p:cNvSpPr txBox="1"/>
          <p:nvPr/>
        </p:nvSpPr>
        <p:spPr>
          <a:xfrm>
            <a:off x="3291840" y="2377440"/>
            <a:ext cx="8229600" cy="804672"/>
          </a:xfrm>
          <a:prstGeom prst="rect">
            <a:avLst/>
          </a:prstGeom>
          <a:noFill/>
        </p:spPr>
        <p:txBody>
          <a:bodyPr wrap="square" anchor="t">
            <a:spAutoFit/>
          </a:bodyPr>
          <a:lstStyle/>
          <a:p>
            <a:pPr algn="l">
              <a:defRPr sz="1600" b="0">
                <a:solidFill>
                  <a:srgbClr val="FFFFFF"/>
                </a:solidFill>
                <a:latin typeface="Microsoft JhengHei"/>
              </a:defRPr>
            </a:pPr>
            <a:r>
              <a:t>AI-agent-assisted pipeline: 5 wavelengths, 4 models, session-level GroupKFold evaluation</a:t>
            </a:r>
          </a:p>
        </p:txBody>
      </p:sp>
      <p:sp>
        <p:nvSpPr>
          <p:cNvPr id="11" name="Rectangle 10"/>
          <p:cNvSpPr/>
          <p:nvPr/>
        </p:nvSpPr>
        <p:spPr>
          <a:xfrm>
            <a:off x="731520" y="3364992"/>
            <a:ext cx="64008" cy="80467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3383280"/>
            <a:ext cx="2194560" cy="438912"/>
          </a:xfrm>
          <a:prstGeom prst="rect">
            <a:avLst/>
          </a:prstGeom>
          <a:noFill/>
        </p:spPr>
        <p:txBody>
          <a:bodyPr wrap="square" anchor="t">
            <a:spAutoFit/>
          </a:bodyPr>
          <a:lstStyle/>
          <a:p>
            <a:pPr algn="l">
              <a:defRPr sz="1800" b="1">
                <a:solidFill>
                  <a:srgbClr val="2E86C1"/>
                </a:solidFill>
                <a:latin typeface="Microsoft JhengHei"/>
              </a:defRPr>
            </a:pPr>
            <a:r>
              <a:t>Evaluation Rigor</a:t>
            </a:r>
          </a:p>
        </p:txBody>
      </p:sp>
      <p:sp>
        <p:nvSpPr>
          <p:cNvPr id="13" name="TextBox 12"/>
          <p:cNvSpPr txBox="1"/>
          <p:nvPr/>
        </p:nvSpPr>
        <p:spPr>
          <a:xfrm>
            <a:off x="3291840" y="3383280"/>
            <a:ext cx="8229600" cy="804672"/>
          </a:xfrm>
          <a:prstGeom prst="rect">
            <a:avLst/>
          </a:prstGeom>
          <a:noFill/>
        </p:spPr>
        <p:txBody>
          <a:bodyPr wrap="square" anchor="t">
            <a:spAutoFit/>
          </a:bodyPr>
          <a:lstStyle/>
          <a:p>
            <a:pPr algn="l">
              <a:defRPr sz="1600" b="0">
                <a:solidFill>
                  <a:srgbClr val="FFFFFF"/>
                </a:solidFill>
                <a:latin typeface="Microsoft JhengHei"/>
              </a:defRPr>
            </a:pPr>
            <a:r>
              <a:t>GroupKFold ensures every session is tested unseen — eliminates row-level CV bias throughout</a:t>
            </a:r>
          </a:p>
        </p:txBody>
      </p:sp>
      <p:sp>
        <p:nvSpPr>
          <p:cNvPr id="14" name="Rectangle 13"/>
          <p:cNvSpPr/>
          <p:nvPr/>
        </p:nvSpPr>
        <p:spPr>
          <a:xfrm>
            <a:off x="731520" y="4370832"/>
            <a:ext cx="64008" cy="80467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5840" y="4389120"/>
            <a:ext cx="2194560" cy="438912"/>
          </a:xfrm>
          <a:prstGeom prst="rect">
            <a:avLst/>
          </a:prstGeom>
          <a:noFill/>
        </p:spPr>
        <p:txBody>
          <a:bodyPr wrap="square" anchor="t">
            <a:spAutoFit/>
          </a:bodyPr>
          <a:lstStyle/>
          <a:p>
            <a:pPr algn="l">
              <a:defRPr sz="1800" b="1">
                <a:solidFill>
                  <a:srgbClr val="2E86C1"/>
                </a:solidFill>
                <a:latin typeface="Microsoft JhengHei"/>
              </a:defRPr>
            </a:pPr>
            <a:r>
              <a:t>Key Result</a:t>
            </a:r>
          </a:p>
        </p:txBody>
      </p:sp>
      <p:sp>
        <p:nvSpPr>
          <p:cNvPr id="16" name="TextBox 15"/>
          <p:cNvSpPr txBox="1"/>
          <p:nvPr/>
        </p:nvSpPr>
        <p:spPr>
          <a:xfrm>
            <a:off x="3291840" y="4389120"/>
            <a:ext cx="8229600" cy="804672"/>
          </a:xfrm>
          <a:prstGeom prst="rect">
            <a:avLst/>
          </a:prstGeom>
          <a:noFill/>
        </p:spPr>
        <p:txBody>
          <a:bodyPr wrap="square" anchor="t">
            <a:spAutoFit/>
          </a:bodyPr>
          <a:lstStyle/>
          <a:p>
            <a:pPr algn="l">
              <a:defRPr sz="1600" b="0">
                <a:solidFill>
                  <a:srgbClr val="FFFFFF"/>
                </a:solidFill>
                <a:latin typeface="Microsoft JhengHei"/>
              </a:defRPr>
            </a:pPr>
            <a:r>
              <a:t>Uric Acid R²=0.773, B2M=0.769, Creatinine=0.757, Urea=0.745 — all from grouped unseen sessions</a:t>
            </a:r>
          </a:p>
        </p:txBody>
      </p:sp>
      <p:sp>
        <p:nvSpPr>
          <p:cNvPr id="17" name="Rectangle 16"/>
          <p:cNvSpPr/>
          <p:nvPr/>
        </p:nvSpPr>
        <p:spPr>
          <a:xfrm>
            <a:off x="731520" y="5376672"/>
            <a:ext cx="64008" cy="80467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05840" y="5394960"/>
            <a:ext cx="2194560" cy="438912"/>
          </a:xfrm>
          <a:prstGeom prst="rect">
            <a:avLst/>
          </a:prstGeom>
          <a:noFill/>
        </p:spPr>
        <p:txBody>
          <a:bodyPr wrap="square" anchor="t">
            <a:spAutoFit/>
          </a:bodyPr>
          <a:lstStyle/>
          <a:p>
            <a:pPr algn="l">
              <a:defRPr sz="1800" b="1">
                <a:solidFill>
                  <a:srgbClr val="2E86C1"/>
                </a:solidFill>
                <a:latin typeface="Microsoft JhengHei"/>
              </a:defRPr>
            </a:pPr>
            <a:r>
              <a:t>Outcome</a:t>
            </a:r>
          </a:p>
        </p:txBody>
      </p:sp>
      <p:sp>
        <p:nvSpPr>
          <p:cNvPr id="19" name="TextBox 18"/>
          <p:cNvSpPr txBox="1"/>
          <p:nvPr/>
        </p:nvSpPr>
        <p:spPr>
          <a:xfrm>
            <a:off x="3291840" y="5394960"/>
            <a:ext cx="8229600" cy="804672"/>
          </a:xfrm>
          <a:prstGeom prst="rect">
            <a:avLst/>
          </a:prstGeom>
          <a:noFill/>
        </p:spPr>
        <p:txBody>
          <a:bodyPr wrap="square" anchor="t">
            <a:spAutoFit/>
          </a:bodyPr>
          <a:lstStyle/>
          <a:p>
            <a:pPr algn="l">
              <a:defRPr sz="1600" b="0">
                <a:solidFill>
                  <a:srgbClr val="FFFFFF"/>
                </a:solidFill>
                <a:latin typeface="Microsoft JhengHei"/>
              </a:defRPr>
            </a:pPr>
            <a:r>
              <a:t>Evaluation discipline matters as much as model choice. Senior’s paper: solid concept; this project: stress-tested rigor.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1064240" cy="621792"/>
          </a:xfrm>
          <a:prstGeom prst="rect">
            <a:avLst/>
          </a:prstGeom>
          <a:noFill/>
        </p:spPr>
        <p:txBody>
          <a:bodyPr wrap="square" anchor="t">
            <a:spAutoFit/>
          </a:bodyPr>
          <a:lstStyle/>
          <a:p>
            <a:pPr algn="l">
              <a:defRPr sz="2800" b="1">
                <a:solidFill>
                  <a:srgbClr val="1C2833"/>
                </a:solidFill>
                <a:latin typeface="Microsoft JhengHei"/>
              </a:defRPr>
            </a:pPr>
            <a:r>
              <a:t>Future Work</a:t>
            </a:r>
          </a:p>
        </p:txBody>
      </p:sp>
      <p:sp>
        <p:nvSpPr>
          <p:cNvPr id="4" name="TextBox 3"/>
          <p:cNvSpPr txBox="1"/>
          <p:nvPr/>
        </p:nvSpPr>
        <p:spPr>
          <a:xfrm>
            <a:off x="548640" y="795528"/>
            <a:ext cx="11064240" cy="329184"/>
          </a:xfrm>
          <a:prstGeom prst="rect">
            <a:avLst/>
          </a:prstGeom>
          <a:noFill/>
        </p:spPr>
        <p:txBody>
          <a:bodyPr wrap="square" anchor="t">
            <a:spAutoFit/>
          </a:bodyPr>
          <a:lstStyle/>
          <a:p>
            <a:pPr algn="l">
              <a:defRPr sz="1300" b="0">
                <a:solidFill>
                  <a:srgbClr val="566573"/>
                </a:solidFill>
                <a:latin typeface="Microsoft JhengHei"/>
              </a:defRPr>
            </a:pPr>
            <a:r>
              <a:t>Grounded in current project findings</a:t>
            </a:r>
          </a:p>
        </p:txBody>
      </p:sp>
      <p:sp>
        <p:nvSpPr>
          <p:cNvPr id="5" name="Rectangle 4"/>
          <p:cNvSpPr/>
          <p:nvPr/>
        </p:nvSpPr>
        <p:spPr>
          <a:xfrm>
            <a:off x="548640" y="1143000"/>
            <a:ext cx="11064240" cy="1371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280160"/>
            <a:ext cx="5577840" cy="157276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80160"/>
            <a:ext cx="64008" cy="157276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89888"/>
            <a:ext cx="5166360" cy="420624"/>
          </a:xfrm>
          <a:prstGeom prst="rect">
            <a:avLst/>
          </a:prstGeom>
          <a:noFill/>
        </p:spPr>
        <p:txBody>
          <a:bodyPr wrap="square" anchor="t">
            <a:spAutoFit/>
          </a:bodyPr>
          <a:lstStyle/>
          <a:p>
            <a:pPr algn="l">
              <a:defRPr sz="1600" b="1">
                <a:solidFill>
                  <a:srgbClr val="0A2342"/>
                </a:solidFill>
                <a:latin typeface="Microsoft JhengHei"/>
              </a:defRPr>
            </a:pPr>
            <a:r>
              <a:t>Repeated GroupKFold / LOGO CV</a:t>
            </a:r>
          </a:p>
        </p:txBody>
      </p:sp>
      <p:sp>
        <p:nvSpPr>
          <p:cNvPr id="9" name="TextBox 8"/>
          <p:cNvSpPr txBox="1"/>
          <p:nvPr/>
        </p:nvSpPr>
        <p:spPr>
          <a:xfrm>
            <a:off x="685800" y="1828800"/>
            <a:ext cx="5166360" cy="914400"/>
          </a:xfrm>
          <a:prstGeom prst="rect">
            <a:avLst/>
          </a:prstGeom>
          <a:noFill/>
        </p:spPr>
        <p:txBody>
          <a:bodyPr wrap="square" anchor="t">
            <a:spAutoFit/>
          </a:bodyPr>
          <a:lstStyle/>
          <a:p>
            <a:pPr algn="l">
              <a:defRPr sz="1500" b="0">
                <a:solidFill>
                  <a:srgbClr val="1C2833"/>
                </a:solidFill>
                <a:latin typeface="Microsoft JhengHei"/>
              </a:defRPr>
            </a:pPr>
            <a:r>
              <a:t>Repeated GroupKFold or leave-one-patient-out for better variance estimates</a:t>
            </a:r>
          </a:p>
        </p:txBody>
      </p:sp>
      <p:sp>
        <p:nvSpPr>
          <p:cNvPr id="10" name="Rectangle 9"/>
          <p:cNvSpPr/>
          <p:nvPr/>
        </p:nvSpPr>
        <p:spPr>
          <a:xfrm>
            <a:off x="6327648" y="1280160"/>
            <a:ext cx="5577840" cy="157276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27648" y="1280160"/>
            <a:ext cx="64008" cy="157276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56248" y="1389888"/>
            <a:ext cx="5166360" cy="420624"/>
          </a:xfrm>
          <a:prstGeom prst="rect">
            <a:avLst/>
          </a:prstGeom>
          <a:noFill/>
        </p:spPr>
        <p:txBody>
          <a:bodyPr wrap="square" anchor="t">
            <a:spAutoFit/>
          </a:bodyPr>
          <a:lstStyle/>
          <a:p>
            <a:pPr algn="l">
              <a:defRPr sz="1600" b="1">
                <a:solidFill>
                  <a:srgbClr val="0A2342"/>
                </a:solidFill>
                <a:latin typeface="Microsoft JhengHei"/>
              </a:defRPr>
            </a:pPr>
            <a:r>
              <a:t>Confirm ‘Acid’ semantics</a:t>
            </a:r>
          </a:p>
        </p:txBody>
      </p:sp>
      <p:sp>
        <p:nvSpPr>
          <p:cNvPr id="13" name="TextBox 12"/>
          <p:cNvSpPr txBox="1"/>
          <p:nvPr/>
        </p:nvSpPr>
        <p:spPr>
          <a:xfrm>
            <a:off x="6556248" y="1828800"/>
            <a:ext cx="5166360" cy="914400"/>
          </a:xfrm>
          <a:prstGeom prst="rect">
            <a:avLst/>
          </a:prstGeom>
          <a:noFill/>
        </p:spPr>
        <p:txBody>
          <a:bodyPr wrap="square" anchor="t">
            <a:spAutoFit/>
          </a:bodyPr>
          <a:lstStyle/>
          <a:p>
            <a:pPr algn="l">
              <a:defRPr sz="1500" b="0">
                <a:solidFill>
                  <a:srgbClr val="1C2833"/>
                </a:solidFill>
                <a:latin typeface="Microsoft JhengHei"/>
              </a:defRPr>
            </a:pPr>
            <a:r>
              <a:t>Verify ‘Acid’ column maps to uric acid with clinical domain experts</a:t>
            </a:r>
          </a:p>
        </p:txBody>
      </p:sp>
      <p:sp>
        <p:nvSpPr>
          <p:cNvPr id="14" name="Rectangle 13"/>
          <p:cNvSpPr/>
          <p:nvPr/>
        </p:nvSpPr>
        <p:spPr>
          <a:xfrm>
            <a:off x="457200" y="3063239"/>
            <a:ext cx="5577840" cy="157276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3063239"/>
            <a:ext cx="64008" cy="157276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3172968"/>
            <a:ext cx="5166360" cy="420624"/>
          </a:xfrm>
          <a:prstGeom prst="rect">
            <a:avLst/>
          </a:prstGeom>
          <a:noFill/>
        </p:spPr>
        <p:txBody>
          <a:bodyPr wrap="square" anchor="t">
            <a:spAutoFit/>
          </a:bodyPr>
          <a:lstStyle/>
          <a:p>
            <a:pPr algn="l">
              <a:defRPr sz="1600" b="1">
                <a:solidFill>
                  <a:srgbClr val="0A2342"/>
                </a:solidFill>
                <a:latin typeface="Microsoft JhengHei"/>
              </a:defRPr>
            </a:pPr>
            <a:r>
              <a:t>Nested hyperparameter tuning</a:t>
            </a:r>
          </a:p>
        </p:txBody>
      </p:sp>
      <p:sp>
        <p:nvSpPr>
          <p:cNvPr id="17" name="TextBox 16"/>
          <p:cNvSpPr txBox="1"/>
          <p:nvPr/>
        </p:nvSpPr>
        <p:spPr>
          <a:xfrm>
            <a:off x="685800" y="3611879"/>
            <a:ext cx="5166360" cy="914400"/>
          </a:xfrm>
          <a:prstGeom prst="rect">
            <a:avLst/>
          </a:prstGeom>
          <a:noFill/>
        </p:spPr>
        <p:txBody>
          <a:bodyPr wrap="square" anchor="t">
            <a:spAutoFit/>
          </a:bodyPr>
          <a:lstStyle/>
          <a:p>
            <a:pPr algn="l">
              <a:defRPr sz="1500" b="0">
                <a:solidFill>
                  <a:srgbClr val="1C2833"/>
                </a:solidFill>
                <a:latin typeface="Microsoft JhengHei"/>
              </a:defRPr>
            </a:pPr>
            <a:r>
              <a:t>Nested CV for SVR kernel and regularization within each GroupKFold fold</a:t>
            </a:r>
          </a:p>
        </p:txBody>
      </p:sp>
      <p:sp>
        <p:nvSpPr>
          <p:cNvPr id="18" name="Rectangle 17"/>
          <p:cNvSpPr/>
          <p:nvPr/>
        </p:nvSpPr>
        <p:spPr>
          <a:xfrm>
            <a:off x="6327648" y="3063239"/>
            <a:ext cx="5577840" cy="157276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327648" y="3063239"/>
            <a:ext cx="64008" cy="157276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56248" y="3172968"/>
            <a:ext cx="5166360" cy="420624"/>
          </a:xfrm>
          <a:prstGeom prst="rect">
            <a:avLst/>
          </a:prstGeom>
          <a:noFill/>
        </p:spPr>
        <p:txBody>
          <a:bodyPr wrap="square" anchor="t">
            <a:spAutoFit/>
          </a:bodyPr>
          <a:lstStyle/>
          <a:p>
            <a:pPr algn="l">
              <a:defRPr sz="1600" b="1">
                <a:solidFill>
                  <a:srgbClr val="0A2342"/>
                </a:solidFill>
                <a:latin typeface="Microsoft JhengHei"/>
              </a:defRPr>
            </a:pPr>
            <a:r>
              <a:t>Time-series modeling</a:t>
            </a:r>
          </a:p>
        </p:txBody>
      </p:sp>
      <p:sp>
        <p:nvSpPr>
          <p:cNvPr id="21" name="TextBox 20"/>
          <p:cNvSpPr txBox="1"/>
          <p:nvPr/>
        </p:nvSpPr>
        <p:spPr>
          <a:xfrm>
            <a:off x="6556248" y="3611879"/>
            <a:ext cx="5166360" cy="914400"/>
          </a:xfrm>
          <a:prstGeom prst="rect">
            <a:avLst/>
          </a:prstGeom>
          <a:noFill/>
        </p:spPr>
        <p:txBody>
          <a:bodyPr wrap="square" anchor="t">
            <a:spAutoFit/>
          </a:bodyPr>
          <a:lstStyle/>
          <a:p>
            <a:pPr algn="l">
              <a:defRPr sz="1500" b="0">
                <a:solidFill>
                  <a:srgbClr val="1C2833"/>
                </a:solidFill>
                <a:latin typeface="Microsoft JhengHei"/>
              </a:defRPr>
            </a:pPr>
            <a:r>
              <a:t>Explore LSTM or temporal features — intra-session data has time structure</a:t>
            </a:r>
          </a:p>
        </p:txBody>
      </p:sp>
      <p:sp>
        <p:nvSpPr>
          <p:cNvPr id="22" name="Rectangle 21"/>
          <p:cNvSpPr/>
          <p:nvPr/>
        </p:nvSpPr>
        <p:spPr>
          <a:xfrm>
            <a:off x="457200" y="4846320"/>
            <a:ext cx="5577840" cy="157276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7200" y="4846320"/>
            <a:ext cx="64008" cy="157276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5800" y="4956048"/>
            <a:ext cx="5166360" cy="420624"/>
          </a:xfrm>
          <a:prstGeom prst="rect">
            <a:avLst/>
          </a:prstGeom>
          <a:noFill/>
        </p:spPr>
        <p:txBody>
          <a:bodyPr wrap="square" anchor="t">
            <a:spAutoFit/>
          </a:bodyPr>
          <a:lstStyle/>
          <a:p>
            <a:pPr algn="l">
              <a:defRPr sz="1600" b="1">
                <a:solidFill>
                  <a:srgbClr val="0A2342"/>
                </a:solidFill>
                <a:latin typeface="Microsoft JhengHei"/>
              </a:defRPr>
            </a:pPr>
            <a:r>
              <a:t>Larger patient cohort</a:t>
            </a:r>
          </a:p>
        </p:txBody>
      </p:sp>
      <p:sp>
        <p:nvSpPr>
          <p:cNvPr id="25" name="TextBox 24"/>
          <p:cNvSpPr txBox="1"/>
          <p:nvPr/>
        </p:nvSpPr>
        <p:spPr>
          <a:xfrm>
            <a:off x="685800" y="5394959"/>
            <a:ext cx="5166360" cy="914400"/>
          </a:xfrm>
          <a:prstGeom prst="rect">
            <a:avLst/>
          </a:prstGeom>
          <a:noFill/>
        </p:spPr>
        <p:txBody>
          <a:bodyPr wrap="square" anchor="t">
            <a:spAutoFit/>
          </a:bodyPr>
          <a:lstStyle/>
          <a:p>
            <a:pPr algn="l">
              <a:defRPr sz="1500" b="0">
                <a:solidFill>
                  <a:srgbClr val="1C2833"/>
                </a:solidFill>
                <a:latin typeface="Microsoft JhengHei"/>
              </a:defRPr>
            </a:pPr>
            <a:r>
              <a:t>Expand to larger cohort — 9 patients limits generalizability</a:t>
            </a:r>
          </a:p>
        </p:txBody>
      </p:sp>
      <p:sp>
        <p:nvSpPr>
          <p:cNvPr id="26" name="Rectangle 25"/>
          <p:cNvSpPr/>
          <p:nvPr/>
        </p:nvSpPr>
        <p:spPr>
          <a:xfrm>
            <a:off x="6327648" y="4846320"/>
            <a:ext cx="5577840" cy="157276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327648" y="4846320"/>
            <a:ext cx="64008" cy="157276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56248" y="4956048"/>
            <a:ext cx="5166360" cy="420624"/>
          </a:xfrm>
          <a:prstGeom prst="rect">
            <a:avLst/>
          </a:prstGeom>
          <a:noFill/>
        </p:spPr>
        <p:txBody>
          <a:bodyPr wrap="square" anchor="t">
            <a:spAutoFit/>
          </a:bodyPr>
          <a:lstStyle/>
          <a:p>
            <a:pPr algn="l">
              <a:defRPr sz="1600" b="1">
                <a:solidFill>
                  <a:srgbClr val="0A2342"/>
                </a:solidFill>
                <a:latin typeface="Microsoft JhengHei"/>
              </a:defRPr>
            </a:pPr>
            <a:r>
              <a:t>Residual diagnostics</a:t>
            </a:r>
          </a:p>
        </p:txBody>
      </p:sp>
      <p:sp>
        <p:nvSpPr>
          <p:cNvPr id="29" name="TextBox 28"/>
          <p:cNvSpPr txBox="1"/>
          <p:nvPr/>
        </p:nvSpPr>
        <p:spPr>
          <a:xfrm>
            <a:off x="6556248" y="5394959"/>
            <a:ext cx="5166360" cy="914400"/>
          </a:xfrm>
          <a:prstGeom prst="rect">
            <a:avLst/>
          </a:prstGeom>
          <a:noFill/>
        </p:spPr>
        <p:txBody>
          <a:bodyPr wrap="square" anchor="t">
            <a:spAutoFit/>
          </a:bodyPr>
          <a:lstStyle/>
          <a:p>
            <a:pPr algn="l">
              <a:defRPr sz="1500" b="0">
                <a:solidFill>
                  <a:srgbClr val="1C2833"/>
                </a:solidFill>
                <a:latin typeface="Microsoft JhengHei"/>
              </a:defRPr>
            </a:pPr>
            <a:r>
              <a:t>Per-session residual analysis to identify hardest-to-predict sessions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A2342"/>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38912"/>
            <a:ext cx="10515600" cy="685800"/>
          </a:xfrm>
          <a:prstGeom prst="rect">
            <a:avLst/>
          </a:prstGeom>
          <a:noFill/>
        </p:spPr>
        <p:txBody>
          <a:bodyPr wrap="square" anchor="t">
            <a:spAutoFit/>
          </a:bodyPr>
          <a:lstStyle/>
          <a:p>
            <a:pPr algn="l">
              <a:defRPr sz="3600" b="1">
                <a:solidFill>
                  <a:srgbClr val="FFFFFF"/>
                </a:solidFill>
                <a:latin typeface="Microsoft JhengHei"/>
              </a:defRPr>
            </a:pPr>
            <a:r>
              <a:t>Reflection &amp; Final Takeaway</a:t>
            </a:r>
          </a:p>
        </p:txBody>
      </p:sp>
      <p:sp>
        <p:nvSpPr>
          <p:cNvPr id="4" name="Rectangle 3"/>
          <p:cNvSpPr/>
          <p:nvPr/>
        </p:nvSpPr>
        <p:spPr>
          <a:xfrm>
            <a:off x="731520" y="1115568"/>
            <a:ext cx="4114800" cy="1828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353312"/>
            <a:ext cx="64008" cy="54864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24128" y="1371600"/>
            <a:ext cx="10698480" cy="530352"/>
          </a:xfrm>
          <a:prstGeom prst="rect">
            <a:avLst/>
          </a:prstGeom>
          <a:noFill/>
        </p:spPr>
        <p:txBody>
          <a:bodyPr wrap="square" anchor="t">
            <a:spAutoFit/>
          </a:bodyPr>
          <a:lstStyle/>
          <a:p>
            <a:pPr algn="l">
              <a:defRPr sz="1700" b="0">
                <a:solidFill>
                  <a:srgbClr val="FFFFFF"/>
                </a:solidFill>
                <a:latin typeface="Microsoft JhengHei"/>
              </a:defRPr>
            </a:pPr>
            <a:r>
              <a:t>Trustworthy ML requires both predictive modeling skill and evaluation discipline</a:t>
            </a:r>
          </a:p>
        </p:txBody>
      </p:sp>
      <p:sp>
        <p:nvSpPr>
          <p:cNvPr id="7" name="Rectangle 6"/>
          <p:cNvSpPr/>
          <p:nvPr/>
        </p:nvSpPr>
        <p:spPr>
          <a:xfrm>
            <a:off x="731520" y="2103120"/>
            <a:ext cx="64008" cy="54864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2121408"/>
            <a:ext cx="10698480" cy="530352"/>
          </a:xfrm>
          <a:prstGeom prst="rect">
            <a:avLst/>
          </a:prstGeom>
          <a:noFill/>
        </p:spPr>
        <p:txBody>
          <a:bodyPr wrap="square" anchor="t">
            <a:spAutoFit/>
          </a:bodyPr>
          <a:lstStyle/>
          <a:p>
            <a:pPr algn="l">
              <a:defRPr sz="1700" b="0">
                <a:solidFill>
                  <a:srgbClr val="FFFFFF"/>
                </a:solidFill>
                <a:latin typeface="Microsoft JhengHei"/>
              </a:defRPr>
            </a:pPr>
            <a:r>
              <a:t>The AI agent accelerated not just coding, but the entire correction-and-learning cycle</a:t>
            </a:r>
          </a:p>
        </p:txBody>
      </p:sp>
      <p:sp>
        <p:nvSpPr>
          <p:cNvPr id="9" name="Rectangle 8"/>
          <p:cNvSpPr/>
          <p:nvPr/>
        </p:nvSpPr>
        <p:spPr>
          <a:xfrm>
            <a:off x="731520" y="2852928"/>
            <a:ext cx="64008" cy="54864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24128" y="2871216"/>
            <a:ext cx="10698480" cy="530352"/>
          </a:xfrm>
          <a:prstGeom prst="rect">
            <a:avLst/>
          </a:prstGeom>
          <a:noFill/>
        </p:spPr>
        <p:txBody>
          <a:bodyPr wrap="square" anchor="t">
            <a:spAutoFit/>
          </a:bodyPr>
          <a:lstStyle/>
          <a:p>
            <a:pPr algn="l">
              <a:defRPr sz="1700" b="0">
                <a:solidFill>
                  <a:srgbClr val="FFFFFF"/>
                </a:solidFill>
                <a:latin typeface="Microsoft JhengHei"/>
              </a:defRPr>
            </a:pPr>
            <a:r>
              <a:t>The value is not R² scores — it’s the documented path from initial results to trustworthy evidence</a:t>
            </a:r>
          </a:p>
        </p:txBody>
      </p:sp>
      <p:sp>
        <p:nvSpPr>
          <p:cNvPr id="11" name="Rectangle 10"/>
          <p:cNvSpPr/>
          <p:nvPr/>
        </p:nvSpPr>
        <p:spPr>
          <a:xfrm>
            <a:off x="731520" y="3602736"/>
            <a:ext cx="64008" cy="54864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4128" y="3621024"/>
            <a:ext cx="10698480" cy="530352"/>
          </a:xfrm>
          <a:prstGeom prst="rect">
            <a:avLst/>
          </a:prstGeom>
          <a:noFill/>
        </p:spPr>
        <p:txBody>
          <a:bodyPr wrap="square" anchor="t">
            <a:spAutoFit/>
          </a:bodyPr>
          <a:lstStyle/>
          <a:p>
            <a:pPr algn="l">
              <a:defRPr sz="1700" b="0">
                <a:solidFill>
                  <a:srgbClr val="FFFFFF"/>
                </a:solidFill>
                <a:latin typeface="Microsoft JhengHei"/>
              </a:defRPr>
            </a:pPr>
            <a:r>
              <a:t>Three corrections (figure framing, session leakage, consistent GroupKFold protocol) each added honesty</a:t>
            </a:r>
          </a:p>
        </p:txBody>
      </p:sp>
      <p:sp>
        <p:nvSpPr>
          <p:cNvPr id="13" name="Rectangle 12"/>
          <p:cNvSpPr/>
          <p:nvPr/>
        </p:nvSpPr>
        <p:spPr>
          <a:xfrm>
            <a:off x="731520" y="4352544"/>
            <a:ext cx="64008" cy="54864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24128" y="4370831"/>
            <a:ext cx="10698480" cy="530352"/>
          </a:xfrm>
          <a:prstGeom prst="rect">
            <a:avLst/>
          </a:prstGeom>
          <a:noFill/>
        </p:spPr>
        <p:txBody>
          <a:bodyPr wrap="square" anchor="t">
            <a:spAutoFit/>
          </a:bodyPr>
          <a:lstStyle/>
          <a:p>
            <a:pPr algn="l">
              <a:defRPr sz="1700" b="0">
                <a:solidFill>
                  <a:srgbClr val="FFFFFF"/>
                </a:solidFill>
                <a:latin typeface="Microsoft JhengHei"/>
              </a:defRPr>
            </a:pPr>
            <a:r>
              <a:t>Senior’s paper: solid proof-of-concept. This project: stress-tested with implementation rigor.</a:t>
            </a:r>
          </a:p>
        </p:txBody>
      </p:sp>
      <p:sp>
        <p:nvSpPr>
          <p:cNvPr id="15" name="Rectangle 14"/>
          <p:cNvSpPr/>
          <p:nvPr/>
        </p:nvSpPr>
        <p:spPr>
          <a:xfrm>
            <a:off x="457200" y="5230368"/>
            <a:ext cx="11247120" cy="1298448"/>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5376672"/>
            <a:ext cx="10515600" cy="438912"/>
          </a:xfrm>
          <a:prstGeom prst="rect">
            <a:avLst/>
          </a:prstGeom>
          <a:noFill/>
        </p:spPr>
        <p:txBody>
          <a:bodyPr wrap="square" anchor="t">
            <a:spAutoFit/>
          </a:bodyPr>
          <a:lstStyle/>
          <a:p>
            <a:pPr algn="l">
              <a:defRPr sz="1900" b="1">
                <a:solidFill>
                  <a:srgbClr val="2E86C1"/>
                </a:solidFill>
                <a:latin typeface="Microsoft JhengHei"/>
              </a:defRPr>
            </a:pPr>
            <a:r>
              <a:t>Project Deliverables</a:t>
            </a:r>
          </a:p>
        </p:txBody>
      </p:sp>
      <p:sp>
        <p:nvSpPr>
          <p:cNvPr id="17" name="TextBox 16"/>
          <p:cNvSpPr txBox="1"/>
          <p:nvPr/>
        </p:nvSpPr>
        <p:spPr>
          <a:xfrm>
            <a:off x="822960" y="5833872"/>
            <a:ext cx="10515600" cy="621792"/>
          </a:xfrm>
          <a:prstGeom prst="rect">
            <a:avLst/>
          </a:prstGeom>
          <a:noFill/>
        </p:spPr>
        <p:txBody>
          <a:bodyPr wrap="square" anchor="t">
            <a:spAutoFit/>
          </a:bodyPr>
          <a:lstStyle/>
          <a:p>
            <a:pPr algn="l">
              <a:defRPr sz="1600" b="0">
                <a:solidFill>
                  <a:srgbClr val="FFFFFF"/>
                </a:solidFill>
                <a:latin typeface="Microsoft JhengHei"/>
              </a:defRPr>
            </a:pPr>
            <a:r>
              <a:t>GitHub Repository  |  Python pipeline  |  Unit tests  |  Saved models  |  Versioned reports  |  This presentation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3697</Words>
  <Application>Microsoft Macintosh PowerPoint</Application>
  <PresentationFormat>寬螢幕</PresentationFormat>
  <Paragraphs>540</Paragraphs>
  <Slides>25</Slides>
  <Notes>25</Notes>
  <HiddenSlides>0</HiddenSlides>
  <MMClips>0</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25</vt:i4>
      </vt:variant>
    </vt:vector>
  </HeadingPairs>
  <TitlesOfParts>
    <vt:vector size="28" baseType="lpstr">
      <vt:lpstr>Arial</vt:lpstr>
      <vt:lpstr>Calibri</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Microsoft Office User</cp:lastModifiedBy>
  <cp:revision>5</cp:revision>
  <dcterms:created xsi:type="dcterms:W3CDTF">2013-01-27T09:14:16Z</dcterms:created>
  <dcterms:modified xsi:type="dcterms:W3CDTF">2026-04-07T06:57:09Z</dcterms:modified>
  <cp:category/>
</cp:coreProperties>
</file>